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30"/>
  </p:notesMasterIdLst>
  <p:sldIdLst>
    <p:sldId id="257" r:id="rId5"/>
    <p:sldId id="259" r:id="rId6"/>
    <p:sldId id="287" r:id="rId7"/>
    <p:sldId id="964" r:id="rId8"/>
    <p:sldId id="263" r:id="rId9"/>
    <p:sldId id="281" r:id="rId10"/>
    <p:sldId id="289" r:id="rId11"/>
    <p:sldId id="288" r:id="rId12"/>
    <p:sldId id="290" r:id="rId13"/>
    <p:sldId id="291" r:id="rId14"/>
    <p:sldId id="292" r:id="rId15"/>
    <p:sldId id="293" r:id="rId16"/>
    <p:sldId id="294" r:id="rId17"/>
    <p:sldId id="959" r:id="rId18"/>
    <p:sldId id="960" r:id="rId19"/>
    <p:sldId id="961" r:id="rId20"/>
    <p:sldId id="962" r:id="rId21"/>
    <p:sldId id="963" r:id="rId22"/>
    <p:sldId id="965" r:id="rId23"/>
    <p:sldId id="966" r:id="rId24"/>
    <p:sldId id="967" r:id="rId25"/>
    <p:sldId id="968" r:id="rId26"/>
    <p:sldId id="934" r:id="rId27"/>
    <p:sldId id="935" r:id="rId28"/>
    <p:sldId id="936" r:id="rId2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C24EAE-DD85-4EA8-9FB3-9D30FE6C6332}" type="datetimeFigureOut">
              <a:rPr lang="en-US"/>
              <a:t>5/19/25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B75E56-1824-42BF-86F5-C2DC8BEA4E9C}" type="slidenum">
              <a:rPr lang="en-US"/>
              <a:t>‹#›</a:t>
            </a:fld>
            <a:endParaRPr lang="en-US"/>
          </a:p>
        </p:txBody>
      </p:sp>
    </p:spTree>
    <p:extLst>
      <p:ext uri="{BB962C8B-B14F-4D97-AF65-F5344CB8AC3E}">
        <p14:creationId xmlns:p14="http://schemas.microsoft.com/office/powerpoint/2010/main" val="13653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6A56F-73B2-4EA1-0E12-1E6D467A0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97E05-4E4B-348E-99AF-3B666808E82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6DA82A4-563D-27F0-EEC3-67AA34FD08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BB0651-556E-FB2B-8433-858697EB1B80}"/>
              </a:ext>
            </a:extLst>
          </p:cNvPr>
          <p:cNvSpPr>
            <a:spLocks noGrp="1"/>
          </p:cNvSpPr>
          <p:nvPr>
            <p:ph type="sldNum" sz="quarter" idx="5"/>
          </p:nvPr>
        </p:nvSpPr>
        <p:spPr/>
        <p:txBody>
          <a:bodyPr/>
          <a:lstStyle/>
          <a:p>
            <a:fld id="{2025AECC-A205-3B4A-AA3D-2DD87D0B7288}" type="slidenum">
              <a:rPr lang="en-US" smtClean="0"/>
              <a:pPr/>
              <a:t>14</a:t>
            </a:fld>
            <a:endParaRPr lang="en-US"/>
          </a:p>
        </p:txBody>
      </p:sp>
    </p:spTree>
    <p:extLst>
      <p:ext uri="{BB962C8B-B14F-4D97-AF65-F5344CB8AC3E}">
        <p14:creationId xmlns:p14="http://schemas.microsoft.com/office/powerpoint/2010/main" val="1801287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09708-DB16-67AA-4774-F66347ED9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A0F5E-F0AA-A4EB-8687-AF9D59CA27E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AD18421-C54B-787B-C748-9643F7B1BA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75C04D-89B0-4CA4-53E1-86257C084378}"/>
              </a:ext>
            </a:extLst>
          </p:cNvPr>
          <p:cNvSpPr>
            <a:spLocks noGrp="1"/>
          </p:cNvSpPr>
          <p:nvPr>
            <p:ph type="sldNum" sz="quarter" idx="5"/>
          </p:nvPr>
        </p:nvSpPr>
        <p:spPr/>
        <p:txBody>
          <a:bodyPr/>
          <a:lstStyle/>
          <a:p>
            <a:fld id="{2025AECC-A205-3B4A-AA3D-2DD87D0B7288}" type="slidenum">
              <a:rPr lang="en-US" smtClean="0"/>
              <a:pPr/>
              <a:t>15</a:t>
            </a:fld>
            <a:endParaRPr lang="en-US"/>
          </a:p>
        </p:txBody>
      </p:sp>
    </p:spTree>
    <p:extLst>
      <p:ext uri="{BB962C8B-B14F-4D97-AF65-F5344CB8AC3E}">
        <p14:creationId xmlns:p14="http://schemas.microsoft.com/office/powerpoint/2010/main" val="665445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86913-8A7F-C432-C0A8-F9C86FA1F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13F95-AA01-4D1D-E7F9-79CB5D68B42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B7925EA-FC6D-2FA0-11E8-997F3E6102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9983AD-5BA8-A3C4-1300-4F65D98558B5}"/>
              </a:ext>
            </a:extLst>
          </p:cNvPr>
          <p:cNvSpPr>
            <a:spLocks noGrp="1"/>
          </p:cNvSpPr>
          <p:nvPr>
            <p:ph type="sldNum" sz="quarter" idx="5"/>
          </p:nvPr>
        </p:nvSpPr>
        <p:spPr/>
        <p:txBody>
          <a:bodyPr/>
          <a:lstStyle/>
          <a:p>
            <a:fld id="{2025AECC-A205-3B4A-AA3D-2DD87D0B7288}" type="slidenum">
              <a:rPr lang="en-US" smtClean="0"/>
              <a:pPr/>
              <a:t>16</a:t>
            </a:fld>
            <a:endParaRPr lang="en-US"/>
          </a:p>
        </p:txBody>
      </p:sp>
    </p:spTree>
    <p:extLst>
      <p:ext uri="{BB962C8B-B14F-4D97-AF65-F5344CB8AC3E}">
        <p14:creationId xmlns:p14="http://schemas.microsoft.com/office/powerpoint/2010/main" val="4083471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B03D8-FCCC-6C27-46C8-06050575C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92185-83C6-3F6A-A17F-9F4334B1C8C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AE38C87-A886-64A5-F275-50F63A8E39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84BDE7-1B3F-B5A9-5D81-C3246CC70A35}"/>
              </a:ext>
            </a:extLst>
          </p:cNvPr>
          <p:cNvSpPr>
            <a:spLocks noGrp="1"/>
          </p:cNvSpPr>
          <p:nvPr>
            <p:ph type="sldNum" sz="quarter" idx="5"/>
          </p:nvPr>
        </p:nvSpPr>
        <p:spPr/>
        <p:txBody>
          <a:bodyPr/>
          <a:lstStyle/>
          <a:p>
            <a:fld id="{2025AECC-A205-3B4A-AA3D-2DD87D0B7288}" type="slidenum">
              <a:rPr lang="en-US" smtClean="0"/>
              <a:pPr/>
              <a:t>17</a:t>
            </a:fld>
            <a:endParaRPr lang="en-US"/>
          </a:p>
        </p:txBody>
      </p:sp>
    </p:spTree>
    <p:extLst>
      <p:ext uri="{BB962C8B-B14F-4D97-AF65-F5344CB8AC3E}">
        <p14:creationId xmlns:p14="http://schemas.microsoft.com/office/powerpoint/2010/main" val="114178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5A8E6-453C-9365-7427-ADF73DF43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3585E-23CE-BF1C-803F-1FFF783F442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63C5A96-1F9E-2BD1-13FF-933AABBCAF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FDC711-112F-337F-6F78-F60925575E77}"/>
              </a:ext>
            </a:extLst>
          </p:cNvPr>
          <p:cNvSpPr>
            <a:spLocks noGrp="1"/>
          </p:cNvSpPr>
          <p:nvPr>
            <p:ph type="sldNum" sz="quarter" idx="5"/>
          </p:nvPr>
        </p:nvSpPr>
        <p:spPr/>
        <p:txBody>
          <a:bodyPr/>
          <a:lstStyle/>
          <a:p>
            <a:fld id="{2025AECC-A205-3B4A-AA3D-2DD87D0B7288}" type="slidenum">
              <a:rPr lang="en-US" smtClean="0"/>
              <a:pPr/>
              <a:t>18</a:t>
            </a:fld>
            <a:endParaRPr lang="en-US"/>
          </a:p>
        </p:txBody>
      </p:sp>
    </p:spTree>
    <p:extLst>
      <p:ext uri="{BB962C8B-B14F-4D97-AF65-F5344CB8AC3E}">
        <p14:creationId xmlns:p14="http://schemas.microsoft.com/office/powerpoint/2010/main" val="1906561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B75E56-1824-42BF-86F5-C2DC8BEA4E9C}" type="slidenum">
              <a:rPr lang="en-US" smtClean="0"/>
              <a:t>20</a:t>
            </a:fld>
            <a:endParaRPr lang="en-US"/>
          </a:p>
        </p:txBody>
      </p:sp>
    </p:spTree>
    <p:extLst>
      <p:ext uri="{BB962C8B-B14F-4D97-AF65-F5344CB8AC3E}">
        <p14:creationId xmlns:p14="http://schemas.microsoft.com/office/powerpoint/2010/main" val="1310678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B75E56-1824-42BF-86F5-C2DC8BEA4E9C}" type="slidenum">
              <a:rPr lang="en-US" smtClean="0"/>
              <a:t>21</a:t>
            </a:fld>
            <a:endParaRPr lang="en-US"/>
          </a:p>
        </p:txBody>
      </p:sp>
    </p:spTree>
    <p:extLst>
      <p:ext uri="{BB962C8B-B14F-4D97-AF65-F5344CB8AC3E}">
        <p14:creationId xmlns:p14="http://schemas.microsoft.com/office/powerpoint/2010/main" val="1379271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2AA7D-02AB-F672-2A90-E3759BAD3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7457-EFEC-F96D-0122-3F2EFD598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403216-3A6D-B14F-7E43-D8906960B4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0869DD-D3E9-2FDB-BE3D-586C6ABB0834}"/>
              </a:ext>
            </a:extLst>
          </p:cNvPr>
          <p:cNvSpPr>
            <a:spLocks noGrp="1"/>
          </p:cNvSpPr>
          <p:nvPr>
            <p:ph type="sldNum" sz="quarter" idx="5"/>
          </p:nvPr>
        </p:nvSpPr>
        <p:spPr/>
        <p:txBody>
          <a:bodyPr/>
          <a:lstStyle/>
          <a:p>
            <a:fld id="{7CB75E56-1824-42BF-86F5-C2DC8BEA4E9C}" type="slidenum">
              <a:rPr lang="en-US" smtClean="0"/>
              <a:t>22</a:t>
            </a:fld>
            <a:endParaRPr lang="en-US"/>
          </a:p>
        </p:txBody>
      </p:sp>
    </p:spTree>
    <p:extLst>
      <p:ext uri="{BB962C8B-B14F-4D97-AF65-F5344CB8AC3E}">
        <p14:creationId xmlns:p14="http://schemas.microsoft.com/office/powerpoint/2010/main" val="25151812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ransition 1">
    <p:spTree>
      <p:nvGrpSpPr>
        <p:cNvPr id="1" name=""/>
        <p:cNvGrpSpPr/>
        <p:nvPr/>
      </p:nvGrpSpPr>
      <p:grpSpPr>
        <a:xfrm>
          <a:off x="0" y="0"/>
          <a:ext cx="0" cy="0"/>
          <a:chOff x="0" y="0"/>
          <a:chExt cx="0" cy="0"/>
        </a:xfrm>
      </p:grpSpPr>
      <p:pic>
        <p:nvPicPr>
          <p:cNvPr id="15" name="Picture 14" descr="Hallway.jpg"/>
          <p:cNvPicPr>
            <a:picLocks noChangeAspect="1"/>
          </p:cNvPicPr>
          <p:nvPr userDrawn="1"/>
        </p:nvPicPr>
        <p:blipFill>
          <a:blip r:embed="rId2"/>
          <a:stretch>
            <a:fillRect/>
          </a:stretch>
        </p:blipFill>
        <p:spPr>
          <a:xfrm>
            <a:off x="0" y="0"/>
            <a:ext cx="6037785" cy="6858000"/>
          </a:xfrm>
          <a:prstGeom prst="rect">
            <a:avLst/>
          </a:prstGeom>
        </p:spPr>
      </p:pic>
      <p:pic>
        <p:nvPicPr>
          <p:cNvPr id="12" name="Picture 11"/>
          <p:cNvPicPr>
            <a:picLocks noChangeAspect="1"/>
          </p:cNvPicPr>
          <p:nvPr userDrawn="1"/>
        </p:nvPicPr>
        <p:blipFill>
          <a:blip r:embed="rId3"/>
          <a:srcRect r="26593" b="31276"/>
          <a:stretch>
            <a:fillRect/>
          </a:stretch>
        </p:blipFill>
        <p:spPr>
          <a:xfrm>
            <a:off x="3182675" y="3120320"/>
            <a:ext cx="9009325" cy="1274283"/>
          </a:xfrm>
          <a:prstGeom prst="rect">
            <a:avLst/>
          </a:prstGeom>
        </p:spPr>
      </p:pic>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ransition 2">
    <p:spTree>
      <p:nvGrpSpPr>
        <p:cNvPr id="1" name=""/>
        <p:cNvGrpSpPr/>
        <p:nvPr/>
      </p:nvGrpSpPr>
      <p:grpSpPr>
        <a:xfrm>
          <a:off x="0" y="0"/>
          <a:ext cx="0" cy="0"/>
          <a:chOff x="0" y="0"/>
          <a:chExt cx="0" cy="0"/>
        </a:xfrm>
      </p:grpSpPr>
      <p:pic>
        <p:nvPicPr>
          <p:cNvPr id="5" name="Picture 4" descr="technician.jpg"/>
          <p:cNvPicPr>
            <a:picLocks noChangeAspect="1"/>
          </p:cNvPicPr>
          <p:nvPr userDrawn="1"/>
        </p:nvPicPr>
        <p:blipFill>
          <a:blip r:embed="rId2"/>
          <a:stretch>
            <a:fillRect/>
          </a:stretch>
        </p:blipFill>
        <p:spPr>
          <a:xfrm>
            <a:off x="0" y="0"/>
            <a:ext cx="6037785" cy="6858000"/>
          </a:xfrm>
          <a:prstGeom prst="rect">
            <a:avLst/>
          </a:prstGeom>
        </p:spPr>
      </p:pic>
      <p:pic>
        <p:nvPicPr>
          <p:cNvPr id="12" name="Picture 11"/>
          <p:cNvPicPr>
            <a:picLocks noChangeAspect="1"/>
          </p:cNvPicPr>
          <p:nvPr userDrawn="1"/>
        </p:nvPicPr>
        <p:blipFill>
          <a:blip r:embed="rId3"/>
          <a:srcRect r="26593" b="31276"/>
          <a:stretch>
            <a:fillRect/>
          </a:stretch>
        </p:blipFill>
        <p:spPr>
          <a:xfrm>
            <a:off x="3182675" y="3120320"/>
            <a:ext cx="9009325" cy="1274283"/>
          </a:xfrm>
          <a:prstGeom prst="rect">
            <a:avLst/>
          </a:prstGeom>
        </p:spPr>
      </p:pic>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3">
    <p:spTree>
      <p:nvGrpSpPr>
        <p:cNvPr id="1" name=""/>
        <p:cNvGrpSpPr/>
        <p:nvPr/>
      </p:nvGrpSpPr>
      <p:grpSpPr>
        <a:xfrm>
          <a:off x="0" y="0"/>
          <a:ext cx="0" cy="0"/>
          <a:chOff x="0" y="0"/>
          <a:chExt cx="0" cy="0"/>
        </a:xfrm>
      </p:grpSpPr>
      <p:pic>
        <p:nvPicPr>
          <p:cNvPr id="6" name="Picture 5" descr="wires.jpg"/>
          <p:cNvPicPr>
            <a:picLocks noChangeAspect="1"/>
          </p:cNvPicPr>
          <p:nvPr userDrawn="1"/>
        </p:nvPicPr>
        <p:blipFill>
          <a:blip r:embed="rId2"/>
          <a:stretch>
            <a:fillRect/>
          </a:stretch>
        </p:blipFill>
        <p:spPr>
          <a:xfrm>
            <a:off x="0" y="0"/>
            <a:ext cx="6037785" cy="6858000"/>
          </a:xfrm>
          <a:prstGeom prst="rect">
            <a:avLst/>
          </a:prstGeom>
        </p:spPr>
      </p:pic>
      <p:pic>
        <p:nvPicPr>
          <p:cNvPr id="2050" name="Picture 2" descr="http://cdn.hbowatch.com/wp-content/uploads/2016/05/SiliconValley_S3Ep03_pic02.jp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25957" t="2875" r="19338" b="8623"/>
          <a:stretch/>
        </p:blipFill>
        <p:spPr bwMode="auto">
          <a:xfrm>
            <a:off x="0" y="0"/>
            <a:ext cx="4962650" cy="4004442"/>
          </a:xfrm>
          <a:prstGeom prst="rect">
            <a:avLst/>
          </a:prstGeom>
          <a:noFill/>
          <a:extLst>
            <a:ext uri="{909E8E84-426E-40DD-AFC4-6F175D3DCCD1}">
              <a14:hiddenFill xmlns:a14="http://schemas.microsoft.com/office/drawing/2010/main">
                <a:solidFill>
                  <a:srgbClr val="FFFFFF"/>
                </a:solidFill>
              </a14:hiddenFill>
            </a:ext>
          </a:extLst>
        </p:spPr>
      </p:pic>
      <p:sp>
        <p:nvSpPr>
          <p:cNvPr id="2" name="Right Triangle 1"/>
          <p:cNvSpPr/>
          <p:nvPr userDrawn="1"/>
        </p:nvSpPr>
        <p:spPr>
          <a:xfrm flipH="1" flipV="1">
            <a:off x="3176706" y="0"/>
            <a:ext cx="2844831" cy="6858000"/>
          </a:xfrm>
          <a:prstGeom prst="rtTriangl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pic>
        <p:nvPicPr>
          <p:cNvPr id="12" name="Picture 11"/>
          <p:cNvPicPr>
            <a:picLocks noChangeAspect="1"/>
          </p:cNvPicPr>
          <p:nvPr userDrawn="1"/>
        </p:nvPicPr>
        <p:blipFill>
          <a:blip r:embed="rId4"/>
          <a:srcRect r="26593" b="31276"/>
          <a:stretch>
            <a:fillRect/>
          </a:stretch>
        </p:blipFill>
        <p:spPr>
          <a:xfrm>
            <a:off x="3182675" y="3120320"/>
            <a:ext cx="9009325" cy="127428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4">
    <p:spTree>
      <p:nvGrpSpPr>
        <p:cNvPr id="1" name=""/>
        <p:cNvGrpSpPr/>
        <p:nvPr/>
      </p:nvGrpSpPr>
      <p:grpSpPr>
        <a:xfrm>
          <a:off x="0" y="0"/>
          <a:ext cx="0" cy="0"/>
          <a:chOff x="0" y="0"/>
          <a:chExt cx="0" cy="0"/>
        </a:xfrm>
      </p:grpSpPr>
      <p:pic>
        <p:nvPicPr>
          <p:cNvPr id="5" name="Picture 4" descr="lights.jpg"/>
          <p:cNvPicPr>
            <a:picLocks noChangeAspect="1"/>
          </p:cNvPicPr>
          <p:nvPr userDrawn="1"/>
        </p:nvPicPr>
        <p:blipFill>
          <a:blip r:embed="rId2"/>
          <a:stretch>
            <a:fillRect/>
          </a:stretch>
        </p:blipFill>
        <p:spPr>
          <a:xfrm>
            <a:off x="0" y="0"/>
            <a:ext cx="6037785" cy="6858000"/>
          </a:xfrm>
          <a:prstGeom prst="rect">
            <a:avLst/>
          </a:prstGeom>
        </p:spPr>
      </p:pic>
      <p:pic>
        <p:nvPicPr>
          <p:cNvPr id="12" name="Picture 11"/>
          <p:cNvPicPr>
            <a:picLocks noChangeAspect="1"/>
          </p:cNvPicPr>
          <p:nvPr userDrawn="1"/>
        </p:nvPicPr>
        <p:blipFill>
          <a:blip r:embed="rId3"/>
          <a:srcRect r="26593" b="31276"/>
          <a:stretch>
            <a:fillRect/>
          </a:stretch>
        </p:blipFill>
        <p:spPr>
          <a:xfrm>
            <a:off x="3182675" y="3120320"/>
            <a:ext cx="9009325" cy="1274283"/>
          </a:xfrm>
          <a:prstGeom prst="rect">
            <a:avLst/>
          </a:prstGeom>
        </p:spPr>
      </p:pic>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ansition 5">
    <p:spTree>
      <p:nvGrpSpPr>
        <p:cNvPr id="1" name=""/>
        <p:cNvGrpSpPr/>
        <p:nvPr/>
      </p:nvGrpSpPr>
      <p:grpSpPr>
        <a:xfrm>
          <a:off x="0" y="0"/>
          <a:ext cx="0" cy="0"/>
          <a:chOff x="0" y="0"/>
          <a:chExt cx="0" cy="0"/>
        </a:xfrm>
      </p:grpSpPr>
      <p:pic>
        <p:nvPicPr>
          <p:cNvPr id="6" name="Picture 5" descr="meeting-room.jpg"/>
          <p:cNvPicPr>
            <a:picLocks noChangeAspect="1"/>
          </p:cNvPicPr>
          <p:nvPr userDrawn="1"/>
        </p:nvPicPr>
        <p:blipFill>
          <a:blip r:embed="rId2"/>
          <a:stretch>
            <a:fillRect/>
          </a:stretch>
        </p:blipFill>
        <p:spPr>
          <a:xfrm>
            <a:off x="0" y="0"/>
            <a:ext cx="6037785" cy="6858000"/>
          </a:xfrm>
          <a:prstGeom prst="rect">
            <a:avLst/>
          </a:prstGeom>
        </p:spPr>
      </p:pic>
      <p:pic>
        <p:nvPicPr>
          <p:cNvPr id="12" name="Picture 11"/>
          <p:cNvPicPr>
            <a:picLocks noChangeAspect="1"/>
          </p:cNvPicPr>
          <p:nvPr userDrawn="1"/>
        </p:nvPicPr>
        <p:blipFill>
          <a:blip r:embed="rId3"/>
          <a:srcRect r="26593" b="31276"/>
          <a:stretch>
            <a:fillRect/>
          </a:stretch>
        </p:blipFill>
        <p:spPr>
          <a:xfrm>
            <a:off x="3182675" y="3120320"/>
            <a:ext cx="9009325" cy="1274283"/>
          </a:xfrm>
          <a:prstGeom prst="rect">
            <a:avLst/>
          </a:prstGeom>
        </p:spPr>
      </p:pic>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ansition 6">
    <p:spTree>
      <p:nvGrpSpPr>
        <p:cNvPr id="1" name=""/>
        <p:cNvGrpSpPr/>
        <p:nvPr/>
      </p:nvGrpSpPr>
      <p:grpSpPr>
        <a:xfrm>
          <a:off x="0" y="0"/>
          <a:ext cx="0" cy="0"/>
          <a:chOff x="0" y="0"/>
          <a:chExt cx="0" cy="0"/>
        </a:xfrm>
      </p:grpSpPr>
      <p:pic>
        <p:nvPicPr>
          <p:cNvPr id="5" name="Picture 4" descr="cages.jpg"/>
          <p:cNvPicPr>
            <a:picLocks noChangeAspect="1"/>
          </p:cNvPicPr>
          <p:nvPr userDrawn="1"/>
        </p:nvPicPr>
        <p:blipFill>
          <a:blip r:embed="rId2"/>
          <a:stretch>
            <a:fillRect/>
          </a:stretch>
        </p:blipFill>
        <p:spPr>
          <a:xfrm>
            <a:off x="0" y="0"/>
            <a:ext cx="6037785" cy="6858000"/>
          </a:xfrm>
          <a:prstGeom prst="rect">
            <a:avLst/>
          </a:prstGeom>
        </p:spPr>
      </p:pic>
      <p:pic>
        <p:nvPicPr>
          <p:cNvPr id="12" name="Picture 11"/>
          <p:cNvPicPr>
            <a:picLocks noChangeAspect="1"/>
          </p:cNvPicPr>
          <p:nvPr userDrawn="1"/>
        </p:nvPicPr>
        <p:blipFill>
          <a:blip r:embed="rId3"/>
          <a:srcRect r="26593" b="31276"/>
          <a:stretch>
            <a:fillRect/>
          </a:stretch>
        </p:blipFill>
        <p:spPr>
          <a:xfrm>
            <a:off x="3182675" y="3120320"/>
            <a:ext cx="9009325" cy="1274283"/>
          </a:xfrm>
          <a:prstGeom prst="rect">
            <a:avLst/>
          </a:prstGeom>
        </p:spPr>
      </p:pic>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ition 7">
    <p:spTree>
      <p:nvGrpSpPr>
        <p:cNvPr id="1" name=""/>
        <p:cNvGrpSpPr/>
        <p:nvPr/>
      </p:nvGrpSpPr>
      <p:grpSpPr>
        <a:xfrm>
          <a:off x="0" y="0"/>
          <a:ext cx="0" cy="0"/>
          <a:chOff x="0" y="0"/>
          <a:chExt cx="0" cy="0"/>
        </a:xfrm>
      </p:grpSpPr>
      <p:pic>
        <p:nvPicPr>
          <p:cNvPr id="6" name="Picture 5" descr="grey-cab.jpg"/>
          <p:cNvPicPr>
            <a:picLocks noChangeAspect="1"/>
          </p:cNvPicPr>
          <p:nvPr userDrawn="1"/>
        </p:nvPicPr>
        <p:blipFill>
          <a:blip r:embed="rId2"/>
          <a:stretch>
            <a:fillRect/>
          </a:stretch>
        </p:blipFill>
        <p:spPr>
          <a:xfrm>
            <a:off x="0" y="0"/>
            <a:ext cx="6037785" cy="6858000"/>
          </a:xfrm>
          <a:prstGeom prst="rect">
            <a:avLst/>
          </a:prstGeom>
        </p:spPr>
      </p:pic>
      <p:pic>
        <p:nvPicPr>
          <p:cNvPr id="12" name="Picture 11"/>
          <p:cNvPicPr>
            <a:picLocks noChangeAspect="1"/>
          </p:cNvPicPr>
          <p:nvPr userDrawn="1"/>
        </p:nvPicPr>
        <p:blipFill>
          <a:blip r:embed="rId3"/>
          <a:srcRect r="26593" b="31276"/>
          <a:stretch>
            <a:fillRect/>
          </a:stretch>
        </p:blipFill>
        <p:spPr>
          <a:xfrm>
            <a:off x="3182675" y="3120320"/>
            <a:ext cx="9009325" cy="1274283"/>
          </a:xfrm>
          <a:prstGeom prst="rect">
            <a:avLst/>
          </a:prstGeom>
        </p:spPr>
      </p:pic>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ition 8">
    <p:spTree>
      <p:nvGrpSpPr>
        <p:cNvPr id="1" name=""/>
        <p:cNvGrpSpPr/>
        <p:nvPr/>
      </p:nvGrpSpPr>
      <p:grpSpPr>
        <a:xfrm>
          <a:off x="0" y="0"/>
          <a:ext cx="0" cy="0"/>
          <a:chOff x="0" y="0"/>
          <a:chExt cx="0" cy="0"/>
        </a:xfrm>
      </p:grpSpPr>
      <p:pic>
        <p:nvPicPr>
          <p:cNvPr id="5" name="Picture 4" descr="racks.jpg"/>
          <p:cNvPicPr>
            <a:picLocks noChangeAspect="1"/>
          </p:cNvPicPr>
          <p:nvPr userDrawn="1"/>
        </p:nvPicPr>
        <p:blipFill>
          <a:blip r:embed="rId2"/>
          <a:stretch>
            <a:fillRect/>
          </a:stretch>
        </p:blipFill>
        <p:spPr>
          <a:xfrm>
            <a:off x="0" y="0"/>
            <a:ext cx="6037785" cy="6858000"/>
          </a:xfrm>
          <a:prstGeom prst="rect">
            <a:avLst/>
          </a:prstGeom>
        </p:spPr>
      </p:pic>
      <p:pic>
        <p:nvPicPr>
          <p:cNvPr id="12" name="Picture 11"/>
          <p:cNvPicPr>
            <a:picLocks noChangeAspect="1"/>
          </p:cNvPicPr>
          <p:nvPr userDrawn="1"/>
        </p:nvPicPr>
        <p:blipFill>
          <a:blip r:embed="rId3"/>
          <a:srcRect r="26593" b="31276"/>
          <a:stretch>
            <a:fillRect/>
          </a:stretch>
        </p:blipFill>
        <p:spPr>
          <a:xfrm>
            <a:off x="3182675" y="3120320"/>
            <a:ext cx="9009325" cy="1274283"/>
          </a:xfrm>
          <a:prstGeom prst="rect">
            <a:avLst/>
          </a:prstGeom>
        </p:spPr>
      </p:pic>
      <p:sp>
        <p:nvSpPr>
          <p:cNvPr id="13" name="Title 12"/>
          <p:cNvSpPr>
            <a:spLocks noGrp="1"/>
          </p:cNvSpPr>
          <p:nvPr>
            <p:ph type="title" hasCustomPrompt="1"/>
          </p:nvPr>
        </p:nvSpPr>
        <p:spPr>
          <a:xfrm>
            <a:off x="3724558" y="3120320"/>
            <a:ext cx="8119534" cy="1274283"/>
          </a:xfrm>
          <a:prstGeom prst="rect">
            <a:avLst/>
          </a:prstGeom>
        </p:spPr>
        <p:txBody>
          <a:bodyPr vert="horz" anchor="ctr"/>
          <a:lstStyle>
            <a:lvl1pPr algn="r">
              <a:defRPr sz="3200" b="1" baseline="0">
                <a:solidFill>
                  <a:schemeClr val="bg1"/>
                </a:solidFill>
              </a:defRPr>
            </a:lvl1pPr>
          </a:lstStyle>
          <a:p>
            <a:r>
              <a:rPr lang="en-US"/>
              <a:t>Transition Slide, Six Word Maximum</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ext">
    <p:spTree>
      <p:nvGrpSpPr>
        <p:cNvPr id="1" name=""/>
        <p:cNvGrpSpPr/>
        <p:nvPr/>
      </p:nvGrpSpPr>
      <p:grpSpPr>
        <a:xfrm>
          <a:off x="0" y="0"/>
          <a:ext cx="0" cy="0"/>
          <a:chOff x="0" y="0"/>
          <a:chExt cx="0" cy="0"/>
        </a:xfrm>
      </p:grpSpPr>
      <p:sp>
        <p:nvSpPr>
          <p:cNvPr id="8" name="Title 7"/>
          <p:cNvSpPr>
            <a:spLocks noGrp="1"/>
          </p:cNvSpPr>
          <p:nvPr>
            <p:ph type="title"/>
          </p:nvPr>
        </p:nvSpPr>
        <p:spPr>
          <a:xfrm>
            <a:off x="298026" y="273844"/>
            <a:ext cx="10972800" cy="665956"/>
          </a:xfrm>
          <a:prstGeom prst="rect">
            <a:avLst/>
          </a:prstGeom>
          <a:noFill/>
          <a:ln>
            <a:noFill/>
          </a:ln>
        </p:spPr>
        <p:txBody>
          <a:bodyPr vert="horz" lIns="118872" tIns="59436" rIns="118872" bIns="59436"/>
          <a:lstStyle>
            <a:lvl1pPr algn="l">
              <a:defRPr sz="3400" b="1">
                <a:solidFill>
                  <a:schemeClr val="bg2"/>
                </a:solidFill>
              </a:defRPr>
            </a:lvl1pPr>
          </a:lstStyle>
          <a:p>
            <a:r>
              <a:rPr lang="en-US"/>
              <a:t>Click to edit Master title style</a:t>
            </a:r>
          </a:p>
        </p:txBody>
      </p:sp>
      <p:sp>
        <p:nvSpPr>
          <p:cNvPr id="7" name="Content Placeholder 2"/>
          <p:cNvSpPr>
            <a:spLocks noGrp="1"/>
          </p:cNvSpPr>
          <p:nvPr>
            <p:ph idx="1"/>
          </p:nvPr>
        </p:nvSpPr>
        <p:spPr>
          <a:xfrm>
            <a:off x="298029" y="1460501"/>
            <a:ext cx="11656905" cy="4449675"/>
          </a:xfrm>
          <a:prstGeom prst="rect">
            <a:avLst/>
          </a:prstGeom>
        </p:spPr>
        <p:txBody>
          <a:bodyPr lIns="118872" tIns="59436" rIns="118872" bIns="59436"/>
          <a:lstStyle>
            <a:lvl1pPr marL="356616" indent="-297180">
              <a:spcBef>
                <a:spcPts val="1040"/>
              </a:spcBef>
              <a:buClrTx/>
              <a:buFont typeface="Arial"/>
              <a:buChar char="•"/>
              <a:defRPr sz="2600" b="1">
                <a:solidFill>
                  <a:srgbClr val="FF0000"/>
                </a:solidFill>
              </a:defRPr>
            </a:lvl1pPr>
            <a:lvl2pPr marL="606247" indent="-297180">
              <a:spcBef>
                <a:spcPts val="260"/>
              </a:spcBef>
              <a:buClrTx/>
              <a:buFont typeface="Lucida Grande"/>
              <a:buChar char="–"/>
              <a:defRPr sz="2300">
                <a:solidFill>
                  <a:schemeClr val="bg2"/>
                </a:solidFill>
              </a:defRPr>
            </a:lvl2pPr>
            <a:lvl3pPr marL="891540" indent="-297180">
              <a:spcBef>
                <a:spcPts val="260"/>
              </a:spcBef>
              <a:buClrTx/>
              <a:buFont typeface="Wingdings" charset="2"/>
              <a:buChar char="§"/>
              <a:defRPr sz="2100">
                <a:solidFill>
                  <a:schemeClr val="bg2"/>
                </a:solidFill>
              </a:defRPr>
            </a:lvl3pPr>
            <a:lvl4pPr marL="1248156" indent="-297180">
              <a:spcBef>
                <a:spcPts val="260"/>
              </a:spcBef>
              <a:buClrTx/>
              <a:buFont typeface="Arial"/>
              <a:buChar char="•"/>
              <a:defRPr sz="1800">
                <a:solidFill>
                  <a:schemeClr val="bg2"/>
                </a:solidFill>
              </a:defRPr>
            </a:lvl4pPr>
            <a:lvl5pPr marL="1010412" indent="-178308">
              <a:defRPr sz="2300">
                <a:solidFill>
                  <a:schemeClr val="accent1"/>
                </a:solidFill>
              </a:defRPr>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4"/>
          <p:cNvSpPr>
            <a:spLocks noGrp="1"/>
          </p:cNvSpPr>
          <p:nvPr>
            <p:ph type="body" sz="quarter" idx="11"/>
          </p:nvPr>
        </p:nvSpPr>
        <p:spPr>
          <a:xfrm>
            <a:off x="298026" y="770723"/>
            <a:ext cx="10972800" cy="439738"/>
          </a:xfrm>
          <a:prstGeom prst="rect">
            <a:avLst/>
          </a:prstGeom>
        </p:spPr>
        <p:txBody>
          <a:bodyPr vert="horz" lIns="118872" tIns="59436" rIns="118872" bIns="59436"/>
          <a:lstStyle>
            <a:lvl1pPr marL="4128" indent="6192">
              <a:buNone/>
              <a:defRPr sz="2300">
                <a:solidFill>
                  <a:schemeClr val="bg2"/>
                </a:solidFill>
              </a:defRPr>
            </a:lvl1pPr>
            <a:lvl2pPr>
              <a:buNone/>
              <a:defRPr/>
            </a:lvl2pPr>
            <a:lvl3pPr>
              <a:buNone/>
              <a:defRPr/>
            </a:lvl3pPr>
            <a:lvl4pPr>
              <a:buNone/>
              <a:defRPr/>
            </a:lvl4pPr>
            <a:lvl5pPr>
              <a:buNone/>
              <a:defRPr/>
            </a:lvl5pPr>
          </a:lstStyle>
          <a:p>
            <a:pPr lvl="0"/>
            <a:r>
              <a:rPr lang="en-US"/>
              <a:t>Click to edit</a:t>
            </a:r>
          </a:p>
        </p:txBody>
      </p:sp>
    </p:spTree>
    <p:extLst>
      <p:ext uri="{BB962C8B-B14F-4D97-AF65-F5344CB8AC3E}">
        <p14:creationId xmlns:p14="http://schemas.microsoft.com/office/powerpoint/2010/main" val="3243891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Rectangle 2"/>
          <p:cNvSpPr/>
          <p:nvPr userDrawn="1"/>
        </p:nvSpPr>
        <p:spPr>
          <a:xfrm>
            <a:off x="10868858" y="6180667"/>
            <a:ext cx="1234025" cy="61806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pic>
        <p:nvPicPr>
          <p:cNvPr id="5" name="Picture 4" descr="cover.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72633"/>
            <a:ext cx="7205009" cy="4992624"/>
          </a:xfrm>
          <a:prstGeom prst="rect">
            <a:avLst/>
          </a:prstGeom>
        </p:spPr>
      </p:pic>
      <p:sp>
        <p:nvSpPr>
          <p:cNvPr id="8" name="Subtitle 2"/>
          <p:cNvSpPr>
            <a:spLocks noGrp="1"/>
          </p:cNvSpPr>
          <p:nvPr>
            <p:ph type="subTitle" idx="1" hasCustomPrompt="1"/>
          </p:nvPr>
        </p:nvSpPr>
        <p:spPr>
          <a:xfrm>
            <a:off x="5313414" y="3304633"/>
            <a:ext cx="6262885" cy="516485"/>
          </a:xfrm>
          <a:prstGeom prst="rect">
            <a:avLst/>
          </a:prstGeom>
        </p:spPr>
        <p:txBody>
          <a:bodyPr vert="horz"/>
          <a:lstStyle>
            <a:lvl1pPr marL="0" indent="0" algn="r">
              <a:buNone/>
              <a:defRPr sz="3200" b="1">
                <a:solidFill>
                  <a:schemeClr val="accent5"/>
                </a:solidFill>
                <a:latin typeface="+mn-lt"/>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title style</a:t>
            </a:r>
          </a:p>
        </p:txBody>
      </p:sp>
      <p:sp>
        <p:nvSpPr>
          <p:cNvPr id="6" name="Text Placeholder 5"/>
          <p:cNvSpPr>
            <a:spLocks noGrp="1"/>
          </p:cNvSpPr>
          <p:nvPr>
            <p:ph type="body" sz="quarter" idx="12"/>
          </p:nvPr>
        </p:nvSpPr>
        <p:spPr>
          <a:xfrm>
            <a:off x="5313414" y="3821119"/>
            <a:ext cx="6262886" cy="392125"/>
          </a:xfrm>
          <a:prstGeom prst="rect">
            <a:avLst/>
          </a:prstGeom>
        </p:spPr>
        <p:txBody>
          <a:bodyPr vert="horz"/>
          <a:lstStyle>
            <a:lvl1pPr marL="0" indent="0" algn="r">
              <a:buNone/>
              <a:defRPr sz="2400">
                <a:solidFill>
                  <a:schemeClr val="tx1"/>
                </a:solidFill>
              </a:defRPr>
            </a:lvl1pPr>
          </a:lstStyle>
          <a:p>
            <a:pPr lvl="0"/>
            <a:r>
              <a:rPr lang="en-US"/>
              <a:t>Click to edit Master text styles</a:t>
            </a:r>
          </a:p>
        </p:txBody>
      </p:sp>
      <p:sp>
        <p:nvSpPr>
          <p:cNvPr id="14" name="Text Placeholder 13"/>
          <p:cNvSpPr>
            <a:spLocks noGrp="1"/>
          </p:cNvSpPr>
          <p:nvPr>
            <p:ph type="body" sz="quarter" idx="13" hasCustomPrompt="1"/>
          </p:nvPr>
        </p:nvSpPr>
        <p:spPr>
          <a:xfrm>
            <a:off x="7756664" y="4498193"/>
            <a:ext cx="3819449" cy="381529"/>
          </a:xfrm>
          <a:prstGeom prst="rect">
            <a:avLst/>
          </a:prstGeom>
        </p:spPr>
        <p:txBody>
          <a:bodyPr vert="horz"/>
          <a:lstStyle>
            <a:lvl1pPr marL="0" indent="0" algn="r">
              <a:buNone/>
              <a:defRPr sz="2000" b="1">
                <a:solidFill>
                  <a:schemeClr val="accent4"/>
                </a:solidFill>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a:t>Presenter</a:t>
            </a:r>
          </a:p>
        </p:txBody>
      </p:sp>
      <p:sp>
        <p:nvSpPr>
          <p:cNvPr id="15" name="Text Placeholder 13"/>
          <p:cNvSpPr>
            <a:spLocks noGrp="1"/>
          </p:cNvSpPr>
          <p:nvPr>
            <p:ph type="body" sz="quarter" idx="14" hasCustomPrompt="1"/>
          </p:nvPr>
        </p:nvSpPr>
        <p:spPr>
          <a:xfrm>
            <a:off x="7756664" y="4888716"/>
            <a:ext cx="3819449" cy="381529"/>
          </a:xfrm>
          <a:prstGeom prst="rect">
            <a:avLst/>
          </a:prstGeom>
        </p:spPr>
        <p:txBody>
          <a:bodyPr vert="horz"/>
          <a:lstStyle>
            <a:lvl1pPr marL="0" indent="0" algn="r">
              <a:buNone/>
              <a:defRPr sz="1800" b="0">
                <a:solidFill>
                  <a:schemeClr val="bg2"/>
                </a:solidFill>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a:t>Date</a:t>
            </a:r>
          </a:p>
        </p:txBody>
      </p:sp>
      <p:pic>
        <p:nvPicPr>
          <p:cNvPr id="7" name="Picture 6" descr="eqx_3_w.png"/>
          <p:cNvPicPr>
            <a:picLocks noChangeAspect="1"/>
          </p:cNvPicPr>
          <p:nvPr userDrawn="1"/>
        </p:nvPicPr>
        <p:blipFill>
          <a:blip r:embed="rId3"/>
          <a:stretch>
            <a:fillRect/>
          </a:stretch>
        </p:blipFill>
        <p:spPr>
          <a:xfrm>
            <a:off x="7719047" y="1165700"/>
            <a:ext cx="3780207" cy="1822580"/>
          </a:xfrm>
          <a:prstGeom prst="rect">
            <a:avLst/>
          </a:prstGeom>
        </p:spPr>
      </p:pic>
    </p:spTree>
    <p:extLst>
      <p:ext uri="{BB962C8B-B14F-4D97-AF65-F5344CB8AC3E}">
        <p14:creationId xmlns:p14="http://schemas.microsoft.com/office/powerpoint/2010/main" val="253134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10" name="Picture 9" descr="final_pag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60425" y="1747425"/>
            <a:ext cx="10848549" cy="5127508"/>
          </a:xfrm>
          <a:prstGeom prst="rect">
            <a:avLst/>
          </a:prstGeom>
        </p:spPr>
      </p:pic>
      <p:pic>
        <p:nvPicPr>
          <p:cNvPr id="2" name="Picture 1" descr="logo_where opportunity connects.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10" y="762000"/>
            <a:ext cx="3790803" cy="2016760"/>
          </a:xfrm>
          <a:prstGeom prst="rect">
            <a:avLst/>
          </a:prstGeom>
        </p:spPr>
      </p:pic>
    </p:spTree>
    <p:extLst>
      <p:ext uri="{BB962C8B-B14F-4D97-AF65-F5344CB8AC3E}">
        <p14:creationId xmlns:p14="http://schemas.microsoft.com/office/powerpoint/2010/main" val="2820793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extBox 9"/>
          <p:cNvSpPr txBox="1"/>
          <p:nvPr/>
        </p:nvSpPr>
        <p:spPr>
          <a:xfrm>
            <a:off x="11588161" y="6511107"/>
            <a:ext cx="491148" cy="246221"/>
          </a:xfrm>
          <a:prstGeom prst="rect">
            <a:avLst/>
          </a:prstGeom>
          <a:noFill/>
        </p:spPr>
        <p:txBody>
          <a:bodyPr wrap="square" rtlCol="0" anchor="ctr">
            <a:spAutoFit/>
          </a:bodyPr>
          <a:lstStyle/>
          <a:p>
            <a:pPr algn="r"/>
            <a:fld id="{65C59F89-3CBB-AE4F-A789-27DA41777400}" type="slidenum">
              <a:rPr lang="en-US" sz="1000" b="0" i="0" smtClean="0">
                <a:solidFill>
                  <a:srgbClr val="000000"/>
                </a:solidFill>
                <a:latin typeface="Arial"/>
                <a:cs typeface="Arial"/>
              </a:rPr>
              <a:pPr algn="r"/>
              <a:t>‹#›</a:t>
            </a:fld>
            <a:endParaRPr lang="en-US" sz="1000" b="0" i="0">
              <a:solidFill>
                <a:srgbClr val="000000"/>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707" r:id="rId5"/>
    <p:sldLayoutId id="2147483708" r:id="rId6"/>
    <p:sldLayoutId id="2147483709" r:id="rId7"/>
    <p:sldLayoutId id="2147483710" r:id="rId8"/>
    <p:sldLayoutId id="2147483700" r:id="rId9"/>
    <p:sldLayoutId id="2147483701" r:id="rId10"/>
    <p:sldLayoutId id="2147483702"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hyperlink" Target="https://equinix.zoom.us/rec/share/5tPT2RXCYL-SPBS8ejYdIlrbkNzi9Vlkm0M3pNIKknqw1xdm-H-fraox8Z5Q_jfl.9bsdkIVqZVY_Pf6P"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hyperlink" Target="http://intranet.equinix.com/Pages/Company/Stories/Our-Hollywood-debut.aspx"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hyperlink" Target="https://equinixinc-my.sharepoint.com/:x:/g/personal/agoh_ap_equinix_com/ETKc--DPp0xDtl53QFfrnM8BiU2DGyF5mahKRaTRPLZZLQ?e=cjMgkO" TargetMode="Externa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3460693" y="3304632"/>
            <a:ext cx="8092404" cy="526130"/>
          </a:xfrm>
        </p:spPr>
        <p:txBody>
          <a:bodyPr vert="horz" lIns="91440" tIns="45720" rIns="91440" bIns="45720" anchor="t"/>
          <a:lstStyle/>
          <a:p>
            <a:r>
              <a:rPr lang="en-US"/>
              <a:t>Equinix Customer Portal</a:t>
            </a:r>
            <a:br>
              <a:rPr lang="en-US"/>
            </a:br>
            <a:r>
              <a:rPr lang="en-US"/>
              <a:t>April 2025 Release (2025.4)</a:t>
            </a:r>
          </a:p>
        </p:txBody>
      </p:sp>
      <p:sp>
        <p:nvSpPr>
          <p:cNvPr id="6" name="Text Placeholder 5"/>
          <p:cNvSpPr>
            <a:spLocks noGrp="1"/>
          </p:cNvSpPr>
          <p:nvPr>
            <p:ph type="body" sz="quarter" idx="12"/>
          </p:nvPr>
        </p:nvSpPr>
        <p:spPr>
          <a:xfrm>
            <a:off x="5315350" y="4267722"/>
            <a:ext cx="6247392" cy="392125"/>
          </a:xfrm>
        </p:spPr>
        <p:txBody>
          <a:bodyPr/>
          <a:lstStyle/>
          <a:p>
            <a:r>
              <a:rPr lang="en-US"/>
              <a:t>Impact Analysis and Training Overview</a:t>
            </a:r>
          </a:p>
        </p:txBody>
      </p:sp>
      <p:sp>
        <p:nvSpPr>
          <p:cNvPr id="3" name="Text Placeholder 2">
            <a:extLst>
              <a:ext uri="{FF2B5EF4-FFF2-40B4-BE49-F238E27FC236}">
                <a16:creationId xmlns:a16="http://schemas.microsoft.com/office/drawing/2014/main" id="{A4D913FD-41E2-12AD-DE90-2B85F424EFC1}"/>
              </a:ext>
            </a:extLst>
          </p:cNvPr>
          <p:cNvSpPr>
            <a:spLocks noGrp="1"/>
          </p:cNvSpPr>
          <p:nvPr>
            <p:ph type="body" sz="quarter" idx="14"/>
          </p:nvPr>
        </p:nvSpPr>
        <p:spPr/>
        <p:txBody>
          <a:bodyPr vert="horz" lIns="91440" tIns="45720" rIns="91440" bIns="45720" anchor="t"/>
          <a:lstStyle/>
          <a:p>
            <a:r>
              <a:rPr lang="en-GB">
                <a:cs typeface="Arial"/>
              </a:rPr>
              <a:t>Updated on 7 Mar 2025</a:t>
            </a:r>
            <a:endParaRPr lang="en-GB"/>
          </a:p>
        </p:txBody>
      </p:sp>
      <p:sp>
        <p:nvSpPr>
          <p:cNvPr id="4" name="Text Placeholder 3">
            <a:extLst>
              <a:ext uri="{FF2B5EF4-FFF2-40B4-BE49-F238E27FC236}">
                <a16:creationId xmlns:a16="http://schemas.microsoft.com/office/drawing/2014/main" id="{F1276A9F-C8FF-78EE-BBC9-7643985ABE33}"/>
              </a:ext>
            </a:extLst>
          </p:cNvPr>
          <p:cNvSpPr>
            <a:spLocks noGrp="1"/>
          </p:cNvSpPr>
          <p:nvPr>
            <p:ph type="body" sz="quarter" idx="13"/>
          </p:nvPr>
        </p:nvSpPr>
        <p:spPr/>
        <p:txBody>
          <a:bodyPr vert="horz" lIns="91440" tIns="45720" rIns="91440" bIns="45720" anchor="t"/>
          <a:lstStyle/>
          <a:p>
            <a:endParaRPr lang="en-US"/>
          </a:p>
        </p:txBody>
      </p:sp>
    </p:spTree>
    <p:extLst>
      <p:ext uri="{BB962C8B-B14F-4D97-AF65-F5344CB8AC3E}">
        <p14:creationId xmlns:p14="http://schemas.microsoft.com/office/powerpoint/2010/main" val="3824963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9ED73-4FEC-A84E-AB46-6119220EFD1B}"/>
              </a:ext>
            </a:extLst>
          </p:cNvPr>
          <p:cNvSpPr>
            <a:spLocks noGrp="1"/>
          </p:cNvSpPr>
          <p:nvPr>
            <p:ph type="title"/>
          </p:nvPr>
        </p:nvSpPr>
        <p:spPr>
          <a:xfrm>
            <a:off x="259400" y="-823"/>
            <a:ext cx="10945654" cy="665956"/>
          </a:xfrm>
        </p:spPr>
        <p:txBody>
          <a:bodyPr/>
          <a:lstStyle/>
          <a:p>
            <a:r>
              <a:rPr lang="en-US"/>
              <a:t>Zoom recordings</a:t>
            </a:r>
          </a:p>
        </p:txBody>
      </p:sp>
      <p:sp>
        <p:nvSpPr>
          <p:cNvPr id="3" name="Content Placeholder 2">
            <a:extLst>
              <a:ext uri="{FF2B5EF4-FFF2-40B4-BE49-F238E27FC236}">
                <a16:creationId xmlns:a16="http://schemas.microsoft.com/office/drawing/2014/main" id="{6F6E7D9D-6274-DC41-A7D6-0259F54AD9BD}"/>
              </a:ext>
            </a:extLst>
          </p:cNvPr>
          <p:cNvSpPr>
            <a:spLocks noGrp="1"/>
          </p:cNvSpPr>
          <p:nvPr>
            <p:ph idx="1"/>
          </p:nvPr>
        </p:nvSpPr>
        <p:spPr>
          <a:xfrm>
            <a:off x="269997" y="581406"/>
            <a:ext cx="11638660" cy="6070175"/>
          </a:xfrm>
        </p:spPr>
        <p:txBody>
          <a:bodyPr lIns="118872" tIns="59436" rIns="118872" bIns="59436" anchor="t"/>
          <a:lstStyle/>
          <a:p>
            <a:pPr marL="59055" indent="0">
              <a:buNone/>
            </a:pPr>
            <a:r>
              <a:rPr lang="en-US" sz="1600"/>
              <a:t>Zoom recordings of sessions held by ECP PMs will be included here when available:</a:t>
            </a:r>
          </a:p>
          <a:p>
            <a:pPr marL="59055" indent="0">
              <a:buNone/>
            </a:pPr>
            <a:r>
              <a:rPr lang="en-US" sz="1600"/>
              <a:t>Session 1 recording link:</a:t>
            </a:r>
            <a:endParaRPr lang="en-US" sz="1600">
              <a:cs typeface="Arial"/>
            </a:endParaRPr>
          </a:p>
          <a:p>
            <a:pPr>
              <a:buNone/>
            </a:pPr>
            <a:r>
              <a:rPr lang="en-US" sz="1600" b="0">
                <a:solidFill>
                  <a:schemeClr val="bg2"/>
                </a:solidFill>
                <a:ea typeface="+mn-lt"/>
                <a:cs typeface="+mn-lt"/>
                <a:hlinkClick r:id="rId2"/>
              </a:rPr>
              <a:t>https://equinix.zoom.us/rec/share/5tPT2RXCYL-SPBS8ejYdIlrbkNzi9Vlkm0M3pNIKknqw1xdm-H-fraox8Z5Q_jfl.9bsdkIVqZVY_Pf6P</a:t>
            </a:r>
            <a:endParaRPr lang="en-US"/>
          </a:p>
          <a:p>
            <a:pPr marL="356235">
              <a:buNone/>
            </a:pPr>
            <a:r>
              <a:rPr lang="en-US" sz="1600" b="0">
                <a:solidFill>
                  <a:schemeClr val="bg2"/>
                </a:solidFill>
                <a:ea typeface="+mn-lt"/>
                <a:cs typeface="+mn-lt"/>
              </a:rPr>
              <a:t>Passcode: +*Q2pR6p</a:t>
            </a:r>
            <a:endParaRPr lang="en-US">
              <a:solidFill>
                <a:schemeClr val="bg2"/>
              </a:solidFill>
            </a:endParaRPr>
          </a:p>
          <a:p>
            <a:pPr marL="356235">
              <a:buNone/>
            </a:pPr>
            <a:endParaRPr lang="en-US" sz="1600" b="0">
              <a:solidFill>
                <a:schemeClr val="bg2"/>
              </a:solidFill>
              <a:cs typeface="Arial"/>
            </a:endParaRPr>
          </a:p>
        </p:txBody>
      </p:sp>
    </p:spTree>
    <p:extLst>
      <p:ext uri="{BB962C8B-B14F-4D97-AF65-F5344CB8AC3E}">
        <p14:creationId xmlns:p14="http://schemas.microsoft.com/office/powerpoint/2010/main" val="33268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867" y="60717"/>
            <a:ext cx="11746916" cy="665956"/>
          </a:xfrm>
        </p:spPr>
        <p:txBody>
          <a:bodyPr vert="horz" lIns="118872" tIns="59436" rIns="118872" bIns="59436" anchor="t"/>
          <a:lstStyle/>
          <a:p>
            <a:r>
              <a:rPr lang="en-GB" sz="3200">
                <a:solidFill>
                  <a:schemeClr val="tx1"/>
                </a:solidFill>
              </a:rPr>
              <a:t>Equinix Customer Portal – ECP/CSC</a:t>
            </a:r>
            <a:endParaRPr lang="en-US" sz="3200">
              <a:solidFill>
                <a:schemeClr val="tx1"/>
              </a:solidFill>
              <a:cs typeface="Arial"/>
            </a:endParaRPr>
          </a:p>
        </p:txBody>
      </p:sp>
      <p:sp>
        <p:nvSpPr>
          <p:cNvPr id="4" name="Text Placeholder 3"/>
          <p:cNvSpPr>
            <a:spLocks noGrp="1"/>
          </p:cNvSpPr>
          <p:nvPr>
            <p:ph type="body" sz="quarter" idx="11"/>
          </p:nvPr>
        </p:nvSpPr>
        <p:spPr>
          <a:xfrm>
            <a:off x="85867" y="506804"/>
            <a:ext cx="10945654" cy="439738"/>
          </a:xfrm>
        </p:spPr>
        <p:txBody>
          <a:bodyPr vert="horz" lIns="118872" tIns="59436" rIns="118872" bIns="59436" anchor="t"/>
          <a:lstStyle/>
          <a:p>
            <a:pPr marL="3810" indent="5715"/>
            <a:r>
              <a:rPr lang="en-US" sz="2400">
                <a:solidFill>
                  <a:schemeClr val="tx1"/>
                </a:solidFill>
              </a:rPr>
              <a:t>High-level Scope and What’s New</a:t>
            </a:r>
            <a:r>
              <a:rPr lang="en-US" sz="2400">
                <a:solidFill>
                  <a:schemeClr val="tx1"/>
                </a:solidFill>
                <a:cs typeface="Arial"/>
              </a:rPr>
              <a:t>, Known Limitations </a:t>
            </a:r>
          </a:p>
        </p:txBody>
      </p:sp>
      <p:graphicFrame>
        <p:nvGraphicFramePr>
          <p:cNvPr id="8" name="Table 7">
            <a:extLst>
              <a:ext uri="{FF2B5EF4-FFF2-40B4-BE49-F238E27FC236}">
                <a16:creationId xmlns:a16="http://schemas.microsoft.com/office/drawing/2014/main" id="{4A969B5F-AEB3-47C3-803A-DE91759A4669}"/>
              </a:ext>
            </a:extLst>
          </p:cNvPr>
          <p:cNvGraphicFramePr>
            <a:graphicFrameLocks noGrp="1"/>
          </p:cNvGraphicFramePr>
          <p:nvPr>
            <p:extLst>
              <p:ext uri="{D42A27DB-BD31-4B8C-83A1-F6EECF244321}">
                <p14:modId xmlns:p14="http://schemas.microsoft.com/office/powerpoint/2010/main" val="2341368304"/>
              </p:ext>
            </p:extLst>
          </p:nvPr>
        </p:nvGraphicFramePr>
        <p:xfrm>
          <a:off x="186069" y="912627"/>
          <a:ext cx="11753778" cy="5793073"/>
        </p:xfrm>
        <a:graphic>
          <a:graphicData uri="http://schemas.openxmlformats.org/drawingml/2006/table">
            <a:tbl>
              <a:tblPr firstRow="1" bandRow="1">
                <a:tableStyleId>{5C22544A-7EE6-4342-B048-85BDC9FD1C3A}</a:tableStyleId>
              </a:tblPr>
              <a:tblGrid>
                <a:gridCol w="1423239">
                  <a:extLst>
                    <a:ext uri="{9D8B030D-6E8A-4147-A177-3AD203B41FA5}">
                      <a16:colId xmlns:a16="http://schemas.microsoft.com/office/drawing/2014/main" val="3784776446"/>
                    </a:ext>
                  </a:extLst>
                </a:gridCol>
                <a:gridCol w="5759613">
                  <a:extLst>
                    <a:ext uri="{9D8B030D-6E8A-4147-A177-3AD203B41FA5}">
                      <a16:colId xmlns:a16="http://schemas.microsoft.com/office/drawing/2014/main" val="938240949"/>
                    </a:ext>
                  </a:extLst>
                </a:gridCol>
                <a:gridCol w="2596194">
                  <a:extLst>
                    <a:ext uri="{9D8B030D-6E8A-4147-A177-3AD203B41FA5}">
                      <a16:colId xmlns:a16="http://schemas.microsoft.com/office/drawing/2014/main" val="379739185"/>
                    </a:ext>
                  </a:extLst>
                </a:gridCol>
                <a:gridCol w="1974732">
                  <a:extLst>
                    <a:ext uri="{9D8B030D-6E8A-4147-A177-3AD203B41FA5}">
                      <a16:colId xmlns:a16="http://schemas.microsoft.com/office/drawing/2014/main" val="925609786"/>
                    </a:ext>
                  </a:extLst>
                </a:gridCol>
              </a:tblGrid>
              <a:tr h="566351">
                <a:tc>
                  <a:txBody>
                    <a:bodyPr/>
                    <a:lstStyle/>
                    <a:p>
                      <a:pPr>
                        <a:buNone/>
                      </a:pPr>
                      <a:r>
                        <a:rPr lang="en-US" sz="1400" dirty="0"/>
                        <a:t>ECP Global Feature </a:t>
                      </a:r>
                    </a:p>
                  </a:txBody>
                  <a:tcPr/>
                </a:tc>
                <a:tc>
                  <a:txBody>
                    <a:bodyPr/>
                    <a:lstStyle/>
                    <a:p>
                      <a:pPr lvl="0">
                        <a:buNone/>
                      </a:pPr>
                      <a:r>
                        <a:rPr lang="en-US" sz="1400" dirty="0"/>
                        <a:t>New Capabilities</a:t>
                      </a:r>
                    </a:p>
                  </a:txBody>
                  <a:tcPr/>
                </a:tc>
                <a:tc>
                  <a:txBody>
                    <a:bodyPr/>
                    <a:lstStyle/>
                    <a:p>
                      <a:pPr lvl="0" algn="l">
                        <a:buNone/>
                      </a:pPr>
                      <a:r>
                        <a:rPr lang="en-US" sz="1400" dirty="0"/>
                        <a:t>Known Limitations</a:t>
                      </a:r>
                    </a:p>
                  </a:txBody>
                  <a:tcPr/>
                </a:tc>
                <a:tc>
                  <a:txBody>
                    <a:bodyPr/>
                    <a:lstStyle/>
                    <a:p>
                      <a:pPr lvl="0" algn="l">
                        <a:buNone/>
                      </a:pPr>
                      <a:r>
                        <a:rPr lang="en-US" sz="1400" dirty="0"/>
                        <a:t>PM POC</a:t>
                      </a:r>
                    </a:p>
                  </a:txBody>
                  <a:tcPr/>
                </a:tc>
                <a:extLst>
                  <a:ext uri="{0D108BD9-81ED-4DB2-BD59-A6C34878D82A}">
                    <a16:rowId xmlns:a16="http://schemas.microsoft.com/office/drawing/2014/main" val="817729115"/>
                  </a:ext>
                </a:extLst>
              </a:tr>
              <a:tr h="551159">
                <a:tc>
                  <a:txBody>
                    <a:bodyPr/>
                    <a:lstStyle/>
                    <a:p>
                      <a:pPr marL="0" marR="0" lvl="0" indent="0" algn="l" rtl="0" eaLnBrk="1" fontAlgn="auto" latinLnBrk="0" hangingPunct="1">
                        <a:lnSpc>
                          <a:spcPct val="100000"/>
                        </a:lnSpc>
                        <a:spcBef>
                          <a:spcPts val="0"/>
                        </a:spcBef>
                        <a:spcAft>
                          <a:spcPts val="0"/>
                        </a:spcAft>
                        <a:buClrTx/>
                        <a:buSzTx/>
                        <a:buFontTx/>
                        <a:buNone/>
                      </a:pPr>
                      <a:r>
                        <a:rPr lang="en-SG" sz="1200" b="0" dirty="0"/>
                        <a:t>Cross Connect</a:t>
                      </a:r>
                    </a:p>
                  </a:txBody>
                  <a:tcPr marL="68580" marR="68580" marT="34290" marB="34290" anchor="ctr"/>
                </a:tc>
                <a:tc>
                  <a:txBody>
                    <a:bodyPr/>
                    <a:lstStyle/>
                    <a:p>
                      <a:pPr marL="0" marR="0" lvl="0" indent="0" algn="l">
                        <a:lnSpc>
                          <a:spcPct val="100000"/>
                        </a:lnSpc>
                        <a:spcBef>
                          <a:spcPts val="0"/>
                        </a:spcBef>
                        <a:spcAft>
                          <a:spcPts val="0"/>
                        </a:spcAft>
                        <a:buFont typeface="Arial" panose="020B0604020202020204" pitchFamily="34" charset="0"/>
                        <a:buNone/>
                      </a:pPr>
                      <a:r>
                        <a:rPr lang="en-US" sz="1200" b="0" i="0" u="none" strike="noStrike" kern="1200" cap="none" spc="0" normalizeH="0" baseline="0" noProof="0" dirty="0">
                          <a:ln>
                            <a:noFill/>
                          </a:ln>
                          <a:solidFill>
                            <a:srgbClr val="000000"/>
                          </a:solidFill>
                          <a:effectLst/>
                          <a:uLnTx/>
                          <a:uFillTx/>
                          <a:latin typeface="+mn-lt"/>
                          <a:ea typeface="+mn-ea"/>
                          <a:cs typeface="+mn-cs"/>
                        </a:rPr>
                        <a:t>Logic amendment for the CC orders placed by GSD – </a:t>
                      </a:r>
                      <a:r>
                        <a:rPr lang="en-GB" sz="1200" b="0" i="0" u="none" strike="noStrike" kern="1200" cap="none" spc="0" normalizeH="0" baseline="0" noProof="0" dirty="0">
                          <a:ln>
                            <a:noFill/>
                          </a:ln>
                          <a:solidFill>
                            <a:schemeClr val="tx1"/>
                          </a:solidFill>
                          <a:effectLst/>
                          <a:uLnTx/>
                          <a:uFillTx/>
                          <a:latin typeface="Arial"/>
                        </a:rPr>
                        <a:t>For Orders of more than $1000 MRC/NRC, additional approval is required from customer.</a:t>
                      </a:r>
                      <a:endParaRPr lang="en-US" sz="1200" b="0" i="0" u="none" strike="noStrike" kern="1200" cap="none" spc="0" normalizeH="0" baseline="0" noProof="0" dirty="0">
                        <a:ln>
                          <a:noFill/>
                        </a:ln>
                        <a:solidFill>
                          <a:srgbClr val="000000"/>
                        </a:solidFill>
                        <a:effectLst/>
                        <a:uLnTx/>
                        <a:uFillTx/>
                        <a:latin typeface="+mn-lt"/>
                        <a:ea typeface="+mn-ea"/>
                        <a:cs typeface="+mn-cs"/>
                      </a:endParaRPr>
                    </a:p>
                  </a:txBody>
                  <a:tcPr marL="68580" marR="68580" marT="34290" marB="34290"/>
                </a:tc>
                <a:tc>
                  <a:txBody>
                    <a:bodyPr/>
                    <a:lstStyle/>
                    <a:p>
                      <a:pPr marL="0" marR="0" lvl="0" indent="0" algn="l" rtl="0" eaLnBrk="1" fontAlgn="auto" latinLnBrk="0" hangingPunct="1">
                        <a:lnSpc>
                          <a:spcPct val="100000"/>
                        </a:lnSpc>
                        <a:spcBef>
                          <a:spcPts val="0"/>
                        </a:spcBef>
                        <a:spcAft>
                          <a:spcPts val="0"/>
                        </a:spcAft>
                        <a:buClrTx/>
                        <a:buSzTx/>
                        <a:buNone/>
                      </a:pPr>
                      <a:r>
                        <a:rPr lang="en-SG" sz="1200" b="1" dirty="0">
                          <a:solidFill>
                            <a:srgbClr val="FF0000"/>
                          </a:solidFill>
                        </a:rPr>
                        <a:t>Descoped from April due to complexity of implementation and limited such records</a:t>
                      </a:r>
                    </a:p>
                  </a:txBody>
                  <a:tcPr marL="68580" marR="68580" marT="34290" marB="34290"/>
                </a:tc>
                <a:tc>
                  <a:txBody>
                    <a:bodyPr/>
                    <a:lstStyle/>
                    <a:p>
                      <a:pPr marL="0" lvl="0" indent="0" algn="l">
                        <a:lnSpc>
                          <a:spcPct val="100000"/>
                        </a:lnSpc>
                        <a:spcBef>
                          <a:spcPts val="0"/>
                        </a:spcBef>
                        <a:spcAft>
                          <a:spcPts val="0"/>
                        </a:spcAft>
                        <a:buNone/>
                      </a:pPr>
                      <a:r>
                        <a:rPr lang="en-SG" sz="1200" dirty="0" err="1"/>
                        <a:t>Sonalee</a:t>
                      </a:r>
                      <a:r>
                        <a:rPr lang="en-SG" sz="1200" dirty="0"/>
                        <a:t> Panda</a:t>
                      </a:r>
                    </a:p>
                  </a:txBody>
                  <a:tcPr marL="68580" marR="68580" marT="34290" marB="34290"/>
                </a:tc>
                <a:extLst>
                  <a:ext uri="{0D108BD9-81ED-4DB2-BD59-A6C34878D82A}">
                    <a16:rowId xmlns:a16="http://schemas.microsoft.com/office/drawing/2014/main" val="1723247671"/>
                  </a:ext>
                </a:extLst>
              </a:tr>
              <a:tr h="494338">
                <a:tc>
                  <a:txBody>
                    <a:bodyPr/>
                    <a:lstStyle/>
                    <a:p>
                      <a:pPr marL="0" marR="0" lvl="0" indent="0" algn="l">
                        <a:lnSpc>
                          <a:spcPct val="100000"/>
                        </a:lnSpc>
                        <a:spcBef>
                          <a:spcPts val="0"/>
                        </a:spcBef>
                        <a:spcAft>
                          <a:spcPts val="0"/>
                        </a:spcAft>
                        <a:buNone/>
                      </a:pPr>
                      <a:r>
                        <a:rPr lang="en-SG" sz="1200" b="0" i="0" u="none" strike="noStrike" noProof="0" dirty="0">
                          <a:solidFill>
                            <a:srgbClr val="000000"/>
                          </a:solidFill>
                          <a:latin typeface="Arial"/>
                        </a:rPr>
                        <a:t>Cross Connect</a:t>
                      </a:r>
                      <a:endParaRPr lang="en-US" dirty="0"/>
                    </a:p>
                  </a:txBody>
                  <a:tcPr marL="68580" marR="68580" marT="34290" marB="34290"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u="none" strike="noStrike" kern="1200" cap="none" spc="0" normalizeH="0" baseline="0" noProof="0" dirty="0">
                          <a:ln>
                            <a:noFill/>
                          </a:ln>
                          <a:solidFill>
                            <a:srgbClr val="000000"/>
                          </a:solidFill>
                          <a:effectLst/>
                          <a:uLnTx/>
                          <a:uFillTx/>
                          <a:latin typeface="+mn-lt"/>
                          <a:ea typeface="+mn-ea"/>
                          <a:cs typeface="+mn-cs"/>
                        </a:rPr>
                        <a:t>Patch Panel Search in the start of the ordering form &amp; showing the values in the provider Table </a:t>
                      </a:r>
                    </a:p>
                  </a:txBody>
                  <a:tcPr marL="68580" marR="68580" marT="34290" marB="34290"/>
                </a:tc>
                <a:tc>
                  <a:txBody>
                    <a:bodyPr/>
                    <a:lstStyle/>
                    <a:p>
                      <a:pPr marL="0" marR="0" lvl="0" indent="0" algn="l">
                        <a:lnSpc>
                          <a:spcPct val="100000"/>
                        </a:lnSpc>
                        <a:spcBef>
                          <a:spcPts val="0"/>
                        </a:spcBef>
                        <a:spcAft>
                          <a:spcPts val="0"/>
                        </a:spcAft>
                        <a:buNone/>
                      </a:pPr>
                      <a:r>
                        <a:rPr lang="en-US" sz="1200" b="1" i="0" u="none" strike="noStrike" kern="1200" cap="none" spc="0" normalizeH="0" baseline="0" noProof="0" dirty="0">
                          <a:ln>
                            <a:noFill/>
                          </a:ln>
                          <a:solidFill>
                            <a:srgbClr val="FF0000"/>
                          </a:solidFill>
                          <a:effectLst/>
                          <a:uLnTx/>
                          <a:uFillTx/>
                          <a:latin typeface="Arial"/>
                        </a:rPr>
                        <a:t>Descoped from April</a:t>
                      </a:r>
                      <a:endParaRPr kumimoji="0" lang="en-US" sz="1200" b="1" i="0" u="none" strike="noStrike" kern="1200" cap="none" spc="0" normalizeH="0" baseline="0" noProof="0" dirty="0">
                        <a:ln>
                          <a:noFill/>
                        </a:ln>
                        <a:solidFill>
                          <a:srgbClr val="FF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dirty="0" err="1">
                          <a:ln>
                            <a:noFill/>
                          </a:ln>
                          <a:solidFill>
                            <a:srgbClr val="000000"/>
                          </a:solidFill>
                          <a:effectLst/>
                          <a:uLnTx/>
                          <a:uFillTx/>
                          <a:latin typeface="Arial"/>
                        </a:rPr>
                        <a:t>Sonalee</a:t>
                      </a:r>
                      <a:r>
                        <a:rPr lang="en-SG" sz="1200" b="0" i="0" u="none" strike="noStrike" kern="1200" cap="none" spc="0" normalizeH="0" baseline="0" noProof="0" dirty="0">
                          <a:ln>
                            <a:noFill/>
                          </a:ln>
                          <a:solidFill>
                            <a:srgbClr val="000000"/>
                          </a:solidFill>
                          <a:effectLst/>
                          <a:uLnTx/>
                          <a:uFillTx/>
                          <a:latin typeface="Arial"/>
                        </a:rPr>
                        <a:t> Panda</a:t>
                      </a:r>
                      <a:endParaRPr kumimoji="0" lang="en-US" dirty="0"/>
                    </a:p>
                  </a:txBody>
                  <a:tcPr marL="68580" marR="68580" marT="34290" marB="34290"/>
                </a:tc>
                <a:extLst>
                  <a:ext uri="{0D108BD9-81ED-4DB2-BD59-A6C34878D82A}">
                    <a16:rowId xmlns:a16="http://schemas.microsoft.com/office/drawing/2014/main" val="2197285887"/>
                  </a:ext>
                </a:extLst>
              </a:tr>
              <a:tr h="494337">
                <a:tc>
                  <a:txBody>
                    <a:bodyPr/>
                    <a:lstStyle/>
                    <a:p>
                      <a:pPr marL="0" lvl="0" indent="0" algn="l">
                        <a:lnSpc>
                          <a:spcPct val="100000"/>
                        </a:lnSpc>
                        <a:spcBef>
                          <a:spcPts val="0"/>
                        </a:spcBef>
                        <a:spcAft>
                          <a:spcPts val="0"/>
                        </a:spcAft>
                        <a:buNone/>
                      </a:pPr>
                      <a:r>
                        <a:rPr lang="en-SG" sz="1200" b="0" i="0" u="none" strike="noStrike" noProof="0" dirty="0">
                          <a:solidFill>
                            <a:srgbClr val="000000"/>
                          </a:solidFill>
                          <a:latin typeface="Arial"/>
                        </a:rPr>
                        <a:t>Cross Connect</a:t>
                      </a:r>
                      <a:endParaRPr lang="en-US" dirty="0"/>
                    </a:p>
                  </a:txBody>
                  <a:tcPr marL="68580" marR="68580" marT="34290" marB="34290" anchor="ctr"/>
                </a:tc>
                <a:tc>
                  <a:txBody>
                    <a:bodyPr/>
                    <a:lstStyle/>
                    <a:p>
                      <a:pPr marL="0" lvl="0" indent="0" algn="l">
                        <a:lnSpc>
                          <a:spcPct val="100000"/>
                        </a:lnSpc>
                        <a:spcBef>
                          <a:spcPts val="0"/>
                        </a:spcBef>
                        <a:spcAft>
                          <a:spcPts val="0"/>
                        </a:spcAft>
                        <a:buNone/>
                      </a:pPr>
                      <a:r>
                        <a:rPr lang="en-US" sz="1200" b="0" i="0" u="none" strike="noStrike" kern="1200" cap="none" spc="0" normalizeH="0" baseline="0" noProof="0" dirty="0">
                          <a:ln>
                            <a:noFill/>
                          </a:ln>
                          <a:solidFill>
                            <a:srgbClr val="000000"/>
                          </a:solidFill>
                          <a:effectLst/>
                          <a:uLnTx/>
                          <a:uFillTx/>
                          <a:latin typeface="+mn-lt"/>
                          <a:ea typeface="+mn-ea"/>
                          <a:cs typeface="+mn-cs"/>
                        </a:rPr>
                        <a:t>Moving the Extended CC Card from "Upload DLOA/Standard Card" to "Order without LOA &amp; Adding Verbiage with to the respective card </a:t>
                      </a:r>
                    </a:p>
                  </a:txBody>
                  <a:tcPr marL="68580" marR="68580" marT="34290" marB="34290"/>
                </a:tc>
                <a:tc>
                  <a:txBody>
                    <a:bodyPr/>
                    <a:lstStyle/>
                    <a:p>
                      <a:pPr marL="0" lvl="0" indent="0" algn="l">
                        <a:lnSpc>
                          <a:spcPct val="100000"/>
                        </a:lnSpc>
                        <a:spcBef>
                          <a:spcPts val="0"/>
                        </a:spcBef>
                        <a:spcAft>
                          <a:spcPts val="0"/>
                        </a:spcAft>
                        <a:buNone/>
                      </a:pPr>
                      <a:r>
                        <a:rPr lang="en-US" sz="1200" b="1" i="0" u="none" strike="noStrike" kern="1200" cap="none" spc="0" normalizeH="0" baseline="0" noProof="0" dirty="0">
                          <a:ln>
                            <a:noFill/>
                          </a:ln>
                          <a:solidFill>
                            <a:srgbClr val="FF0000"/>
                          </a:solidFill>
                          <a:effectLst/>
                          <a:uLnTx/>
                          <a:uFillTx/>
                          <a:latin typeface="Arial"/>
                        </a:rPr>
                        <a:t>Descoped from April – Plan is to change the </a:t>
                      </a:r>
                      <a:r>
                        <a:rPr lang="en-US" sz="1200" b="1" i="0" u="none" strike="noStrike" kern="1200" cap="none" spc="0" normalizeH="0" baseline="0" noProof="0">
                          <a:ln>
                            <a:noFill/>
                          </a:ln>
                          <a:solidFill>
                            <a:srgbClr val="FF0000"/>
                          </a:solidFill>
                          <a:effectLst/>
                          <a:uLnTx/>
                          <a:uFillTx/>
                          <a:latin typeface="Arial"/>
                        </a:rPr>
                        <a:t>verbiage</a:t>
                      </a:r>
                      <a:r>
                        <a:rPr lang="en-US" sz="1200" b="1" i="0" u="none" strike="noStrike" kern="1200" cap="none" spc="0" normalizeH="0" baseline="0" noProof="0" dirty="0">
                          <a:ln>
                            <a:noFill/>
                          </a:ln>
                          <a:solidFill>
                            <a:srgbClr val="FF0000"/>
                          </a:solidFill>
                          <a:effectLst/>
                          <a:uLnTx/>
                          <a:uFillTx/>
                          <a:latin typeface="Arial"/>
                        </a:rPr>
                        <a:t> rather than moving the card under a different tile</a:t>
                      </a:r>
                      <a:endParaRPr kumimoji="0" lang="en-US" dirty="0"/>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dirty="0" err="1">
                          <a:ln>
                            <a:noFill/>
                          </a:ln>
                          <a:solidFill>
                            <a:srgbClr val="000000"/>
                          </a:solidFill>
                          <a:effectLst/>
                          <a:uLnTx/>
                          <a:uFillTx/>
                          <a:latin typeface="Arial"/>
                        </a:rPr>
                        <a:t>Sonalee</a:t>
                      </a:r>
                      <a:r>
                        <a:rPr lang="en-SG" sz="1200" b="0" i="0" u="none" strike="noStrike" kern="1200" cap="none" spc="0" normalizeH="0" baseline="0" noProof="0" dirty="0">
                          <a:ln>
                            <a:noFill/>
                          </a:ln>
                          <a:solidFill>
                            <a:srgbClr val="000000"/>
                          </a:solidFill>
                          <a:effectLst/>
                          <a:uLnTx/>
                          <a:uFillTx/>
                          <a:latin typeface="Arial"/>
                        </a:rPr>
                        <a:t> Panda</a:t>
                      </a:r>
                      <a:endParaRPr kumimoji="0" lang="en-US" dirty="0"/>
                    </a:p>
                  </a:txBody>
                  <a:tcPr marL="68580" marR="68580" marT="34290" marB="34290"/>
                </a:tc>
                <a:extLst>
                  <a:ext uri="{0D108BD9-81ED-4DB2-BD59-A6C34878D82A}">
                    <a16:rowId xmlns:a16="http://schemas.microsoft.com/office/drawing/2014/main" val="2578573868"/>
                  </a:ext>
                </a:extLst>
              </a:tr>
              <a:tr h="474732">
                <a:tc>
                  <a:txBody>
                    <a:bodyPr/>
                    <a:lstStyle/>
                    <a:p>
                      <a:pPr marL="0" lvl="0" indent="0" algn="l">
                        <a:lnSpc>
                          <a:spcPct val="100000"/>
                        </a:lnSpc>
                        <a:spcBef>
                          <a:spcPts val="0"/>
                        </a:spcBef>
                        <a:spcAft>
                          <a:spcPts val="0"/>
                        </a:spcAft>
                        <a:buNone/>
                      </a:pPr>
                      <a:r>
                        <a:rPr lang="en-SG" sz="1200" b="0" i="0" u="none" strike="noStrike" noProof="0" dirty="0">
                          <a:solidFill>
                            <a:srgbClr val="000000"/>
                          </a:solidFill>
                          <a:latin typeface="Arial"/>
                        </a:rPr>
                        <a:t>Cross Connect</a:t>
                      </a:r>
                      <a:endParaRPr lang="en-US" dirty="0"/>
                    </a:p>
                  </a:txBody>
                  <a:tcPr marL="68580" marR="68580" marT="34290" marB="34290" anchor="ctr"/>
                </a:tc>
                <a:tc>
                  <a:txBody>
                    <a:bodyPr/>
                    <a:lstStyle/>
                    <a:p>
                      <a:pPr marL="0" lvl="0" indent="0" algn="l">
                        <a:lnSpc>
                          <a:spcPct val="100000"/>
                        </a:lnSpc>
                        <a:spcBef>
                          <a:spcPts val="0"/>
                        </a:spcBef>
                        <a:spcAft>
                          <a:spcPts val="0"/>
                        </a:spcAft>
                        <a:buNone/>
                      </a:pPr>
                      <a:r>
                        <a:rPr lang="en-US" sz="1200" b="0" i="0" u="none" strike="noStrike" kern="1200" cap="none" spc="0" normalizeH="0" baseline="0" noProof="0" dirty="0">
                          <a:ln>
                            <a:noFill/>
                          </a:ln>
                          <a:solidFill>
                            <a:srgbClr val="000000"/>
                          </a:solidFill>
                          <a:effectLst/>
                          <a:uLnTx/>
                          <a:uFillTx/>
                          <a:latin typeface="+mn-lt"/>
                          <a:ea typeface="+mn-ea"/>
                          <a:cs typeface="+mn-cs"/>
                        </a:rPr>
                        <a:t>Additional message for the DLOA users " No need for paper LOA upload" in the form</a:t>
                      </a: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dirty="0" err="1">
                          <a:ln>
                            <a:noFill/>
                          </a:ln>
                          <a:solidFill>
                            <a:srgbClr val="000000"/>
                          </a:solidFill>
                          <a:effectLst/>
                          <a:uLnTx/>
                          <a:uFillTx/>
                          <a:latin typeface="Arial"/>
                        </a:rPr>
                        <a:t>Sonalee</a:t>
                      </a:r>
                      <a:r>
                        <a:rPr lang="en-SG" sz="1200" b="0" i="0" u="none" strike="noStrike" kern="1200" cap="none" spc="0" normalizeH="0" baseline="0" noProof="0" dirty="0">
                          <a:ln>
                            <a:noFill/>
                          </a:ln>
                          <a:solidFill>
                            <a:srgbClr val="000000"/>
                          </a:solidFill>
                          <a:effectLst/>
                          <a:uLnTx/>
                          <a:uFillTx/>
                          <a:latin typeface="Arial"/>
                        </a:rPr>
                        <a:t> Panda</a:t>
                      </a:r>
                    </a:p>
                    <a:p>
                      <a:pPr marL="0" lvl="0" indent="0" algn="l">
                        <a:lnSpc>
                          <a:spcPct val="100000"/>
                        </a:lnSpc>
                        <a:spcBef>
                          <a:spcPts val="0"/>
                        </a:spcBef>
                        <a:spcAft>
                          <a:spcPts val="0"/>
                        </a:spcAft>
                        <a:buNone/>
                      </a:pPr>
                      <a:endParaRPr lang="en-SG" sz="1200" b="0" i="0" u="none" strike="noStrike" kern="1200" cap="none" spc="0" normalizeH="0" baseline="0" noProof="0">
                        <a:ln>
                          <a:noFill/>
                        </a:ln>
                        <a:solidFill>
                          <a:srgbClr val="000000"/>
                        </a:solidFill>
                        <a:effectLst/>
                        <a:uLnTx/>
                        <a:uFillTx/>
                        <a:latin typeface="Arial"/>
                      </a:endParaRPr>
                    </a:p>
                  </a:txBody>
                  <a:tcPr marL="68580" marR="68580" marT="34290" marB="34290"/>
                </a:tc>
                <a:extLst>
                  <a:ext uri="{0D108BD9-81ED-4DB2-BD59-A6C34878D82A}">
                    <a16:rowId xmlns:a16="http://schemas.microsoft.com/office/drawing/2014/main" val="1874775784"/>
                  </a:ext>
                </a:extLst>
              </a:tr>
              <a:tr h="494336">
                <a:tc>
                  <a:txBody>
                    <a:bodyPr/>
                    <a:lstStyle/>
                    <a:p>
                      <a:pPr marL="0" lvl="0" indent="0" algn="l">
                        <a:lnSpc>
                          <a:spcPct val="100000"/>
                        </a:lnSpc>
                        <a:spcBef>
                          <a:spcPts val="0"/>
                        </a:spcBef>
                        <a:spcAft>
                          <a:spcPts val="0"/>
                        </a:spcAft>
                        <a:buNone/>
                      </a:pPr>
                      <a:r>
                        <a:rPr lang="en-SG" sz="1200" b="0" i="0" u="none" strike="noStrike" noProof="0" dirty="0">
                          <a:solidFill>
                            <a:srgbClr val="000000"/>
                          </a:solidFill>
                          <a:latin typeface="Arial"/>
                        </a:rPr>
                        <a:t>Cross Connect</a:t>
                      </a:r>
                      <a:endParaRPr lang="en-US" dirty="0"/>
                    </a:p>
                  </a:txBody>
                  <a:tcPr marL="68580" marR="68580" marT="34290" marB="34290" anchor="ctr"/>
                </a:tc>
                <a:tc>
                  <a:txBody>
                    <a:bodyPr/>
                    <a:lstStyle/>
                    <a:p>
                      <a:pPr marL="0" lvl="0" indent="0" algn="l">
                        <a:lnSpc>
                          <a:spcPct val="100000"/>
                        </a:lnSpc>
                        <a:spcBef>
                          <a:spcPts val="0"/>
                        </a:spcBef>
                        <a:spcAft>
                          <a:spcPts val="0"/>
                        </a:spcAft>
                        <a:buNone/>
                      </a:pPr>
                      <a:r>
                        <a:rPr lang="en-US" sz="1200" b="0" i="0" u="none" strike="noStrike" kern="1200" cap="none" spc="0" normalizeH="0" baseline="0" noProof="0" dirty="0">
                          <a:ln>
                            <a:noFill/>
                          </a:ln>
                          <a:solidFill>
                            <a:srgbClr val="000000"/>
                          </a:solidFill>
                          <a:effectLst/>
                          <a:uLnTx/>
                          <a:uFillTx/>
                          <a:latin typeface="+mn-lt"/>
                          <a:ea typeface="+mn-ea"/>
                          <a:cs typeface="+mn-cs"/>
                        </a:rPr>
                        <a:t>User experience enhancement in the contact page – for selection of values in the "Best Time to Call"</a:t>
                      </a: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dirty="0" err="1">
                          <a:ln>
                            <a:noFill/>
                          </a:ln>
                          <a:solidFill>
                            <a:srgbClr val="000000"/>
                          </a:solidFill>
                          <a:effectLst/>
                          <a:uLnTx/>
                          <a:uFillTx/>
                          <a:latin typeface="Arial"/>
                        </a:rPr>
                        <a:t>Sonalee</a:t>
                      </a:r>
                      <a:r>
                        <a:rPr lang="en-SG" sz="1200" b="0" i="0" u="none" strike="noStrike" kern="1200" cap="none" spc="0" normalizeH="0" baseline="0" noProof="0" dirty="0">
                          <a:ln>
                            <a:noFill/>
                          </a:ln>
                          <a:solidFill>
                            <a:srgbClr val="000000"/>
                          </a:solidFill>
                          <a:effectLst/>
                          <a:uLnTx/>
                          <a:uFillTx/>
                          <a:latin typeface="Arial"/>
                        </a:rPr>
                        <a:t> Panda</a:t>
                      </a:r>
                      <a:endParaRPr lang="en-US" sz="1200" b="0" i="0" u="none" strike="noStrike" kern="1200" cap="none" spc="0" normalizeH="0" baseline="0" noProof="0" dirty="0">
                        <a:ln>
                          <a:noFill/>
                        </a:ln>
                        <a:solidFill>
                          <a:srgbClr val="000000"/>
                        </a:solidFill>
                        <a:effectLst/>
                        <a:uLnTx/>
                        <a:uFillTx/>
                        <a:latin typeface="Arial"/>
                      </a:endParaRPr>
                    </a:p>
                    <a:p>
                      <a:pPr marL="0" lvl="0" indent="0" algn="l">
                        <a:lnSpc>
                          <a:spcPct val="100000"/>
                        </a:lnSpc>
                        <a:spcBef>
                          <a:spcPts val="0"/>
                        </a:spcBef>
                        <a:spcAft>
                          <a:spcPts val="0"/>
                        </a:spcAft>
                        <a:buNone/>
                      </a:pPr>
                      <a:endParaRPr lang="en-SG" sz="1200" b="0" i="0" u="none" strike="noStrike" kern="1200" cap="none" spc="0" normalizeH="0" baseline="0" noProof="0">
                        <a:ln>
                          <a:noFill/>
                        </a:ln>
                        <a:solidFill>
                          <a:srgbClr val="000000"/>
                        </a:solidFill>
                        <a:effectLst/>
                        <a:uLnTx/>
                        <a:uFillTx/>
                        <a:latin typeface="Arial"/>
                      </a:endParaRPr>
                    </a:p>
                    <a:p>
                      <a:pPr marL="0" lvl="0" indent="0" algn="l">
                        <a:lnSpc>
                          <a:spcPct val="100000"/>
                        </a:lnSpc>
                        <a:spcBef>
                          <a:spcPts val="0"/>
                        </a:spcBef>
                        <a:spcAft>
                          <a:spcPts val="0"/>
                        </a:spcAft>
                        <a:buNone/>
                      </a:pPr>
                      <a:endParaRPr lang="en-SG" sz="1200" b="0" i="0" u="none" strike="noStrike" kern="1200" cap="none" spc="0" normalizeH="0" baseline="0" noProof="0">
                        <a:ln>
                          <a:noFill/>
                        </a:ln>
                        <a:solidFill>
                          <a:srgbClr val="000000"/>
                        </a:solidFill>
                        <a:effectLst/>
                        <a:uLnTx/>
                        <a:uFillTx/>
                        <a:latin typeface="Arial"/>
                      </a:endParaRPr>
                    </a:p>
                  </a:txBody>
                  <a:tcPr marL="68580" marR="68580" marT="34290" marB="34290"/>
                </a:tc>
                <a:extLst>
                  <a:ext uri="{0D108BD9-81ED-4DB2-BD59-A6C34878D82A}">
                    <a16:rowId xmlns:a16="http://schemas.microsoft.com/office/drawing/2014/main" val="2789887982"/>
                  </a:ext>
                </a:extLst>
              </a:tr>
              <a:tr h="494336">
                <a:tc>
                  <a:txBody>
                    <a:bodyPr/>
                    <a:lstStyle/>
                    <a:p>
                      <a:pPr marL="0" lvl="0" indent="0" algn="l">
                        <a:lnSpc>
                          <a:spcPct val="100000"/>
                        </a:lnSpc>
                        <a:spcBef>
                          <a:spcPts val="0"/>
                        </a:spcBef>
                        <a:spcAft>
                          <a:spcPts val="0"/>
                        </a:spcAft>
                        <a:buNone/>
                      </a:pPr>
                      <a:r>
                        <a:rPr lang="en-SG" sz="1200" b="0" i="0" u="none" strike="noStrike" noProof="0" dirty="0">
                          <a:solidFill>
                            <a:srgbClr val="000000"/>
                          </a:solidFill>
                          <a:latin typeface="Arial"/>
                        </a:rPr>
                        <a:t>Cross Connect</a:t>
                      </a:r>
                      <a:endParaRPr lang="en-US" dirty="0"/>
                    </a:p>
                  </a:txBody>
                  <a:tcPr marL="68580" marR="68580" marT="34290" marB="34290" anchor="ctr"/>
                </a:tc>
                <a:tc>
                  <a:txBody>
                    <a:bodyPr/>
                    <a:lstStyle/>
                    <a:p>
                      <a:pPr marL="0" lvl="0" indent="0" algn="l">
                        <a:lnSpc>
                          <a:spcPct val="100000"/>
                        </a:lnSpc>
                        <a:spcBef>
                          <a:spcPts val="0"/>
                        </a:spcBef>
                        <a:spcAft>
                          <a:spcPts val="0"/>
                        </a:spcAft>
                        <a:buNone/>
                      </a:pPr>
                      <a:r>
                        <a:rPr lang="en-US" sz="1200" b="0" i="0" u="none" strike="noStrike" kern="1200" cap="none" spc="0" normalizeH="0" baseline="0" noProof="0" dirty="0">
                          <a:ln>
                            <a:noFill/>
                          </a:ln>
                          <a:solidFill>
                            <a:srgbClr val="000000"/>
                          </a:solidFill>
                          <a:effectLst/>
                          <a:uLnTx/>
                          <a:uFillTx/>
                          <a:latin typeface="+mn-lt"/>
                          <a:ea typeface="+mn-ea"/>
                          <a:cs typeface="+mn-cs"/>
                        </a:rPr>
                        <a:t>Enabling the package detailed View in Portal</a:t>
                      </a:r>
                    </a:p>
                  </a:txBody>
                  <a:tcPr marL="68580" marR="68580" marT="34290" marB="34290"/>
                </a:tc>
                <a:tc>
                  <a:txBody>
                    <a:bodyPr/>
                    <a:lstStyle/>
                    <a:p>
                      <a:pPr marL="0" lvl="0" indent="0" algn="l">
                        <a:lnSpc>
                          <a:spcPct val="100000"/>
                        </a:lnSpc>
                        <a:spcBef>
                          <a:spcPts val="0"/>
                        </a:spcBef>
                        <a:spcAft>
                          <a:spcPts val="0"/>
                        </a:spcAft>
                        <a:buNone/>
                      </a:pPr>
                      <a:r>
                        <a:rPr lang="en-US" sz="1200" b="1" i="0" u="none" strike="noStrike" kern="1200" cap="none" spc="0" normalizeH="0" baseline="0" noProof="0" dirty="0">
                          <a:ln>
                            <a:noFill/>
                          </a:ln>
                          <a:solidFill>
                            <a:srgbClr val="7030A0"/>
                          </a:solidFill>
                          <a:effectLst/>
                          <a:uLnTx/>
                          <a:uFillTx/>
                          <a:latin typeface="Arial"/>
                        </a:rPr>
                        <a:t>Data Issue on existing records – Will be part of April patch once the data correction is completed</a:t>
                      </a:r>
                      <a:endParaRPr kumimoji="0" lang="en-US" sz="1200" b="1" i="0" u="none" strike="noStrike" kern="1200" cap="none" spc="0" normalizeH="0" baseline="0" noProof="0" dirty="0">
                        <a:ln>
                          <a:noFill/>
                        </a:ln>
                        <a:solidFill>
                          <a:srgbClr val="7030A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dirty="0" err="1">
                          <a:ln>
                            <a:noFill/>
                          </a:ln>
                          <a:solidFill>
                            <a:srgbClr val="000000"/>
                          </a:solidFill>
                          <a:effectLst/>
                          <a:uLnTx/>
                          <a:uFillTx/>
                          <a:latin typeface="Arial"/>
                        </a:rPr>
                        <a:t>Sonalee</a:t>
                      </a:r>
                      <a:r>
                        <a:rPr lang="en-SG" sz="1200" b="0" i="0" u="none" strike="noStrike" kern="1200" cap="none" spc="0" normalizeH="0" baseline="0" noProof="0" dirty="0">
                          <a:ln>
                            <a:noFill/>
                          </a:ln>
                          <a:solidFill>
                            <a:srgbClr val="000000"/>
                          </a:solidFill>
                          <a:effectLst/>
                          <a:uLnTx/>
                          <a:uFillTx/>
                          <a:latin typeface="Arial"/>
                        </a:rPr>
                        <a:t> Panda</a:t>
                      </a:r>
                      <a:endParaRPr lang="en-US" dirty="0"/>
                    </a:p>
                  </a:txBody>
                  <a:tcPr marL="68580" marR="68580" marT="34290" marB="34290"/>
                </a:tc>
                <a:extLst>
                  <a:ext uri="{0D108BD9-81ED-4DB2-BD59-A6C34878D82A}">
                    <a16:rowId xmlns:a16="http://schemas.microsoft.com/office/drawing/2014/main" val="3850752516"/>
                  </a:ext>
                </a:extLst>
              </a:tr>
              <a:tr h="494336">
                <a:tc>
                  <a:txBody>
                    <a:bodyPr/>
                    <a:lstStyle/>
                    <a:p>
                      <a:pPr marL="0" lvl="0" indent="0" algn="l">
                        <a:lnSpc>
                          <a:spcPct val="100000"/>
                        </a:lnSpc>
                        <a:spcBef>
                          <a:spcPts val="0"/>
                        </a:spcBef>
                        <a:spcAft>
                          <a:spcPts val="0"/>
                        </a:spcAft>
                        <a:buNone/>
                      </a:pPr>
                      <a:r>
                        <a:rPr lang="en-SG" sz="1200" b="0" i="0" u="none" strike="noStrike" noProof="0" dirty="0">
                          <a:solidFill>
                            <a:srgbClr val="000000"/>
                          </a:solidFill>
                          <a:latin typeface="Arial"/>
                        </a:rPr>
                        <a:t>Cross Connect </a:t>
                      </a:r>
                    </a:p>
                  </a:txBody>
                  <a:tcPr marL="68580" marR="68580" marT="34290" marB="34290" anchor="ctr"/>
                </a:tc>
                <a:tc>
                  <a:txBody>
                    <a:bodyPr/>
                    <a:lstStyle/>
                    <a:p>
                      <a:pPr marL="0" lvl="0" indent="0" algn="l">
                        <a:lnSpc>
                          <a:spcPct val="100000"/>
                        </a:lnSpc>
                        <a:spcBef>
                          <a:spcPts val="0"/>
                        </a:spcBef>
                        <a:spcAft>
                          <a:spcPts val="0"/>
                        </a:spcAft>
                        <a:buNone/>
                      </a:pPr>
                      <a:r>
                        <a:rPr lang="en-US" sz="1200" b="0" i="0" u="none" strike="noStrike" kern="1200" cap="none" spc="0" normalizeH="0" baseline="0" noProof="0" dirty="0">
                          <a:ln>
                            <a:noFill/>
                          </a:ln>
                          <a:solidFill>
                            <a:srgbClr val="000000"/>
                          </a:solidFill>
                          <a:effectLst/>
                          <a:uLnTx/>
                          <a:uFillTx/>
                          <a:latin typeface="+mn-lt"/>
                          <a:ea typeface="+mn-ea"/>
                          <a:cs typeface="+mn-cs"/>
                        </a:rPr>
                        <a:t>Sunset of Classic experience for the Internal Orgs</a:t>
                      </a: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dirty="0" err="1">
                          <a:ln>
                            <a:noFill/>
                          </a:ln>
                          <a:solidFill>
                            <a:srgbClr val="000000"/>
                          </a:solidFill>
                          <a:effectLst/>
                          <a:uLnTx/>
                          <a:uFillTx/>
                          <a:latin typeface="Arial"/>
                        </a:rPr>
                        <a:t>Sonalee</a:t>
                      </a:r>
                      <a:r>
                        <a:rPr lang="en-SG" sz="1200" b="0" i="0" u="none" strike="noStrike" kern="1200" cap="none" spc="0" normalizeH="0" baseline="0" noProof="0" dirty="0">
                          <a:ln>
                            <a:noFill/>
                          </a:ln>
                          <a:solidFill>
                            <a:srgbClr val="000000"/>
                          </a:solidFill>
                          <a:effectLst/>
                          <a:uLnTx/>
                          <a:uFillTx/>
                          <a:latin typeface="Arial"/>
                        </a:rPr>
                        <a:t> Panda</a:t>
                      </a:r>
                    </a:p>
                  </a:txBody>
                  <a:tcPr marL="68580" marR="68580" marT="34290" marB="34290"/>
                </a:tc>
                <a:extLst>
                  <a:ext uri="{0D108BD9-81ED-4DB2-BD59-A6C34878D82A}">
                    <a16:rowId xmlns:a16="http://schemas.microsoft.com/office/drawing/2014/main" val="322095962"/>
                  </a:ext>
                </a:extLst>
              </a:tr>
              <a:tr h="494336">
                <a:tc>
                  <a:txBody>
                    <a:bodyPr/>
                    <a:lstStyle/>
                    <a:p>
                      <a:pPr marL="0" lvl="0" indent="0" algn="l">
                        <a:lnSpc>
                          <a:spcPct val="100000"/>
                        </a:lnSpc>
                        <a:spcBef>
                          <a:spcPts val="0"/>
                        </a:spcBef>
                        <a:spcAft>
                          <a:spcPts val="0"/>
                        </a:spcAft>
                        <a:buNone/>
                      </a:pPr>
                      <a:r>
                        <a:rPr lang="en-SG" sz="1200" b="0" i="0" u="none" strike="noStrike" noProof="0" dirty="0">
                          <a:solidFill>
                            <a:srgbClr val="000000"/>
                          </a:solidFill>
                          <a:latin typeface="Arial"/>
                        </a:rPr>
                        <a:t>Inventory/Install Base</a:t>
                      </a:r>
                    </a:p>
                  </a:txBody>
                  <a:tcPr marL="68580" marR="68580" marT="34290" marB="34290" anchor="ctr"/>
                </a:tc>
                <a:tc>
                  <a:txBody>
                    <a:bodyPr/>
                    <a:lstStyle/>
                    <a:p>
                      <a:pPr marL="0" marR="0" lvl="0" indent="0" algn="l">
                        <a:lnSpc>
                          <a:spcPct val="100000"/>
                        </a:lnSpc>
                        <a:spcBef>
                          <a:spcPts val="0"/>
                        </a:spcBef>
                        <a:spcAft>
                          <a:spcPts val="0"/>
                        </a:spcAft>
                        <a:buClr>
                          <a:srgbClr val="000000"/>
                        </a:buClr>
                        <a:buNone/>
                      </a:pPr>
                      <a:r>
                        <a:rPr lang="en-US" sz="1200" b="0" i="0" u="none" strike="noStrike" kern="1200" cap="none" spc="0" normalizeH="0" baseline="0" noProof="0" dirty="0">
                          <a:ln>
                            <a:noFill/>
                          </a:ln>
                          <a:solidFill>
                            <a:srgbClr val="000000"/>
                          </a:solidFill>
                          <a:effectLst/>
                          <a:uLnTx/>
                          <a:uFillTx/>
                          <a:latin typeface="Arial"/>
                        </a:rPr>
                        <a:t>Updated Siebel to ECP data attribute mapping for ECX00002.ELEM Fabric Connection, ECX00003.ELEM Fabric Service Provider, ECX00008.ELEM Fabric Remote Connection, ECX00015.ELEM Fabric Virtual Connection assets</a:t>
                      </a: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dirty="0">
                          <a:ln>
                            <a:noFill/>
                          </a:ln>
                          <a:solidFill>
                            <a:srgbClr val="000000"/>
                          </a:solidFill>
                          <a:effectLst/>
                          <a:uLnTx/>
                          <a:uFillTx/>
                          <a:latin typeface="Arial"/>
                        </a:rPr>
                        <a:t>Jia Yuan Goh (JY)</a:t>
                      </a:r>
                    </a:p>
                  </a:txBody>
                  <a:tcPr marL="68580" marR="68580" marT="34290" marB="34290"/>
                </a:tc>
                <a:extLst>
                  <a:ext uri="{0D108BD9-81ED-4DB2-BD59-A6C34878D82A}">
                    <a16:rowId xmlns:a16="http://schemas.microsoft.com/office/drawing/2014/main" val="857741994"/>
                  </a:ext>
                </a:extLst>
              </a:tr>
              <a:tr h="494336">
                <a:tc>
                  <a:txBody>
                    <a:bodyPr/>
                    <a:lstStyle/>
                    <a:p>
                      <a:pPr marL="0" lvl="0" indent="0" algn="l">
                        <a:lnSpc>
                          <a:spcPct val="100000"/>
                        </a:lnSpc>
                        <a:spcBef>
                          <a:spcPts val="0"/>
                        </a:spcBef>
                        <a:spcAft>
                          <a:spcPts val="0"/>
                        </a:spcAft>
                        <a:buNone/>
                      </a:pPr>
                      <a:endParaRPr lang="en-SG" sz="1200" b="0" i="0" u="none" strike="noStrike" noProof="0">
                        <a:solidFill>
                          <a:srgbClr val="000000"/>
                        </a:solidFill>
                        <a:latin typeface="Arial"/>
                      </a:endParaRPr>
                    </a:p>
                  </a:txBody>
                  <a:tcPr marL="68580" marR="68580" marT="34290" marB="34290" anchor="ctr"/>
                </a:tc>
                <a:tc>
                  <a:txBody>
                    <a:bodyPr/>
                    <a:lstStyle/>
                    <a:p>
                      <a:pPr marL="0" lvl="0" indent="0" algn="l">
                        <a:lnSpc>
                          <a:spcPct val="100000"/>
                        </a:lnSpc>
                        <a:spcBef>
                          <a:spcPts val="0"/>
                        </a:spcBef>
                        <a:spcAft>
                          <a:spcPts val="0"/>
                        </a:spcAft>
                        <a:buNone/>
                      </a:pPr>
                      <a:endParaRPr lang="en-US" sz="1200" b="0" i="0" u="none" strike="noStrike" kern="1200" cap="none" spc="0" normalizeH="0" baseline="0" noProof="0">
                        <a:ln>
                          <a:noFill/>
                        </a:ln>
                        <a:solidFill>
                          <a:srgbClr val="000000"/>
                        </a:solidFill>
                        <a:effectLst/>
                        <a:uLnTx/>
                        <a:uFillTx/>
                        <a:latin typeface="+mn-lt"/>
                        <a:ea typeface="+mn-ea"/>
                        <a:cs typeface="+mn-cs"/>
                      </a:endParaRP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endParaRPr lang="en-SG" sz="1200" b="0" i="0" u="none" strike="noStrike" kern="1200" cap="none" spc="0" normalizeH="0" baseline="0" noProof="0">
                        <a:ln>
                          <a:noFill/>
                        </a:ln>
                        <a:solidFill>
                          <a:srgbClr val="000000"/>
                        </a:solidFill>
                        <a:effectLst/>
                        <a:uLnTx/>
                        <a:uFillTx/>
                        <a:latin typeface="Arial"/>
                      </a:endParaRPr>
                    </a:p>
                  </a:txBody>
                  <a:tcPr marL="68580" marR="68580" marT="34290" marB="34290"/>
                </a:tc>
                <a:extLst>
                  <a:ext uri="{0D108BD9-81ED-4DB2-BD59-A6C34878D82A}">
                    <a16:rowId xmlns:a16="http://schemas.microsoft.com/office/drawing/2014/main" val="150307936"/>
                  </a:ext>
                </a:extLst>
              </a:tr>
            </a:tbl>
          </a:graphicData>
        </a:graphic>
      </p:graphicFrame>
      <p:sp>
        <p:nvSpPr>
          <p:cNvPr id="5" name="TextBox 4">
            <a:extLst>
              <a:ext uri="{FF2B5EF4-FFF2-40B4-BE49-F238E27FC236}">
                <a16:creationId xmlns:a16="http://schemas.microsoft.com/office/drawing/2014/main" id="{013C3D82-8D58-4165-B1BE-D80DBF4BF925}"/>
              </a:ext>
            </a:extLst>
          </p:cNvPr>
          <p:cNvSpPr txBox="1"/>
          <p:nvPr/>
        </p:nvSpPr>
        <p:spPr>
          <a:xfrm>
            <a:off x="1525030" y="6546866"/>
            <a:ext cx="8068461" cy="276999"/>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SG" sz="1200" b="1"/>
              <a:t>Note: 1st round language translation at Go Live; 2nd round translation 3 weeks after Go Live.</a:t>
            </a:r>
            <a:endParaRPr lang="en-US" sz="900" b="1">
              <a:solidFill>
                <a:srgbClr val="002060"/>
              </a:solidFill>
              <a:cs typeface="Arial"/>
            </a:endParaRPr>
          </a:p>
        </p:txBody>
      </p:sp>
    </p:spTree>
    <p:extLst>
      <p:ext uri="{BB962C8B-B14F-4D97-AF65-F5344CB8AC3E}">
        <p14:creationId xmlns:p14="http://schemas.microsoft.com/office/powerpoint/2010/main" val="932128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6C7DB-E8C3-4AB2-9426-759E90287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EAEE6-8C36-9ECE-FA65-A572B38B9C90}"/>
              </a:ext>
            </a:extLst>
          </p:cNvPr>
          <p:cNvSpPr>
            <a:spLocks noGrp="1"/>
          </p:cNvSpPr>
          <p:nvPr>
            <p:ph type="title"/>
          </p:nvPr>
        </p:nvSpPr>
        <p:spPr>
          <a:xfrm>
            <a:off x="85867" y="60717"/>
            <a:ext cx="11746916" cy="665956"/>
          </a:xfrm>
        </p:spPr>
        <p:txBody>
          <a:bodyPr vert="horz" lIns="118872" tIns="59436" rIns="118872" bIns="59436" anchor="t"/>
          <a:lstStyle/>
          <a:p>
            <a:r>
              <a:rPr lang="en-GB" sz="3200">
                <a:solidFill>
                  <a:schemeClr val="tx1"/>
                </a:solidFill>
              </a:rPr>
              <a:t>Equinix Customer Portal – ECP/CSC</a:t>
            </a:r>
            <a:endParaRPr lang="en-US" sz="3200">
              <a:solidFill>
                <a:schemeClr val="tx1"/>
              </a:solidFill>
              <a:cs typeface="Arial"/>
            </a:endParaRPr>
          </a:p>
        </p:txBody>
      </p:sp>
      <p:sp>
        <p:nvSpPr>
          <p:cNvPr id="4" name="Text Placeholder 3">
            <a:extLst>
              <a:ext uri="{FF2B5EF4-FFF2-40B4-BE49-F238E27FC236}">
                <a16:creationId xmlns:a16="http://schemas.microsoft.com/office/drawing/2014/main" id="{B2DA587E-CD0E-B1AB-2599-172814292095}"/>
              </a:ext>
            </a:extLst>
          </p:cNvPr>
          <p:cNvSpPr>
            <a:spLocks noGrp="1"/>
          </p:cNvSpPr>
          <p:nvPr>
            <p:ph type="body" sz="quarter" idx="11"/>
          </p:nvPr>
        </p:nvSpPr>
        <p:spPr>
          <a:xfrm>
            <a:off x="85867" y="506804"/>
            <a:ext cx="10945654" cy="439738"/>
          </a:xfrm>
        </p:spPr>
        <p:txBody>
          <a:bodyPr vert="horz" lIns="118872" tIns="59436" rIns="118872" bIns="59436" anchor="t"/>
          <a:lstStyle/>
          <a:p>
            <a:pPr marL="3810" indent="5715"/>
            <a:r>
              <a:rPr lang="en-US" sz="2400">
                <a:solidFill>
                  <a:schemeClr val="tx1"/>
                </a:solidFill>
              </a:rPr>
              <a:t>High-level Scope and What’s New</a:t>
            </a:r>
            <a:r>
              <a:rPr lang="en-US" sz="2400">
                <a:solidFill>
                  <a:schemeClr val="tx1"/>
                </a:solidFill>
                <a:cs typeface="Arial"/>
              </a:rPr>
              <a:t>, Known Limitations </a:t>
            </a:r>
          </a:p>
        </p:txBody>
      </p:sp>
      <p:graphicFrame>
        <p:nvGraphicFramePr>
          <p:cNvPr id="8" name="Table 7">
            <a:extLst>
              <a:ext uri="{FF2B5EF4-FFF2-40B4-BE49-F238E27FC236}">
                <a16:creationId xmlns:a16="http://schemas.microsoft.com/office/drawing/2014/main" id="{1678CC36-7A4A-1273-D6B2-F13DABD14B06}"/>
              </a:ext>
            </a:extLst>
          </p:cNvPr>
          <p:cNvGraphicFramePr>
            <a:graphicFrameLocks noGrp="1"/>
          </p:cNvGraphicFramePr>
          <p:nvPr>
            <p:extLst>
              <p:ext uri="{D42A27DB-BD31-4B8C-83A1-F6EECF244321}">
                <p14:modId xmlns:p14="http://schemas.microsoft.com/office/powerpoint/2010/main" val="2137682139"/>
              </p:ext>
            </p:extLst>
          </p:nvPr>
        </p:nvGraphicFramePr>
        <p:xfrm>
          <a:off x="186069" y="912627"/>
          <a:ext cx="11753778" cy="5484102"/>
        </p:xfrm>
        <a:graphic>
          <a:graphicData uri="http://schemas.openxmlformats.org/drawingml/2006/table">
            <a:tbl>
              <a:tblPr firstRow="1" bandRow="1">
                <a:tableStyleId>{5C22544A-7EE6-4342-B048-85BDC9FD1C3A}</a:tableStyleId>
              </a:tblPr>
              <a:tblGrid>
                <a:gridCol w="1423239">
                  <a:extLst>
                    <a:ext uri="{9D8B030D-6E8A-4147-A177-3AD203B41FA5}">
                      <a16:colId xmlns:a16="http://schemas.microsoft.com/office/drawing/2014/main" val="3784776446"/>
                    </a:ext>
                  </a:extLst>
                </a:gridCol>
                <a:gridCol w="5759613">
                  <a:extLst>
                    <a:ext uri="{9D8B030D-6E8A-4147-A177-3AD203B41FA5}">
                      <a16:colId xmlns:a16="http://schemas.microsoft.com/office/drawing/2014/main" val="938240949"/>
                    </a:ext>
                  </a:extLst>
                </a:gridCol>
                <a:gridCol w="2596194">
                  <a:extLst>
                    <a:ext uri="{9D8B030D-6E8A-4147-A177-3AD203B41FA5}">
                      <a16:colId xmlns:a16="http://schemas.microsoft.com/office/drawing/2014/main" val="379739185"/>
                    </a:ext>
                  </a:extLst>
                </a:gridCol>
                <a:gridCol w="1974732">
                  <a:extLst>
                    <a:ext uri="{9D8B030D-6E8A-4147-A177-3AD203B41FA5}">
                      <a16:colId xmlns:a16="http://schemas.microsoft.com/office/drawing/2014/main" val="925609786"/>
                    </a:ext>
                  </a:extLst>
                </a:gridCol>
              </a:tblGrid>
              <a:tr h="215917">
                <a:tc>
                  <a:txBody>
                    <a:bodyPr/>
                    <a:lstStyle/>
                    <a:p>
                      <a:pPr>
                        <a:buNone/>
                      </a:pPr>
                      <a:r>
                        <a:rPr lang="en-US" sz="1400"/>
                        <a:t>ECP Global Feature </a:t>
                      </a:r>
                    </a:p>
                  </a:txBody>
                  <a:tcPr/>
                </a:tc>
                <a:tc>
                  <a:txBody>
                    <a:bodyPr/>
                    <a:lstStyle/>
                    <a:p>
                      <a:pPr lvl="0">
                        <a:buNone/>
                      </a:pPr>
                      <a:r>
                        <a:rPr lang="en-US" sz="1400"/>
                        <a:t>New Capabilities</a:t>
                      </a:r>
                    </a:p>
                  </a:txBody>
                  <a:tcPr/>
                </a:tc>
                <a:tc>
                  <a:txBody>
                    <a:bodyPr/>
                    <a:lstStyle/>
                    <a:p>
                      <a:pPr lvl="0" algn="l">
                        <a:buNone/>
                      </a:pPr>
                      <a:r>
                        <a:rPr lang="en-US" sz="1400"/>
                        <a:t>Known Limitations</a:t>
                      </a:r>
                    </a:p>
                  </a:txBody>
                  <a:tcPr/>
                </a:tc>
                <a:tc>
                  <a:txBody>
                    <a:bodyPr/>
                    <a:lstStyle/>
                    <a:p>
                      <a:pPr lvl="0" algn="l">
                        <a:buNone/>
                      </a:pPr>
                      <a:r>
                        <a:rPr lang="en-US" sz="1400"/>
                        <a:t>PM POC</a:t>
                      </a:r>
                    </a:p>
                  </a:txBody>
                  <a:tcPr/>
                </a:tc>
                <a:extLst>
                  <a:ext uri="{0D108BD9-81ED-4DB2-BD59-A6C34878D82A}">
                    <a16:rowId xmlns:a16="http://schemas.microsoft.com/office/drawing/2014/main" val="817729115"/>
                  </a:ext>
                </a:extLst>
              </a:tr>
              <a:tr h="551159">
                <a:tc>
                  <a:txBody>
                    <a:bodyPr/>
                    <a:lstStyle/>
                    <a:p>
                      <a:pPr marL="0" marR="0" lvl="0" indent="0" algn="l" rtl="0" eaLnBrk="1" fontAlgn="auto" latinLnBrk="0" hangingPunct="1">
                        <a:lnSpc>
                          <a:spcPct val="100000"/>
                        </a:lnSpc>
                        <a:spcBef>
                          <a:spcPts val="0"/>
                        </a:spcBef>
                        <a:spcAft>
                          <a:spcPts val="0"/>
                        </a:spcAft>
                        <a:buClrTx/>
                        <a:buSzTx/>
                        <a:buFontTx/>
                        <a:buNone/>
                      </a:pPr>
                      <a:r>
                        <a:rPr lang="en-SG" sz="1200" b="0"/>
                        <a:t>Operator</a:t>
                      </a:r>
                    </a:p>
                  </a:txBody>
                  <a:tcPr marL="68580" marR="68580" marT="34290" marB="34290" anchor="ctr"/>
                </a:tc>
                <a:tc>
                  <a:txBody>
                    <a:bodyPr/>
                    <a:lstStyle/>
                    <a:p>
                      <a:pPr marL="0" marR="0" lvl="0" indent="0" algn="l">
                        <a:lnSpc>
                          <a:spcPct val="100000"/>
                        </a:lnSpc>
                        <a:spcBef>
                          <a:spcPts val="0"/>
                        </a:spcBef>
                        <a:spcAft>
                          <a:spcPts val="0"/>
                        </a:spcAft>
                        <a:buFont typeface="Arial" panose="020B0604020202020204" pitchFamily="34" charset="0"/>
                        <a:buNone/>
                      </a:pPr>
                      <a:r>
                        <a:rPr lang="en-US" sz="1200" b="0" i="0" u="none" strike="noStrike" kern="1200" cap="none" spc="0" normalizeH="0" baseline="0" noProof="0">
                          <a:ln>
                            <a:noFill/>
                          </a:ln>
                          <a:solidFill>
                            <a:srgbClr val="000000"/>
                          </a:solidFill>
                          <a:effectLst/>
                          <a:uLnTx/>
                          <a:uFillTx/>
                          <a:latin typeface="+mn-lt"/>
                          <a:ea typeface="+mn-ea"/>
                          <a:cs typeface="+mn-cs"/>
                        </a:rPr>
                        <a:t>Allow alphanumeric search in Operator’s Order Number Search</a:t>
                      </a:r>
                      <a:br>
                        <a:rPr lang="en-US" sz="1200" b="0" i="0" u="none" strike="noStrike" kern="1200" cap="none" spc="0" normalizeH="0" baseline="0" noProof="0">
                          <a:ln>
                            <a:noFill/>
                          </a:ln>
                          <a:solidFill>
                            <a:srgbClr val="000000"/>
                          </a:solidFill>
                          <a:effectLst/>
                          <a:uLnTx/>
                          <a:uFillTx/>
                          <a:latin typeface="+mn-lt"/>
                          <a:ea typeface="+mn-ea"/>
                          <a:cs typeface="+mn-cs"/>
                        </a:rPr>
                      </a:br>
                      <a:r>
                        <a:rPr lang="en-US" sz="1200" b="0" i="0" u="none" strike="noStrike" kern="1200" cap="none" spc="0" normalizeH="0" baseline="0" noProof="0">
                          <a:ln>
                            <a:noFill/>
                          </a:ln>
                          <a:solidFill>
                            <a:srgbClr val="000000"/>
                          </a:solidFill>
                          <a:effectLst/>
                          <a:uLnTx/>
                          <a:uFillTx/>
                          <a:latin typeface="+mn-lt"/>
                          <a:ea typeface="+mn-ea"/>
                          <a:cs typeface="+mn-cs"/>
                        </a:rPr>
                        <a:t>(Post April Release)</a:t>
                      </a:r>
                    </a:p>
                  </a:txBody>
                  <a:tcPr marL="68580" marR="68580" marT="34290" marB="34290"/>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200"/>
                        <a:t>Alphabets cannot be entered into search box</a:t>
                      </a:r>
                    </a:p>
                  </a:txBody>
                  <a:tcPr marL="68580" marR="68580" marT="34290" marB="34290"/>
                </a:tc>
                <a:tc>
                  <a:txBody>
                    <a:bodyPr/>
                    <a:lstStyle/>
                    <a:p>
                      <a:pPr marL="0" lvl="0" indent="0" algn="l">
                        <a:lnSpc>
                          <a:spcPct val="100000"/>
                        </a:lnSpc>
                        <a:spcBef>
                          <a:spcPts val="0"/>
                        </a:spcBef>
                        <a:spcAft>
                          <a:spcPts val="0"/>
                        </a:spcAft>
                        <a:buNone/>
                      </a:pPr>
                      <a:r>
                        <a:rPr lang="en-SG" sz="1200"/>
                        <a:t>Adrian Goh</a:t>
                      </a:r>
                    </a:p>
                  </a:txBody>
                  <a:tcPr marL="68580" marR="68580" marT="34290" marB="34290"/>
                </a:tc>
                <a:extLst>
                  <a:ext uri="{0D108BD9-81ED-4DB2-BD59-A6C34878D82A}">
                    <a16:rowId xmlns:a16="http://schemas.microsoft.com/office/drawing/2014/main" val="1723247671"/>
                  </a:ext>
                </a:extLst>
              </a:tr>
              <a:tr h="494338">
                <a:tc>
                  <a:txBody>
                    <a:bodyPr/>
                    <a:lstStyle/>
                    <a:p>
                      <a:pPr marL="0" marR="0" lvl="0" indent="0" algn="l" defTabSz="457200" rtl="0" eaLnBrk="1" fontAlgn="auto" latinLnBrk="0" hangingPunct="1">
                        <a:lnSpc>
                          <a:spcPct val="100000"/>
                        </a:lnSpc>
                        <a:spcBef>
                          <a:spcPts val="0"/>
                        </a:spcBef>
                        <a:spcAft>
                          <a:spcPts val="0"/>
                        </a:spcAft>
                        <a:buClrTx/>
                        <a:buSzTx/>
                        <a:buFontTx/>
                        <a:buNone/>
                      </a:pPr>
                      <a:r>
                        <a:rPr lang="en-US" sz="1200" b="0" kern="1200">
                          <a:solidFill>
                            <a:schemeClr val="dk1"/>
                          </a:solidFill>
                          <a:latin typeface="+mn-lt"/>
                          <a:ea typeface="+mn-ea"/>
                          <a:cs typeface="+mn-cs"/>
                        </a:rPr>
                        <a:t>Order History</a:t>
                      </a:r>
                    </a:p>
                  </a:txBody>
                  <a:tcPr marL="68580" marR="68580" marT="34290" marB="34290"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u="none" strike="noStrike" kern="1200" cap="none" spc="0" normalizeH="0" baseline="0" noProof="0">
                          <a:ln>
                            <a:noFill/>
                          </a:ln>
                          <a:solidFill>
                            <a:srgbClr val="000000"/>
                          </a:solidFill>
                          <a:effectLst/>
                          <a:uLnTx/>
                          <a:uFillTx/>
                          <a:latin typeface="+mn-lt"/>
                          <a:ea typeface="+mn-ea"/>
                          <a:cs typeface="+mn-cs"/>
                        </a:rPr>
                        <a:t>Update default </a:t>
                      </a:r>
                      <a:r>
                        <a:rPr lang="en-US" sz="1200" b="0" i="0" u="none" strike="noStrike" kern="1200" cap="none" spc="0" normalizeH="0" baseline="0" noProof="0" err="1">
                          <a:ln>
                            <a:noFill/>
                          </a:ln>
                          <a:solidFill>
                            <a:srgbClr val="000000"/>
                          </a:solidFill>
                          <a:effectLst/>
                          <a:uLnTx/>
                          <a:uFillTx/>
                          <a:latin typeface="+mn-lt"/>
                          <a:ea typeface="+mn-ea"/>
                          <a:cs typeface="+mn-cs"/>
                        </a:rPr>
                        <a:t>behaviour</a:t>
                      </a:r>
                      <a:r>
                        <a:rPr lang="en-US" sz="1200" b="0" i="0" u="none" strike="noStrike" kern="1200" cap="none" spc="0" normalizeH="0" baseline="0" noProof="0">
                          <a:ln>
                            <a:noFill/>
                          </a:ln>
                          <a:solidFill>
                            <a:srgbClr val="000000"/>
                          </a:solidFill>
                          <a:effectLst/>
                          <a:uLnTx/>
                          <a:uFillTx/>
                          <a:latin typeface="+mn-lt"/>
                          <a:ea typeface="+mn-ea"/>
                          <a:cs typeface="+mn-cs"/>
                        </a:rPr>
                        <a:t> when landing on Orders &amp; Tickets History page</a:t>
                      </a:r>
                      <a:br>
                        <a:rPr lang="en-US" sz="1200" b="0" i="0" u="none" strike="noStrike" kern="1200" cap="none" spc="0" normalizeH="0" baseline="0" noProof="0">
                          <a:ln>
                            <a:noFill/>
                          </a:ln>
                          <a:solidFill>
                            <a:srgbClr val="000000"/>
                          </a:solidFill>
                          <a:effectLst/>
                          <a:uLnTx/>
                          <a:uFillTx/>
                          <a:latin typeface="+mn-lt"/>
                          <a:ea typeface="+mn-ea"/>
                          <a:cs typeface="+mn-cs"/>
                        </a:rPr>
                      </a:br>
                      <a:r>
                        <a:rPr lang="en-US" sz="1200" b="0" i="0" u="none" strike="noStrike" kern="1200" cap="none" spc="0" normalizeH="0" baseline="0" noProof="0">
                          <a:ln>
                            <a:noFill/>
                          </a:ln>
                          <a:solidFill>
                            <a:srgbClr val="000000"/>
                          </a:solidFill>
                          <a:effectLst/>
                          <a:uLnTx/>
                          <a:uFillTx/>
                          <a:latin typeface="+mn-lt"/>
                          <a:ea typeface="+mn-ea"/>
                          <a:cs typeface="+mn-cs"/>
                        </a:rPr>
                        <a:t>(Post April Release)</a:t>
                      </a:r>
                    </a:p>
                  </a:txBody>
                  <a:tcPr marL="68580" marR="68580" marT="34290" marB="34290"/>
                </a:tc>
                <a:tc>
                  <a:txBody>
                    <a:bodyPr/>
                    <a:lstStyle/>
                    <a:p>
                      <a:pPr marL="0" marR="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defTabSz="457200" rtl="0" eaLnBrk="1" latinLnBrk="0" hangingPunct="1">
                        <a:lnSpc>
                          <a:spcPct val="100000"/>
                        </a:lnSpc>
                        <a:spcBef>
                          <a:spcPts val="0"/>
                        </a:spcBef>
                        <a:spcAft>
                          <a:spcPts val="0"/>
                        </a:spcAft>
                        <a:buNone/>
                      </a:pPr>
                      <a:r>
                        <a:rPr lang="en-SG" sz="1200" kern="1200">
                          <a:solidFill>
                            <a:schemeClr val="dk1"/>
                          </a:solidFill>
                          <a:latin typeface="+mn-lt"/>
                          <a:ea typeface="+mn-ea"/>
                          <a:cs typeface="+mn-cs"/>
                        </a:rPr>
                        <a:t>Adrian Goh</a:t>
                      </a:r>
                    </a:p>
                  </a:txBody>
                  <a:tcPr marL="68580" marR="68580" marT="34290" marB="34290"/>
                </a:tc>
                <a:extLst>
                  <a:ext uri="{0D108BD9-81ED-4DB2-BD59-A6C34878D82A}">
                    <a16:rowId xmlns:a16="http://schemas.microsoft.com/office/drawing/2014/main" val="2197285887"/>
                  </a:ext>
                </a:extLst>
              </a:tr>
              <a:tr h="494337">
                <a:tc>
                  <a:txBody>
                    <a:bodyPr/>
                    <a:lstStyle/>
                    <a:p>
                      <a:pPr marL="0" lvl="0" indent="0" algn="l">
                        <a:lnSpc>
                          <a:spcPct val="100000"/>
                        </a:lnSpc>
                        <a:spcBef>
                          <a:spcPts val="0"/>
                        </a:spcBef>
                        <a:spcAft>
                          <a:spcPts val="0"/>
                        </a:spcAft>
                        <a:buNone/>
                      </a:pPr>
                      <a:r>
                        <a:rPr lang="en-US" sz="1200" b="0" kern="1200">
                          <a:solidFill>
                            <a:schemeClr val="dk1"/>
                          </a:solidFill>
                          <a:latin typeface="+mn-lt"/>
                          <a:ea typeface="+mn-ea"/>
                          <a:cs typeface="+mn-cs"/>
                        </a:rPr>
                        <a:t>Equinix Intelligence</a:t>
                      </a:r>
                    </a:p>
                  </a:txBody>
                  <a:tcPr marL="68580" marR="68580" marT="34290" marB="34290" anchor="ctr"/>
                </a:tc>
                <a:tc>
                  <a:txBody>
                    <a:bodyPr/>
                    <a:lstStyle/>
                    <a:p>
                      <a:pPr marL="0" lvl="0" indent="0" algn="l">
                        <a:lnSpc>
                          <a:spcPct val="100000"/>
                        </a:lnSpc>
                        <a:spcBef>
                          <a:spcPts val="0"/>
                        </a:spcBef>
                        <a:spcAft>
                          <a:spcPts val="0"/>
                        </a:spcAft>
                        <a:buNone/>
                      </a:pPr>
                      <a:r>
                        <a:rPr lang="en-US" sz="1200" b="0" i="0" u="none" strike="noStrike" kern="1200" cap="none" spc="0" normalizeH="0" baseline="0" noProof="0">
                          <a:ln>
                            <a:noFill/>
                          </a:ln>
                          <a:solidFill>
                            <a:srgbClr val="000000"/>
                          </a:solidFill>
                          <a:effectLst/>
                          <a:uLnTx/>
                          <a:uFillTx/>
                          <a:latin typeface="+mn-lt"/>
                          <a:ea typeface="+mn-ea"/>
                          <a:cs typeface="+mn-cs"/>
                        </a:rPr>
                        <a:t>Pilot Launch for 20 customer </a:t>
                      </a:r>
                      <a:r>
                        <a:rPr lang="en-US" sz="1200" b="0" i="0" u="none" strike="noStrike" kern="1200" cap="none" spc="0" normalizeH="0" baseline="0" noProof="0" err="1">
                          <a:ln>
                            <a:noFill/>
                          </a:ln>
                          <a:solidFill>
                            <a:srgbClr val="000000"/>
                          </a:solidFill>
                          <a:effectLst/>
                          <a:uLnTx/>
                          <a:uFillTx/>
                          <a:latin typeface="+mn-lt"/>
                          <a:ea typeface="+mn-ea"/>
                          <a:cs typeface="+mn-cs"/>
                        </a:rPr>
                        <a:t>organisations</a:t>
                      </a:r>
                      <a:endParaRPr lang="en-US" sz="1200" b="0" i="0" u="none" strike="noStrike" kern="1200" cap="none" spc="0" normalizeH="0" baseline="0" noProof="0">
                        <a:ln>
                          <a:noFill/>
                        </a:ln>
                        <a:solidFill>
                          <a:srgbClr val="000000"/>
                        </a:solidFill>
                        <a:effectLst/>
                        <a:uLnTx/>
                        <a:uFillTx/>
                        <a:latin typeface="+mn-lt"/>
                        <a:ea typeface="+mn-ea"/>
                        <a:cs typeface="+mn-cs"/>
                      </a:endParaRPr>
                    </a:p>
                  </a:txBody>
                  <a:tcPr marL="68580" marR="68580" marT="34290" marB="34290"/>
                </a:tc>
                <a:tc>
                  <a:txBody>
                    <a:bodyPr/>
                    <a:lstStyle/>
                    <a:p>
                      <a:pPr marL="0" lvl="0" indent="0" algn="l" defTabSz="457200" rtl="0" eaLnBrk="1" latinLnBrk="0" hangingPunct="1">
                        <a:lnSpc>
                          <a:spcPct val="100000"/>
                        </a:lnSpc>
                        <a:spcBef>
                          <a:spcPts val="0"/>
                        </a:spcBef>
                        <a:spcAft>
                          <a:spcPts val="0"/>
                        </a:spcAft>
                        <a:buNone/>
                      </a:pPr>
                      <a:endParaRPr lang="en-US" sz="1200" kern="1200" noProof="0">
                        <a:solidFill>
                          <a:schemeClr val="dk1"/>
                        </a:solidFill>
                        <a:latin typeface="+mn-lt"/>
                        <a:ea typeface="+mn-ea"/>
                        <a:cs typeface="+mn-cs"/>
                      </a:endParaRPr>
                    </a:p>
                  </a:txBody>
                  <a:tcPr marL="68580" marR="68580" marT="34290" marB="3429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200" kern="1200">
                          <a:solidFill>
                            <a:schemeClr val="dk1"/>
                          </a:solidFill>
                          <a:latin typeface="+mn-lt"/>
                          <a:ea typeface="+mn-ea"/>
                          <a:cs typeface="+mn-cs"/>
                        </a:rPr>
                        <a:t>Adrian Goh</a:t>
                      </a:r>
                    </a:p>
                  </a:txBody>
                  <a:tcPr marL="68580" marR="68580" marT="34290" marB="34290"/>
                </a:tc>
                <a:extLst>
                  <a:ext uri="{0D108BD9-81ED-4DB2-BD59-A6C34878D82A}">
                    <a16:rowId xmlns:a16="http://schemas.microsoft.com/office/drawing/2014/main" val="2578573868"/>
                  </a:ext>
                </a:extLst>
              </a:tr>
              <a:tr h="474732">
                <a:tc>
                  <a:txBody>
                    <a:bodyPr/>
                    <a:lstStyle/>
                    <a:p>
                      <a:pPr marL="0" marR="0" lvl="0" indent="0" algn="l">
                        <a:lnSpc>
                          <a:spcPct val="100000"/>
                        </a:lnSpc>
                        <a:spcBef>
                          <a:spcPts val="0"/>
                        </a:spcBef>
                        <a:spcAft>
                          <a:spcPts val="0"/>
                        </a:spcAft>
                        <a:buNone/>
                      </a:pPr>
                      <a:r>
                        <a:rPr lang="en-SG" sz="1200" b="0" i="0" u="none" strike="noStrike" noProof="0">
                          <a:solidFill>
                            <a:schemeClr val="dk1"/>
                          </a:solidFill>
                          <a:latin typeface="Arial"/>
                        </a:rPr>
                        <a:t>Hiding IBX pricing</a:t>
                      </a:r>
                      <a:endParaRPr lang="en-US" sz="1200" b="0" i="0" u="none" strike="noStrike" noProof="0">
                        <a:solidFill>
                          <a:srgbClr val="000000"/>
                        </a:solidFill>
                        <a:latin typeface="Arial"/>
                      </a:endParaRPr>
                    </a:p>
                  </a:txBody>
                  <a:tcPr marL="68580" marR="68580" marT="34290" marB="34290" anchor="ctr"/>
                </a:tc>
                <a:tc>
                  <a:txBody>
                    <a:bodyPr/>
                    <a:lstStyle/>
                    <a:p>
                      <a:pPr marL="0" lvl="0" indent="0">
                        <a:buNone/>
                      </a:pPr>
                      <a:r>
                        <a:rPr lang="en-US" sz="1200" b="0" i="0" u="none" strike="noStrike" kern="1200" cap="none" spc="0" normalizeH="0" baseline="0" noProof="0">
                          <a:ln>
                            <a:noFill/>
                          </a:ln>
                          <a:solidFill>
                            <a:schemeClr val="dk1"/>
                          </a:solidFill>
                          <a:effectLst/>
                          <a:uLnTx/>
                          <a:uFillTx/>
                          <a:latin typeface="Arial"/>
                        </a:rPr>
                        <a:t>Following feedback from the APAC team on the MRC price decreases released on April 1</a:t>
                      </a:r>
                      <a:r>
                        <a:rPr lang="en-US" sz="800" b="0" i="0" u="none" strike="noStrike" kern="1200" cap="none" spc="0" normalizeH="0" baseline="30000" noProof="0">
                          <a:ln>
                            <a:noFill/>
                          </a:ln>
                          <a:solidFill>
                            <a:schemeClr val="dk1"/>
                          </a:solidFill>
                          <a:effectLst/>
                          <a:uLnTx/>
                          <a:uFillTx/>
                          <a:latin typeface="Arial"/>
                        </a:rPr>
                        <a:t>st</a:t>
                      </a:r>
                      <a:r>
                        <a:rPr lang="en-US" sz="1200" b="0" i="0" u="none" strike="noStrike" kern="1200" cap="none" spc="0" normalizeH="0" baseline="0" noProof="0">
                          <a:ln>
                            <a:noFill/>
                          </a:ln>
                          <a:solidFill>
                            <a:schemeClr val="dk1"/>
                          </a:solidFill>
                          <a:effectLst/>
                          <a:uLnTx/>
                          <a:uFillTx/>
                          <a:latin typeface="Arial"/>
                        </a:rPr>
                        <a:t>, users will no longer be able to see MRC/kVA pricing for all IBXs on the IBX selection step</a:t>
                      </a:r>
                      <a:endParaRPr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a:ln>
                            <a:noFill/>
                          </a:ln>
                          <a:solidFill>
                            <a:srgbClr val="000000"/>
                          </a:solidFill>
                          <a:effectLst/>
                          <a:uLnTx/>
                          <a:uFillTx/>
                          <a:latin typeface="Arial"/>
                        </a:rPr>
                        <a:t>Andrew Smith</a:t>
                      </a:r>
                    </a:p>
                  </a:txBody>
                  <a:tcPr marL="68580" marR="68580" marT="34290" marB="34290"/>
                </a:tc>
                <a:extLst>
                  <a:ext uri="{0D108BD9-81ED-4DB2-BD59-A6C34878D82A}">
                    <a16:rowId xmlns:a16="http://schemas.microsoft.com/office/drawing/2014/main" val="1874775784"/>
                  </a:ext>
                </a:extLst>
              </a:tr>
              <a:tr h="494336">
                <a:tc>
                  <a:txBody>
                    <a:bodyPr/>
                    <a:lstStyle/>
                    <a:p>
                      <a:pPr marL="0" lvl="0" indent="0" algn="l">
                        <a:lnSpc>
                          <a:spcPct val="100000"/>
                        </a:lnSpc>
                        <a:spcBef>
                          <a:spcPts val="0"/>
                        </a:spcBef>
                        <a:spcAft>
                          <a:spcPts val="0"/>
                        </a:spcAft>
                        <a:buNone/>
                      </a:pPr>
                      <a:r>
                        <a:rPr lang="en-US" sz="1200" b="0" i="0" u="none" strike="noStrike" kern="1200" noProof="0">
                          <a:solidFill>
                            <a:schemeClr val="dk1"/>
                          </a:solidFill>
                          <a:latin typeface="Arial"/>
                          <a:ea typeface="+mn-ea"/>
                          <a:cs typeface="+mn-cs"/>
                        </a:rPr>
                        <a:t>Only increasing MRC on MACDS</a:t>
                      </a:r>
                      <a:r>
                        <a:rPr lang="en-US" sz="1800" b="0" i="0" u="none" strike="noStrike" noProof="0">
                          <a:latin typeface="Arial"/>
                        </a:rPr>
                        <a:t> </a:t>
                      </a:r>
                      <a:endParaRPr lang="en-US"/>
                    </a:p>
                  </a:txBody>
                  <a:tcPr marL="68580" marR="68580" marT="34290" marB="34290" anchor="ctr"/>
                </a:tc>
                <a:tc>
                  <a:txBody>
                    <a:bodyPr/>
                    <a:lstStyle/>
                    <a:p>
                      <a:pPr marL="0" lvl="0" indent="0">
                        <a:buNone/>
                      </a:pPr>
                      <a:r>
                        <a:rPr lang="en-US" sz="1200" b="0" i="0" u="none" strike="noStrike" kern="1200" cap="none" spc="0" normalizeH="0" baseline="0" noProof="0">
                          <a:ln>
                            <a:noFill/>
                          </a:ln>
                          <a:solidFill>
                            <a:schemeClr val="dk1"/>
                          </a:solidFill>
                          <a:effectLst/>
                          <a:uLnTx/>
                          <a:uFillTx/>
                          <a:latin typeface="Arial"/>
                        </a:rPr>
                        <a:t>Following feedback from the APAC team on the MRC price decreases released on April 1</a:t>
                      </a:r>
                      <a:r>
                        <a:rPr lang="en-US" sz="800" b="0" i="0" u="none" strike="noStrike" kern="1200" cap="none" spc="0" normalizeH="0" baseline="30000" noProof="0">
                          <a:ln>
                            <a:noFill/>
                          </a:ln>
                          <a:solidFill>
                            <a:schemeClr val="dk1"/>
                          </a:solidFill>
                          <a:effectLst/>
                          <a:uLnTx/>
                          <a:uFillTx/>
                          <a:latin typeface="Arial"/>
                        </a:rPr>
                        <a:t>st</a:t>
                      </a:r>
                      <a:r>
                        <a:rPr lang="en-US" sz="1200" b="0" i="0" u="none" strike="noStrike" kern="1200" cap="none" spc="0" normalizeH="0" baseline="0" noProof="0">
                          <a:ln>
                            <a:noFill/>
                          </a:ln>
                          <a:solidFill>
                            <a:schemeClr val="dk1"/>
                          </a:solidFill>
                          <a:effectLst/>
                          <a:uLnTx/>
                          <a:uFillTx/>
                          <a:latin typeface="Arial"/>
                        </a:rPr>
                        <a:t>, when performing a MACD users will no longer be able select draw capacities that reduce the MRC of their deployment</a:t>
                      </a:r>
                      <a:endParaRPr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kern="1200" cap="none" spc="0" normalizeH="0" baseline="0" noProof="0">
                          <a:ln>
                            <a:noFill/>
                          </a:ln>
                          <a:solidFill>
                            <a:srgbClr val="000000"/>
                          </a:solidFill>
                          <a:effectLst/>
                          <a:uLnTx/>
                          <a:uFillTx/>
                          <a:latin typeface="Arial"/>
                        </a:rPr>
                        <a:t>Andrew Smith</a:t>
                      </a:r>
                      <a:endParaRPr lang="en-US"/>
                    </a:p>
                  </a:txBody>
                  <a:tcPr marL="68580" marR="68580" marT="34290" marB="34290"/>
                </a:tc>
                <a:extLst>
                  <a:ext uri="{0D108BD9-81ED-4DB2-BD59-A6C34878D82A}">
                    <a16:rowId xmlns:a16="http://schemas.microsoft.com/office/drawing/2014/main" val="2789887982"/>
                  </a:ext>
                </a:extLst>
              </a:tr>
              <a:tr h="494336">
                <a:tc>
                  <a:txBody>
                    <a:bodyPr/>
                    <a:lstStyle/>
                    <a:p>
                      <a:pPr marL="0" lvl="0" indent="0" algn="l">
                        <a:lnSpc>
                          <a:spcPct val="100000"/>
                        </a:lnSpc>
                        <a:spcBef>
                          <a:spcPts val="0"/>
                        </a:spcBef>
                        <a:spcAft>
                          <a:spcPts val="0"/>
                        </a:spcAft>
                        <a:buNone/>
                      </a:pPr>
                      <a:r>
                        <a:rPr lang="en-US" sz="1200" b="0" i="0" u="none" strike="noStrike" kern="1200" noProof="0">
                          <a:solidFill>
                            <a:schemeClr val="dk1"/>
                          </a:solidFill>
                          <a:latin typeface="Arial"/>
                          <a:ea typeface="+mn-ea"/>
                          <a:cs typeface="+mn-cs"/>
                        </a:rPr>
                        <a:t>Allow 1kVA draw capacity increments</a:t>
                      </a:r>
                      <a:r>
                        <a:rPr lang="en-US" sz="1800" b="0" i="0" u="none" strike="noStrike" noProof="0">
                          <a:latin typeface="Arial"/>
                        </a:rPr>
                        <a:t> </a:t>
                      </a:r>
                      <a:endParaRPr lang="en-US"/>
                    </a:p>
                  </a:txBody>
                  <a:tcPr marL="68580" marR="68580" marT="34290" marB="34290" anchor="ctr"/>
                </a:tc>
                <a:tc>
                  <a:txBody>
                    <a:bodyPr/>
                    <a:lstStyle/>
                    <a:p>
                      <a:pPr marL="0" lvl="0" indent="0" algn="l">
                        <a:lnSpc>
                          <a:spcPct val="100000"/>
                        </a:lnSpc>
                        <a:spcBef>
                          <a:spcPts val="0"/>
                        </a:spcBef>
                        <a:spcAft>
                          <a:spcPts val="0"/>
                        </a:spcAft>
                        <a:buNone/>
                      </a:pPr>
                      <a:r>
                        <a:rPr lang="en-US" sz="1200" b="0" i="0" u="none" strike="noStrike" kern="1200" cap="none" spc="0" normalizeH="0" baseline="0" noProof="0">
                          <a:ln>
                            <a:noFill/>
                          </a:ln>
                          <a:solidFill>
                            <a:srgbClr val="000000"/>
                          </a:solidFill>
                          <a:effectLst/>
                          <a:uLnTx/>
                          <a:uFillTx/>
                        </a:rPr>
                        <a:t>Following feedback from the APAC team on the MRC price decreases released on April 1st, when performing a MACD users will only be able to select draw capacities in increments of 1kVA </a:t>
                      </a:r>
                      <a:endParaRPr lang="en-US"/>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r>
                        <a:rPr lang="en-SG" sz="1200" b="0" i="0" u="none" strike="noStrike" noProof="0">
                          <a:solidFill>
                            <a:srgbClr val="000000"/>
                          </a:solidFill>
                          <a:latin typeface="Arial"/>
                        </a:rPr>
                        <a:t>Andrew Smith</a:t>
                      </a:r>
                      <a:endParaRPr lang="en-US"/>
                    </a:p>
                  </a:txBody>
                  <a:tcPr marL="68580" marR="68580" marT="34290" marB="34290"/>
                </a:tc>
                <a:extLst>
                  <a:ext uri="{0D108BD9-81ED-4DB2-BD59-A6C34878D82A}">
                    <a16:rowId xmlns:a16="http://schemas.microsoft.com/office/drawing/2014/main" val="3850752516"/>
                  </a:ext>
                </a:extLst>
              </a:tr>
              <a:tr h="494336">
                <a:tc>
                  <a:txBody>
                    <a:bodyPr/>
                    <a:lstStyle/>
                    <a:p>
                      <a:pPr marL="0" lvl="0" indent="0" algn="l">
                        <a:lnSpc>
                          <a:spcPct val="100000"/>
                        </a:lnSpc>
                        <a:spcBef>
                          <a:spcPts val="0"/>
                        </a:spcBef>
                        <a:spcAft>
                          <a:spcPts val="0"/>
                        </a:spcAft>
                        <a:buNone/>
                      </a:pPr>
                      <a:endParaRPr lang="en-SG" sz="1200" b="0" i="0" u="none" strike="noStrike" noProof="0">
                        <a:solidFill>
                          <a:srgbClr val="000000"/>
                        </a:solidFill>
                        <a:latin typeface="Arial"/>
                      </a:endParaRPr>
                    </a:p>
                  </a:txBody>
                  <a:tcPr marL="68580" marR="68580" marT="34290" marB="34290" anchor="ctr"/>
                </a:tc>
                <a:tc>
                  <a:txBody>
                    <a:bodyPr/>
                    <a:lstStyle/>
                    <a:p>
                      <a:pPr marL="0" lvl="0" indent="0" algn="l">
                        <a:lnSpc>
                          <a:spcPct val="100000"/>
                        </a:lnSpc>
                        <a:spcBef>
                          <a:spcPts val="0"/>
                        </a:spcBef>
                        <a:spcAft>
                          <a:spcPts val="0"/>
                        </a:spcAft>
                        <a:buNone/>
                      </a:pPr>
                      <a:endParaRPr lang="en-US" sz="1200" b="0" i="0" u="none" strike="noStrike" kern="1200" cap="none" spc="0" normalizeH="0" baseline="0" noProof="0">
                        <a:ln>
                          <a:noFill/>
                        </a:ln>
                        <a:solidFill>
                          <a:srgbClr val="000000"/>
                        </a:solidFill>
                        <a:effectLst/>
                        <a:uLnTx/>
                        <a:uFillTx/>
                        <a:latin typeface="+mn-lt"/>
                        <a:ea typeface="+mn-ea"/>
                        <a:cs typeface="+mn-cs"/>
                      </a:endParaRP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endParaRPr lang="en-SG" sz="1200" b="0" i="0" u="none" strike="noStrike" kern="1200" cap="none" spc="0" normalizeH="0" baseline="0" noProof="0">
                        <a:ln>
                          <a:noFill/>
                        </a:ln>
                        <a:solidFill>
                          <a:srgbClr val="000000"/>
                        </a:solidFill>
                        <a:effectLst/>
                        <a:uLnTx/>
                        <a:uFillTx/>
                        <a:latin typeface="Arial"/>
                      </a:endParaRPr>
                    </a:p>
                  </a:txBody>
                  <a:tcPr marL="68580" marR="68580" marT="34290" marB="34290"/>
                </a:tc>
                <a:extLst>
                  <a:ext uri="{0D108BD9-81ED-4DB2-BD59-A6C34878D82A}">
                    <a16:rowId xmlns:a16="http://schemas.microsoft.com/office/drawing/2014/main" val="322095962"/>
                  </a:ext>
                </a:extLst>
              </a:tr>
              <a:tr h="494336">
                <a:tc>
                  <a:txBody>
                    <a:bodyPr/>
                    <a:lstStyle/>
                    <a:p>
                      <a:pPr marL="0" lvl="0" indent="0" algn="l">
                        <a:lnSpc>
                          <a:spcPct val="100000"/>
                        </a:lnSpc>
                        <a:spcBef>
                          <a:spcPts val="0"/>
                        </a:spcBef>
                        <a:spcAft>
                          <a:spcPts val="0"/>
                        </a:spcAft>
                        <a:buNone/>
                      </a:pPr>
                      <a:endParaRPr lang="en-SG" sz="1200" b="0" i="0" u="none" strike="noStrike" noProof="0">
                        <a:solidFill>
                          <a:srgbClr val="000000"/>
                        </a:solidFill>
                        <a:latin typeface="Arial"/>
                      </a:endParaRPr>
                    </a:p>
                  </a:txBody>
                  <a:tcPr marL="68580" marR="68580" marT="34290" marB="34290" anchor="ctr"/>
                </a:tc>
                <a:tc>
                  <a:txBody>
                    <a:bodyPr/>
                    <a:lstStyle/>
                    <a:p>
                      <a:pPr marL="0" marR="0" lvl="0" indent="0" algn="l">
                        <a:lnSpc>
                          <a:spcPct val="100000"/>
                        </a:lnSpc>
                        <a:spcBef>
                          <a:spcPts val="0"/>
                        </a:spcBef>
                        <a:spcAft>
                          <a:spcPts val="0"/>
                        </a:spcAft>
                        <a:buClr>
                          <a:srgbClr val="000000"/>
                        </a:buClr>
                        <a:buNone/>
                      </a:pPr>
                      <a:endParaRPr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endParaRPr lang="en-SG" sz="1200" b="0" i="0" u="none" strike="noStrike" kern="1200" cap="none" spc="0" normalizeH="0" baseline="0" noProof="0">
                        <a:ln>
                          <a:noFill/>
                        </a:ln>
                        <a:solidFill>
                          <a:srgbClr val="000000"/>
                        </a:solidFill>
                        <a:effectLst/>
                        <a:uLnTx/>
                        <a:uFillTx/>
                        <a:latin typeface="Arial"/>
                      </a:endParaRPr>
                    </a:p>
                  </a:txBody>
                  <a:tcPr marL="68580" marR="68580" marT="34290" marB="34290"/>
                </a:tc>
                <a:extLst>
                  <a:ext uri="{0D108BD9-81ED-4DB2-BD59-A6C34878D82A}">
                    <a16:rowId xmlns:a16="http://schemas.microsoft.com/office/drawing/2014/main" val="857741994"/>
                  </a:ext>
                </a:extLst>
              </a:tr>
              <a:tr h="494336">
                <a:tc>
                  <a:txBody>
                    <a:bodyPr/>
                    <a:lstStyle/>
                    <a:p>
                      <a:pPr marL="0" lvl="0" indent="0" algn="l">
                        <a:lnSpc>
                          <a:spcPct val="100000"/>
                        </a:lnSpc>
                        <a:spcBef>
                          <a:spcPts val="0"/>
                        </a:spcBef>
                        <a:spcAft>
                          <a:spcPts val="0"/>
                        </a:spcAft>
                        <a:buNone/>
                      </a:pPr>
                      <a:endParaRPr lang="en-SG" sz="1200" b="0" i="0" u="none" strike="noStrike" noProof="0">
                        <a:solidFill>
                          <a:srgbClr val="000000"/>
                        </a:solidFill>
                        <a:latin typeface="Arial"/>
                      </a:endParaRPr>
                    </a:p>
                  </a:txBody>
                  <a:tcPr marL="68580" marR="68580" marT="34290" marB="34290" anchor="ctr"/>
                </a:tc>
                <a:tc>
                  <a:txBody>
                    <a:bodyPr/>
                    <a:lstStyle/>
                    <a:p>
                      <a:pPr marL="0" lvl="0" indent="0" algn="l">
                        <a:lnSpc>
                          <a:spcPct val="100000"/>
                        </a:lnSpc>
                        <a:spcBef>
                          <a:spcPts val="0"/>
                        </a:spcBef>
                        <a:spcAft>
                          <a:spcPts val="0"/>
                        </a:spcAft>
                        <a:buNone/>
                      </a:pPr>
                      <a:endParaRPr lang="en-US" sz="1200" b="0" i="0" u="none" strike="noStrike" kern="1200" cap="none" spc="0" normalizeH="0" baseline="0" noProof="0">
                        <a:ln>
                          <a:noFill/>
                        </a:ln>
                        <a:solidFill>
                          <a:srgbClr val="000000"/>
                        </a:solidFill>
                        <a:effectLst/>
                        <a:uLnTx/>
                        <a:uFillTx/>
                        <a:latin typeface="+mn-lt"/>
                        <a:ea typeface="+mn-ea"/>
                        <a:cs typeface="+mn-cs"/>
                      </a:endParaRPr>
                    </a:p>
                  </a:txBody>
                  <a:tcPr marL="68580" marR="68580" marT="34290" marB="34290"/>
                </a:tc>
                <a:tc>
                  <a:txBody>
                    <a:bodyPr/>
                    <a:lstStyle/>
                    <a:p>
                      <a:pPr marL="0" lvl="0" indent="0" algn="l">
                        <a:lnSpc>
                          <a:spcPct val="100000"/>
                        </a:lnSpc>
                        <a:spcBef>
                          <a:spcPts val="0"/>
                        </a:spcBef>
                        <a:spcAft>
                          <a:spcPts val="0"/>
                        </a:spcAft>
                        <a:buNone/>
                      </a:pPr>
                      <a:endParaRPr kumimoji="0" lang="en-US" sz="1200" b="0" i="0" u="none" strike="noStrike" kern="1200" cap="none" spc="0" normalizeH="0" baseline="0" noProof="0">
                        <a:ln>
                          <a:noFill/>
                        </a:ln>
                        <a:solidFill>
                          <a:srgbClr val="000000"/>
                        </a:solidFill>
                        <a:effectLst/>
                        <a:uLnTx/>
                        <a:uFillTx/>
                        <a:latin typeface="Arial"/>
                      </a:endParaRPr>
                    </a:p>
                  </a:txBody>
                  <a:tcPr marL="68580" marR="68580" marT="34290" marB="34290"/>
                </a:tc>
                <a:tc>
                  <a:txBody>
                    <a:bodyPr/>
                    <a:lstStyle/>
                    <a:p>
                      <a:pPr marL="0" lvl="0" indent="0" algn="l">
                        <a:lnSpc>
                          <a:spcPct val="100000"/>
                        </a:lnSpc>
                        <a:spcBef>
                          <a:spcPts val="0"/>
                        </a:spcBef>
                        <a:spcAft>
                          <a:spcPts val="0"/>
                        </a:spcAft>
                        <a:buNone/>
                      </a:pPr>
                      <a:endParaRPr lang="en-SG" sz="1200" b="0" i="0" u="none" strike="noStrike" kern="1200" cap="none" spc="0" normalizeH="0" baseline="0" noProof="0">
                        <a:ln>
                          <a:noFill/>
                        </a:ln>
                        <a:solidFill>
                          <a:srgbClr val="000000"/>
                        </a:solidFill>
                        <a:effectLst/>
                        <a:uLnTx/>
                        <a:uFillTx/>
                        <a:latin typeface="Arial"/>
                      </a:endParaRPr>
                    </a:p>
                  </a:txBody>
                  <a:tcPr marL="68580" marR="68580" marT="34290" marB="34290"/>
                </a:tc>
                <a:extLst>
                  <a:ext uri="{0D108BD9-81ED-4DB2-BD59-A6C34878D82A}">
                    <a16:rowId xmlns:a16="http://schemas.microsoft.com/office/drawing/2014/main" val="150307936"/>
                  </a:ext>
                </a:extLst>
              </a:tr>
            </a:tbl>
          </a:graphicData>
        </a:graphic>
      </p:graphicFrame>
      <p:sp>
        <p:nvSpPr>
          <p:cNvPr id="5" name="TextBox 4">
            <a:extLst>
              <a:ext uri="{FF2B5EF4-FFF2-40B4-BE49-F238E27FC236}">
                <a16:creationId xmlns:a16="http://schemas.microsoft.com/office/drawing/2014/main" id="{0E240669-58ED-8817-C4F3-8E097F4E92D4}"/>
              </a:ext>
            </a:extLst>
          </p:cNvPr>
          <p:cNvSpPr txBox="1"/>
          <p:nvPr/>
        </p:nvSpPr>
        <p:spPr>
          <a:xfrm>
            <a:off x="1525030" y="6546866"/>
            <a:ext cx="8068461" cy="276999"/>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SG" sz="1200" b="1"/>
              <a:t>Note: 1st round language translation at Go Live; 2nd round translation 3 weeks after Go Live.</a:t>
            </a:r>
            <a:endParaRPr lang="en-US" sz="900" b="1">
              <a:solidFill>
                <a:srgbClr val="002060"/>
              </a:solidFill>
              <a:cs typeface="Arial"/>
            </a:endParaRPr>
          </a:p>
        </p:txBody>
      </p:sp>
    </p:spTree>
    <p:extLst>
      <p:ext uri="{BB962C8B-B14F-4D97-AF65-F5344CB8AC3E}">
        <p14:creationId xmlns:p14="http://schemas.microsoft.com/office/powerpoint/2010/main" val="3166499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solidFill>
                  <a:schemeClr val="bg1">
                    <a:lumMod val="95000"/>
                  </a:schemeClr>
                </a:solidFill>
              </a:rPr>
              <a:t>Impact Assessments</a:t>
            </a:r>
            <a:r>
              <a:rPr lang="en-GB">
                <a:solidFill>
                  <a:schemeClr val="bg1">
                    <a:lumMod val="95000"/>
                  </a:schemeClr>
                </a:solidFill>
                <a:cs typeface="Arial"/>
              </a:rPr>
              <a:t> by Feature Set</a:t>
            </a:r>
            <a:endParaRPr lang="en-GB">
              <a:solidFill>
                <a:schemeClr val="bg1">
                  <a:lumMod val="95000"/>
                </a:schemeClr>
              </a:solidFill>
            </a:endParaRPr>
          </a:p>
        </p:txBody>
      </p:sp>
      <p:sp>
        <p:nvSpPr>
          <p:cNvPr id="4" name="Rectangle 3">
            <a:hlinkClick r:id="rId2"/>
          </p:cNvPr>
          <p:cNvSpPr/>
          <p:nvPr/>
        </p:nvSpPr>
        <p:spPr>
          <a:xfrm>
            <a:off x="15082" y="0"/>
            <a:ext cx="4461641"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6260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369" y="185921"/>
            <a:ext cx="11864550" cy="584802"/>
          </a:xfrm>
        </p:spPr>
        <p:txBody>
          <a:bodyPr vert="horz" lIns="118872" tIns="59436" rIns="118872" bIns="59436" anchor="t"/>
          <a:lstStyle/>
          <a:p>
            <a:r>
              <a:rPr lang="en-US" sz="2400" dirty="0">
                <a:solidFill>
                  <a:schemeClr val="accent3"/>
                </a:solidFill>
                <a:cs typeface="Arial"/>
              </a:rPr>
              <a:t>Cross Connect – Operator Portal Logic for Orders more than $1000 (MRC/NRC)</a:t>
            </a:r>
          </a:p>
        </p:txBody>
      </p:sp>
      <p:graphicFrame>
        <p:nvGraphicFramePr>
          <p:cNvPr id="5" name="Table 4"/>
          <p:cNvGraphicFramePr>
            <a:graphicFrameLocks noGrp="1"/>
          </p:cNvGraphicFramePr>
          <p:nvPr>
            <p:extLst>
              <p:ext uri="{D42A27DB-BD31-4B8C-83A1-F6EECF244321}">
                <p14:modId xmlns:p14="http://schemas.microsoft.com/office/powerpoint/2010/main" val="3070491642"/>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Operator</a:t>
                      </a:r>
                    </a:p>
                  </a:txBody>
                  <a:tcPr marL="121618" marR="121618" marT="57150" marB="57150" anchor="ctr"/>
                </a:tc>
                <a:tc>
                  <a:txBody>
                    <a:bodyPr/>
                    <a:lstStyle/>
                    <a:p>
                      <a:pPr lvl="0" algn="ctr">
                        <a:buNone/>
                      </a:pPr>
                      <a:endParaRPr lang="en-US" sz="1200"/>
                    </a:p>
                  </a:txBody>
                  <a:tcPr marL="121618" marR="121618" marT="57150" marB="57150" anchor="ctr"/>
                </a:tc>
                <a:tc>
                  <a:txBody>
                    <a:bodyPr/>
                    <a:lstStyle/>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For Orders of more than $1000 MRC/NRC, additional approval is required from customer.</a:t>
                      </a:r>
                    </a:p>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When GSD places the order from operator portal for non -signature required accounts, the above logic will be applied.</a:t>
                      </a:r>
                    </a:p>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These orders will flow through the signature required account flow from portal</a:t>
                      </a: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3" name="Picture 2" descr="A screenshot of a computer&#10;&#10;AI-generated content may be incorrect.">
            <a:extLst>
              <a:ext uri="{FF2B5EF4-FFF2-40B4-BE49-F238E27FC236}">
                <a16:creationId xmlns:a16="http://schemas.microsoft.com/office/drawing/2014/main" id="{95387D0A-B516-9564-03AF-72900486638E}"/>
              </a:ext>
            </a:extLst>
          </p:cNvPr>
          <p:cNvPicPr>
            <a:picLocks noChangeAspect="1"/>
          </p:cNvPicPr>
          <p:nvPr/>
        </p:nvPicPr>
        <p:blipFill>
          <a:blip r:embed="rId2"/>
          <a:stretch>
            <a:fillRect/>
          </a:stretch>
        </p:blipFill>
        <p:spPr>
          <a:xfrm>
            <a:off x="439245" y="762927"/>
            <a:ext cx="7206802" cy="3895810"/>
          </a:xfrm>
          <a:prstGeom prst="rect">
            <a:avLst/>
          </a:prstGeom>
        </p:spPr>
      </p:pic>
      <p:sp>
        <p:nvSpPr>
          <p:cNvPr id="4" name="TextBox 3">
            <a:extLst>
              <a:ext uri="{FF2B5EF4-FFF2-40B4-BE49-F238E27FC236}">
                <a16:creationId xmlns:a16="http://schemas.microsoft.com/office/drawing/2014/main" id="{CED02629-3997-295D-04E3-D921584E5BE8}"/>
              </a:ext>
            </a:extLst>
          </p:cNvPr>
          <p:cNvSpPr txBox="1"/>
          <p:nvPr/>
        </p:nvSpPr>
        <p:spPr>
          <a:xfrm>
            <a:off x="7894211" y="1498706"/>
            <a:ext cx="4127674" cy="523220"/>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accent3"/>
                </a:solidFill>
                <a:cs typeface="Arial"/>
              </a:rPr>
              <a:t> </a:t>
            </a:r>
            <a:r>
              <a:rPr lang="en-GB" sz="2800" b="1" dirty="0">
                <a:solidFill>
                  <a:schemeClr val="accent3"/>
                </a:solidFill>
                <a:cs typeface="Arial"/>
              </a:rPr>
              <a:t>DESCOPED FOR NOW</a:t>
            </a:r>
          </a:p>
        </p:txBody>
      </p:sp>
    </p:spTree>
    <p:extLst>
      <p:ext uri="{BB962C8B-B14F-4D97-AF65-F5344CB8AC3E}">
        <p14:creationId xmlns:p14="http://schemas.microsoft.com/office/powerpoint/2010/main" val="4114484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F7C20-65D0-72A6-2504-68B739F1D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D92BE-8C95-B011-12E6-50EC9DFCC931}"/>
              </a:ext>
            </a:extLst>
          </p:cNvPr>
          <p:cNvSpPr>
            <a:spLocks noGrp="1"/>
          </p:cNvSpPr>
          <p:nvPr>
            <p:ph type="title"/>
          </p:nvPr>
        </p:nvSpPr>
        <p:spPr>
          <a:xfrm>
            <a:off x="312369" y="185921"/>
            <a:ext cx="11864550" cy="584802"/>
          </a:xfrm>
        </p:spPr>
        <p:txBody>
          <a:bodyPr vert="horz" lIns="118872" tIns="59436" rIns="118872" bIns="59436" anchor="t"/>
          <a:lstStyle/>
          <a:p>
            <a:r>
              <a:rPr lang="en-US" sz="2400" dirty="0">
                <a:solidFill>
                  <a:schemeClr val="accent3"/>
                </a:solidFill>
                <a:cs typeface="Arial"/>
              </a:rPr>
              <a:t>Cross Connect – Operator Portal Logic for Orders more than $1000 (MRC/NRC)</a:t>
            </a:r>
          </a:p>
        </p:txBody>
      </p:sp>
      <p:graphicFrame>
        <p:nvGraphicFramePr>
          <p:cNvPr id="5" name="Table 4">
            <a:extLst>
              <a:ext uri="{FF2B5EF4-FFF2-40B4-BE49-F238E27FC236}">
                <a16:creationId xmlns:a16="http://schemas.microsoft.com/office/drawing/2014/main" id="{4C348517-A203-A219-71A7-E0A8283AA77D}"/>
              </a:ext>
            </a:extLst>
          </p:cNvPr>
          <p:cNvGraphicFramePr>
            <a:graphicFrameLocks noGrp="1"/>
          </p:cNvGraphicFramePr>
          <p:nvPr>
            <p:extLst>
              <p:ext uri="{D42A27DB-BD31-4B8C-83A1-F6EECF244321}">
                <p14:modId xmlns:p14="http://schemas.microsoft.com/office/powerpoint/2010/main" val="2333572060"/>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Operator</a:t>
                      </a:r>
                    </a:p>
                  </a:txBody>
                  <a:tcPr marL="121618" marR="121618" marT="57150" marB="57150" anchor="ctr"/>
                </a:tc>
                <a:tc>
                  <a:txBody>
                    <a:bodyPr/>
                    <a:lstStyle/>
                    <a:p>
                      <a:pPr lvl="0" algn="ctr">
                        <a:buNone/>
                      </a:pPr>
                      <a:r>
                        <a:rPr lang="en-US" sz="1200"/>
                        <a:t>CC ( Signature Flow)</a:t>
                      </a:r>
                    </a:p>
                  </a:txBody>
                  <a:tcPr marL="121618" marR="121618" marT="57150" marB="57150" anchor="ctr"/>
                </a:tc>
                <a:tc>
                  <a:txBody>
                    <a:bodyPr/>
                    <a:lstStyle/>
                    <a:p>
                      <a:pPr marL="0" marR="0" lvl="0" indent="0" algn="l">
                        <a:lnSpc>
                          <a:spcPct val="100000"/>
                        </a:lnSpc>
                        <a:spcBef>
                          <a:spcPts val="0"/>
                        </a:spcBef>
                        <a:spcAft>
                          <a:spcPts val="0"/>
                        </a:spcAft>
                        <a:buNone/>
                      </a:pPr>
                      <a:r>
                        <a:rPr lang="en-GB" sz="1200" b="0" i="0" u="none" strike="noStrike" noProof="0">
                          <a:solidFill>
                            <a:schemeClr val="tx1"/>
                          </a:solidFill>
                          <a:latin typeface="Arial"/>
                        </a:rPr>
                        <a:t>Signature Required Flow Details (For NON signature Accounts + Orders more than $1000 MRC/NRC)</a:t>
                      </a:r>
                    </a:p>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I will Sign </a:t>
                      </a:r>
                    </a:p>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Someone else will sign</a:t>
                      </a:r>
                    </a:p>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Request Account Support</a:t>
                      </a:r>
                    </a:p>
                    <a:p>
                      <a:pPr marL="0" marR="0" lvl="0" indent="0" algn="l">
                        <a:lnSpc>
                          <a:spcPct val="100000"/>
                        </a:lnSpc>
                        <a:spcBef>
                          <a:spcPts val="0"/>
                        </a:spcBef>
                        <a:spcAft>
                          <a:spcPts val="0"/>
                        </a:spcAft>
                        <a:buNone/>
                      </a:pPr>
                      <a:endParaRPr lang="en-GB" sz="1200" b="0" i="0" u="none" strike="noStrike" noProof="0">
                        <a:solidFill>
                          <a:schemeClr val="tx1"/>
                        </a:solidFill>
                        <a:latin typeface="Arial"/>
                      </a:endParaRPr>
                    </a:p>
                    <a:p>
                      <a:pPr marL="171450" marR="0" lvl="0" indent="-171450" algn="l">
                        <a:lnSpc>
                          <a:spcPct val="100000"/>
                        </a:lnSpc>
                        <a:spcBef>
                          <a:spcPts val="0"/>
                        </a:spcBef>
                        <a:spcAft>
                          <a:spcPts val="0"/>
                        </a:spcAft>
                        <a:buFont typeface="Arial"/>
                        <a:buChar char="•"/>
                      </a:pPr>
                      <a:endParaRPr lang="en-GB" sz="1200" b="0" i="0" u="none" strike="noStrike" noProof="0">
                        <a:solidFill>
                          <a:schemeClr val="tx1"/>
                        </a:solidFill>
                        <a:latin typeface="Arial"/>
                      </a:endParaRP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4" name="Picture 3" descr="A screenshot of a sign up form&#10;&#10;AI-generated content may be incorrect.">
            <a:extLst>
              <a:ext uri="{FF2B5EF4-FFF2-40B4-BE49-F238E27FC236}">
                <a16:creationId xmlns:a16="http://schemas.microsoft.com/office/drawing/2014/main" id="{75037CEF-E797-F5FD-905E-867844A389FF}"/>
              </a:ext>
            </a:extLst>
          </p:cNvPr>
          <p:cNvPicPr>
            <a:picLocks noChangeAspect="1"/>
          </p:cNvPicPr>
          <p:nvPr/>
        </p:nvPicPr>
        <p:blipFill>
          <a:blip r:embed="rId2"/>
          <a:stretch>
            <a:fillRect/>
          </a:stretch>
        </p:blipFill>
        <p:spPr>
          <a:xfrm>
            <a:off x="160408" y="766045"/>
            <a:ext cx="3806123" cy="2682511"/>
          </a:xfrm>
          <a:prstGeom prst="rect">
            <a:avLst/>
          </a:prstGeom>
        </p:spPr>
      </p:pic>
      <p:pic>
        <p:nvPicPr>
          <p:cNvPr id="6" name="Picture 5" descr="A screenshot of a sign up form&#10;&#10;AI-generated content may be incorrect.">
            <a:extLst>
              <a:ext uri="{FF2B5EF4-FFF2-40B4-BE49-F238E27FC236}">
                <a16:creationId xmlns:a16="http://schemas.microsoft.com/office/drawing/2014/main" id="{DDE979D4-0A40-2850-1649-7BC783064EF3}"/>
              </a:ext>
            </a:extLst>
          </p:cNvPr>
          <p:cNvPicPr>
            <a:picLocks noChangeAspect="1"/>
          </p:cNvPicPr>
          <p:nvPr/>
        </p:nvPicPr>
        <p:blipFill>
          <a:blip r:embed="rId3"/>
          <a:stretch>
            <a:fillRect/>
          </a:stretch>
        </p:blipFill>
        <p:spPr>
          <a:xfrm>
            <a:off x="4118003" y="2317777"/>
            <a:ext cx="3564879" cy="2674250"/>
          </a:xfrm>
          <a:prstGeom prst="rect">
            <a:avLst/>
          </a:prstGeom>
        </p:spPr>
      </p:pic>
      <p:pic>
        <p:nvPicPr>
          <p:cNvPr id="7" name="Picture 6" descr="A screenshot of a sign up form&#10;&#10;AI-generated content may be incorrect.">
            <a:extLst>
              <a:ext uri="{FF2B5EF4-FFF2-40B4-BE49-F238E27FC236}">
                <a16:creationId xmlns:a16="http://schemas.microsoft.com/office/drawing/2014/main" id="{9F10C49A-7D07-2D72-3CE5-4990977855E2}"/>
              </a:ext>
            </a:extLst>
          </p:cNvPr>
          <p:cNvPicPr>
            <a:picLocks noChangeAspect="1"/>
          </p:cNvPicPr>
          <p:nvPr/>
        </p:nvPicPr>
        <p:blipFill>
          <a:blip r:embed="rId4"/>
          <a:stretch>
            <a:fillRect/>
          </a:stretch>
        </p:blipFill>
        <p:spPr>
          <a:xfrm>
            <a:off x="7813281" y="664896"/>
            <a:ext cx="3881986" cy="2878068"/>
          </a:xfrm>
          <a:prstGeom prst="rect">
            <a:avLst/>
          </a:prstGeom>
        </p:spPr>
      </p:pic>
      <p:sp>
        <p:nvSpPr>
          <p:cNvPr id="10" name="TextBox 9">
            <a:extLst>
              <a:ext uri="{FF2B5EF4-FFF2-40B4-BE49-F238E27FC236}">
                <a16:creationId xmlns:a16="http://schemas.microsoft.com/office/drawing/2014/main" id="{17100216-0EE5-0C3A-B0D6-61500829621E}"/>
              </a:ext>
            </a:extLst>
          </p:cNvPr>
          <p:cNvSpPr txBox="1"/>
          <p:nvPr/>
        </p:nvSpPr>
        <p:spPr>
          <a:xfrm>
            <a:off x="3834707" y="878317"/>
            <a:ext cx="4127674" cy="523220"/>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accent3"/>
                </a:solidFill>
                <a:cs typeface="Arial"/>
              </a:rPr>
              <a:t> </a:t>
            </a:r>
            <a:r>
              <a:rPr lang="en-GB" sz="2800" b="1" dirty="0">
                <a:solidFill>
                  <a:schemeClr val="accent3"/>
                </a:solidFill>
                <a:cs typeface="Arial"/>
              </a:rPr>
              <a:t>DESCOPED FOR NOW</a:t>
            </a:r>
          </a:p>
        </p:txBody>
      </p:sp>
    </p:spTree>
    <p:extLst>
      <p:ext uri="{BB962C8B-B14F-4D97-AF65-F5344CB8AC3E}">
        <p14:creationId xmlns:p14="http://schemas.microsoft.com/office/powerpoint/2010/main" val="424399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D33A-B8DE-0064-0377-E579998C8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421D5-52AA-E6F2-85C8-8BE17BB8500A}"/>
              </a:ext>
            </a:extLst>
          </p:cNvPr>
          <p:cNvSpPr>
            <a:spLocks noGrp="1"/>
          </p:cNvSpPr>
          <p:nvPr>
            <p:ph type="title"/>
          </p:nvPr>
        </p:nvSpPr>
        <p:spPr>
          <a:xfrm>
            <a:off x="312369" y="185921"/>
            <a:ext cx="11864550" cy="584802"/>
          </a:xfrm>
        </p:spPr>
        <p:txBody>
          <a:bodyPr vert="horz" lIns="118872" tIns="59436" rIns="118872" bIns="59436" anchor="t"/>
          <a:lstStyle/>
          <a:p>
            <a:r>
              <a:rPr lang="en-US" sz="2400" dirty="0">
                <a:solidFill>
                  <a:schemeClr val="accent3"/>
                </a:solidFill>
                <a:cs typeface="Arial"/>
              </a:rPr>
              <a:t>Cross Connect – Patch Panel Search/Filter in UI</a:t>
            </a:r>
          </a:p>
        </p:txBody>
      </p:sp>
      <p:graphicFrame>
        <p:nvGraphicFramePr>
          <p:cNvPr id="5" name="Table 4">
            <a:extLst>
              <a:ext uri="{FF2B5EF4-FFF2-40B4-BE49-F238E27FC236}">
                <a16:creationId xmlns:a16="http://schemas.microsoft.com/office/drawing/2014/main" id="{3484DF57-8DAB-6C85-D48C-34D2973AA2E7}"/>
              </a:ext>
            </a:extLst>
          </p:cNvPr>
          <p:cNvGraphicFramePr>
            <a:graphicFrameLocks noGrp="1"/>
          </p:cNvGraphicFramePr>
          <p:nvPr>
            <p:extLst>
              <p:ext uri="{D42A27DB-BD31-4B8C-83A1-F6EECF244321}">
                <p14:modId xmlns:p14="http://schemas.microsoft.com/office/powerpoint/2010/main" val="2572678588"/>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ECP/Operator</a:t>
                      </a:r>
                    </a:p>
                  </a:txBody>
                  <a:tcPr marL="121618" marR="121618" marT="57150" marB="57150" anchor="ctr"/>
                </a:tc>
                <a:tc>
                  <a:txBody>
                    <a:bodyPr/>
                    <a:lstStyle/>
                    <a:p>
                      <a:pPr lvl="0" algn="ctr">
                        <a:buNone/>
                      </a:pPr>
                      <a:endParaRPr lang="en-US" sz="1200"/>
                    </a:p>
                  </a:txBody>
                  <a:tcPr marL="121618" marR="121618" marT="57150" marB="57150" anchor="ctr"/>
                </a:tc>
                <a:tc>
                  <a:txBody>
                    <a:bodyPr/>
                    <a:lstStyle/>
                    <a:p>
                      <a:pPr marL="0" marR="0" lvl="0" indent="0" algn="l">
                        <a:lnSpc>
                          <a:spcPct val="100000"/>
                        </a:lnSpc>
                        <a:spcBef>
                          <a:spcPts val="0"/>
                        </a:spcBef>
                        <a:spcAft>
                          <a:spcPts val="0"/>
                        </a:spcAft>
                        <a:buNone/>
                      </a:pPr>
                      <a:r>
                        <a:rPr lang="en-GB" sz="1200" b="0" i="0" u="none" strike="noStrike" noProof="0">
                          <a:solidFill>
                            <a:schemeClr val="tx1"/>
                          </a:solidFill>
                          <a:latin typeface="Arial"/>
                        </a:rPr>
                        <a:t>Customer Feedback : Searching with patch panel value along with provider name, IBX details provides more accurate information &amp; faster results</a:t>
                      </a:r>
                    </a:p>
                    <a:p>
                      <a:pPr marL="228600" marR="0" lvl="0" indent="-228600" algn="l">
                        <a:lnSpc>
                          <a:spcPct val="100000"/>
                        </a:lnSpc>
                        <a:spcBef>
                          <a:spcPts val="0"/>
                        </a:spcBef>
                        <a:spcAft>
                          <a:spcPts val="0"/>
                        </a:spcAft>
                        <a:buAutoNum type="arabicParenR"/>
                      </a:pPr>
                      <a:r>
                        <a:rPr lang="en-GB" sz="1200" b="0" i="0" u="none" strike="noStrike" noProof="0">
                          <a:solidFill>
                            <a:schemeClr val="tx1"/>
                          </a:solidFill>
                          <a:latin typeface="Arial"/>
                        </a:rPr>
                        <a:t>Patch Panel Filter in the CC ordering form (first page)</a:t>
                      </a:r>
                    </a:p>
                    <a:p>
                      <a:pPr marL="228600" marR="0" lvl="0" indent="-228600" algn="l">
                        <a:lnSpc>
                          <a:spcPct val="100000"/>
                        </a:lnSpc>
                        <a:spcBef>
                          <a:spcPts val="0"/>
                        </a:spcBef>
                        <a:spcAft>
                          <a:spcPts val="0"/>
                        </a:spcAft>
                        <a:buAutoNum type="arabicParenR"/>
                      </a:pPr>
                      <a:r>
                        <a:rPr lang="en-GB" sz="1200" b="0" i="0" u="none" strike="noStrike" noProof="0">
                          <a:solidFill>
                            <a:schemeClr val="tx1"/>
                          </a:solidFill>
                          <a:latin typeface="Arial"/>
                        </a:rPr>
                        <a:t>Patch Panel values to be added to the Provider Table</a:t>
                      </a:r>
                    </a:p>
                    <a:p>
                      <a:pPr marL="228600" marR="0" lvl="0" indent="-228600" algn="l">
                        <a:lnSpc>
                          <a:spcPct val="100000"/>
                        </a:lnSpc>
                        <a:spcBef>
                          <a:spcPts val="0"/>
                        </a:spcBef>
                        <a:spcAft>
                          <a:spcPts val="0"/>
                        </a:spcAft>
                        <a:buAutoNum type="arabicParenR"/>
                      </a:pPr>
                      <a:endParaRPr lang="en-GB" sz="1200" b="0" i="0" u="none" strike="noStrike" noProof="0">
                        <a:solidFill>
                          <a:schemeClr val="tx1"/>
                        </a:solidFill>
                        <a:latin typeface="Arial"/>
                      </a:endParaRP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3" name="Picture 2" descr="A screenshot of a computer&#10;&#10;AI-generated content may be incorrect.">
            <a:extLst>
              <a:ext uri="{FF2B5EF4-FFF2-40B4-BE49-F238E27FC236}">
                <a16:creationId xmlns:a16="http://schemas.microsoft.com/office/drawing/2014/main" id="{B1864C34-CA8D-E966-9375-F14C8C6980C9}"/>
              </a:ext>
            </a:extLst>
          </p:cNvPr>
          <p:cNvPicPr>
            <a:picLocks noChangeAspect="1"/>
          </p:cNvPicPr>
          <p:nvPr/>
        </p:nvPicPr>
        <p:blipFill>
          <a:blip r:embed="rId2"/>
          <a:stretch>
            <a:fillRect/>
          </a:stretch>
        </p:blipFill>
        <p:spPr>
          <a:xfrm>
            <a:off x="1958282" y="778496"/>
            <a:ext cx="5773217" cy="3809859"/>
          </a:xfrm>
          <a:prstGeom prst="rect">
            <a:avLst/>
          </a:prstGeom>
        </p:spPr>
      </p:pic>
      <p:sp>
        <p:nvSpPr>
          <p:cNvPr id="4" name="Rectangle: Rounded Corners 3">
            <a:extLst>
              <a:ext uri="{FF2B5EF4-FFF2-40B4-BE49-F238E27FC236}">
                <a16:creationId xmlns:a16="http://schemas.microsoft.com/office/drawing/2014/main" id="{116E0867-0A14-2946-9301-7B5C36450777}"/>
              </a:ext>
            </a:extLst>
          </p:cNvPr>
          <p:cNvSpPr/>
          <p:nvPr/>
        </p:nvSpPr>
        <p:spPr>
          <a:xfrm>
            <a:off x="5638800" y="2142365"/>
            <a:ext cx="914399" cy="2310275"/>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DBAEDD78-EF70-0D84-4E2F-790B52341C97}"/>
              </a:ext>
            </a:extLst>
          </p:cNvPr>
          <p:cNvSpPr/>
          <p:nvPr/>
        </p:nvSpPr>
        <p:spPr>
          <a:xfrm>
            <a:off x="3880046" y="2163857"/>
            <a:ext cx="1109958" cy="381677"/>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5765EC94-8FC7-3F03-EB7F-6EC9FB3126D4}"/>
              </a:ext>
            </a:extLst>
          </p:cNvPr>
          <p:cNvSpPr txBox="1"/>
          <p:nvPr/>
        </p:nvSpPr>
        <p:spPr>
          <a:xfrm>
            <a:off x="8042564" y="1498706"/>
            <a:ext cx="3338703" cy="923330"/>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accent3"/>
                </a:solidFill>
                <a:cs typeface="Arial"/>
              </a:rPr>
              <a:t>DESCOPED FROM APRIL – Will update the revised release</a:t>
            </a:r>
            <a:endParaRPr lang="en-GB" b="1" dirty="0">
              <a:solidFill>
                <a:schemeClr val="accent3"/>
              </a:solidFill>
            </a:endParaRPr>
          </a:p>
        </p:txBody>
      </p:sp>
    </p:spTree>
    <p:extLst>
      <p:ext uri="{BB962C8B-B14F-4D97-AF65-F5344CB8AC3E}">
        <p14:creationId xmlns:p14="http://schemas.microsoft.com/office/powerpoint/2010/main" val="139568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F9CD2-4577-6835-254E-712F9934C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335A1-8828-6CDF-8951-4F174AEB9E65}"/>
              </a:ext>
            </a:extLst>
          </p:cNvPr>
          <p:cNvSpPr>
            <a:spLocks noGrp="1"/>
          </p:cNvSpPr>
          <p:nvPr>
            <p:ph type="title"/>
          </p:nvPr>
        </p:nvSpPr>
        <p:spPr>
          <a:xfrm>
            <a:off x="312369" y="185921"/>
            <a:ext cx="11864550" cy="584802"/>
          </a:xfrm>
        </p:spPr>
        <p:txBody>
          <a:bodyPr vert="horz" lIns="118872" tIns="59436" rIns="118872" bIns="59436" anchor="t"/>
          <a:lstStyle/>
          <a:p>
            <a:r>
              <a:rPr lang="en-US" sz="2400" dirty="0">
                <a:solidFill>
                  <a:schemeClr val="accent3"/>
                </a:solidFill>
                <a:cs typeface="Arial"/>
              </a:rPr>
              <a:t>Cross Connect – Moving Extended CC Under CC </a:t>
            </a:r>
          </a:p>
        </p:txBody>
      </p:sp>
      <p:graphicFrame>
        <p:nvGraphicFramePr>
          <p:cNvPr id="5" name="Table 4">
            <a:extLst>
              <a:ext uri="{FF2B5EF4-FFF2-40B4-BE49-F238E27FC236}">
                <a16:creationId xmlns:a16="http://schemas.microsoft.com/office/drawing/2014/main" id="{153E7A68-A40B-609D-BA92-E9A56E02284C}"/>
              </a:ext>
            </a:extLst>
          </p:cNvPr>
          <p:cNvGraphicFramePr>
            <a:graphicFrameLocks noGrp="1"/>
          </p:cNvGraphicFramePr>
          <p:nvPr>
            <p:extLst>
              <p:ext uri="{D42A27DB-BD31-4B8C-83A1-F6EECF244321}">
                <p14:modId xmlns:p14="http://schemas.microsoft.com/office/powerpoint/2010/main" val="3386952130"/>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ECP/Operator</a:t>
                      </a:r>
                    </a:p>
                  </a:txBody>
                  <a:tcPr marL="121618" marR="121618" marT="57150" marB="57150" anchor="ctr"/>
                </a:tc>
                <a:tc>
                  <a:txBody>
                    <a:bodyPr/>
                    <a:lstStyle/>
                    <a:p>
                      <a:pPr lvl="0" algn="ctr">
                        <a:buNone/>
                      </a:pPr>
                      <a:r>
                        <a:rPr lang="en-US" sz="1200"/>
                        <a:t>Cross Connect </a:t>
                      </a:r>
                    </a:p>
                  </a:txBody>
                  <a:tcPr marL="121618" marR="121618" marT="57150" marB="57150" anchor="ctr"/>
                </a:tc>
                <a:tc>
                  <a:txBody>
                    <a:bodyPr/>
                    <a:lstStyle/>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Moving the Extended Cross Connect Under the Single Card – Order Without LOA</a:t>
                      </a:r>
                    </a:p>
                    <a:p>
                      <a:pPr marL="171450" marR="0" lvl="0" indent="-171450" algn="l">
                        <a:lnSpc>
                          <a:spcPct val="100000"/>
                        </a:lnSpc>
                        <a:spcBef>
                          <a:spcPts val="0"/>
                        </a:spcBef>
                        <a:spcAft>
                          <a:spcPts val="0"/>
                        </a:spcAft>
                        <a:buFont typeface="Arial"/>
                        <a:buChar char="•"/>
                      </a:pPr>
                      <a:r>
                        <a:rPr lang="en-GB" sz="1200" b="0" i="0" u="none" strike="noStrike" noProof="0">
                          <a:solidFill>
                            <a:schemeClr val="tx1"/>
                          </a:solidFill>
                          <a:latin typeface="Arial"/>
                        </a:rPr>
                        <a:t>This provides a better customer experience &amp; navigation to the single work flow</a:t>
                      </a:r>
                    </a:p>
                    <a:p>
                      <a:pPr marL="228600" marR="0" lvl="0" indent="-228600" algn="l">
                        <a:lnSpc>
                          <a:spcPct val="100000"/>
                        </a:lnSpc>
                        <a:spcBef>
                          <a:spcPts val="0"/>
                        </a:spcBef>
                        <a:spcAft>
                          <a:spcPts val="0"/>
                        </a:spcAft>
                        <a:buFont typeface="Arial"/>
                        <a:buChar char="•"/>
                      </a:pPr>
                      <a:endParaRPr lang="en-GB" sz="1200" b="0" i="0" u="none" strike="noStrike" noProof="0">
                        <a:solidFill>
                          <a:schemeClr val="tx1"/>
                        </a:solidFill>
                        <a:latin typeface="Arial"/>
                      </a:endParaRP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4" name="Picture 3" descr="A screenshot of a computer&#10;&#10;AI-generated content may be incorrect.">
            <a:extLst>
              <a:ext uri="{FF2B5EF4-FFF2-40B4-BE49-F238E27FC236}">
                <a16:creationId xmlns:a16="http://schemas.microsoft.com/office/drawing/2014/main" id="{B366C4E9-744B-212E-0B16-83A2C5F1E8FA}"/>
              </a:ext>
            </a:extLst>
          </p:cNvPr>
          <p:cNvPicPr>
            <a:picLocks noChangeAspect="1"/>
          </p:cNvPicPr>
          <p:nvPr/>
        </p:nvPicPr>
        <p:blipFill>
          <a:blip r:embed="rId2"/>
          <a:stretch>
            <a:fillRect/>
          </a:stretch>
        </p:blipFill>
        <p:spPr>
          <a:xfrm>
            <a:off x="419997" y="767142"/>
            <a:ext cx="7620000" cy="3867150"/>
          </a:xfrm>
          <a:prstGeom prst="rect">
            <a:avLst/>
          </a:prstGeom>
        </p:spPr>
      </p:pic>
      <p:sp>
        <p:nvSpPr>
          <p:cNvPr id="3" name="Rectangle: Rounded Corners 2">
            <a:extLst>
              <a:ext uri="{FF2B5EF4-FFF2-40B4-BE49-F238E27FC236}">
                <a16:creationId xmlns:a16="http://schemas.microsoft.com/office/drawing/2014/main" id="{8DF94D2A-067C-2A25-29CE-68CC10213E76}"/>
              </a:ext>
            </a:extLst>
          </p:cNvPr>
          <p:cNvSpPr/>
          <p:nvPr/>
        </p:nvSpPr>
        <p:spPr>
          <a:xfrm>
            <a:off x="5157909" y="1497863"/>
            <a:ext cx="2176702" cy="914399"/>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Arc 5">
            <a:extLst>
              <a:ext uri="{FF2B5EF4-FFF2-40B4-BE49-F238E27FC236}">
                <a16:creationId xmlns:a16="http://schemas.microsoft.com/office/drawing/2014/main" id="{D6940A8D-87C4-7169-73E9-A4E8F5ED1554}"/>
              </a:ext>
            </a:extLst>
          </p:cNvPr>
          <p:cNvSpPr/>
          <p:nvPr/>
        </p:nvSpPr>
        <p:spPr>
          <a:xfrm>
            <a:off x="574028" y="1083489"/>
            <a:ext cx="4693611" cy="837430"/>
          </a:xfrm>
          <a:prstGeom prst="arc">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solidFill>
                <a:srgbClr val="FF0000"/>
              </a:solidFill>
              <a:cs typeface="Arial"/>
            </a:endParaRPr>
          </a:p>
        </p:txBody>
      </p:sp>
      <p:sp>
        <p:nvSpPr>
          <p:cNvPr id="8" name="TextBox 7">
            <a:extLst>
              <a:ext uri="{FF2B5EF4-FFF2-40B4-BE49-F238E27FC236}">
                <a16:creationId xmlns:a16="http://schemas.microsoft.com/office/drawing/2014/main" id="{96A0CC6E-40BA-A60D-BBB5-64182E60E539}"/>
              </a:ext>
            </a:extLst>
          </p:cNvPr>
          <p:cNvSpPr txBox="1"/>
          <p:nvPr/>
        </p:nvSpPr>
        <p:spPr>
          <a:xfrm>
            <a:off x="8460652" y="1309892"/>
            <a:ext cx="3338703" cy="1477328"/>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accent3"/>
                </a:solidFill>
                <a:cs typeface="Arial"/>
              </a:rPr>
              <a:t>     DESCOPED FOR NOW – We are looking into updating the Verbiage rather than moving the card under a different tile</a:t>
            </a:r>
            <a:endParaRPr lang="en-GB" b="1" dirty="0" err="1">
              <a:solidFill>
                <a:schemeClr val="accent3"/>
              </a:solidFill>
            </a:endParaRPr>
          </a:p>
        </p:txBody>
      </p:sp>
    </p:spTree>
    <p:extLst>
      <p:ext uri="{BB962C8B-B14F-4D97-AF65-F5344CB8AC3E}">
        <p14:creationId xmlns:p14="http://schemas.microsoft.com/office/powerpoint/2010/main" val="2904905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13675-1EFB-DDF9-E3BD-23BF2F778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C3599-2DE1-6A37-1BD7-F96C3463ECBD}"/>
              </a:ext>
            </a:extLst>
          </p:cNvPr>
          <p:cNvSpPr>
            <a:spLocks noGrp="1"/>
          </p:cNvSpPr>
          <p:nvPr>
            <p:ph type="title"/>
          </p:nvPr>
        </p:nvSpPr>
        <p:spPr>
          <a:xfrm>
            <a:off x="312369" y="185921"/>
            <a:ext cx="11864550" cy="584802"/>
          </a:xfrm>
        </p:spPr>
        <p:txBody>
          <a:bodyPr vert="horz" lIns="118872" tIns="59436" rIns="118872" bIns="59436" anchor="t"/>
          <a:lstStyle/>
          <a:p>
            <a:r>
              <a:rPr lang="en-US" sz="2400" dirty="0">
                <a:solidFill>
                  <a:srgbClr val="00B050"/>
                </a:solidFill>
                <a:cs typeface="Arial"/>
              </a:rPr>
              <a:t>Cross Connect – Message Display for DLOA Token/File Upload</a:t>
            </a:r>
          </a:p>
        </p:txBody>
      </p:sp>
      <p:graphicFrame>
        <p:nvGraphicFramePr>
          <p:cNvPr id="5" name="Table 4">
            <a:extLst>
              <a:ext uri="{FF2B5EF4-FFF2-40B4-BE49-F238E27FC236}">
                <a16:creationId xmlns:a16="http://schemas.microsoft.com/office/drawing/2014/main" id="{AEA66E90-B54F-26BC-78F7-C6A6394D220D}"/>
              </a:ext>
            </a:extLst>
          </p:cNvPr>
          <p:cNvGraphicFramePr>
            <a:graphicFrameLocks noGrp="1"/>
          </p:cNvGraphicFramePr>
          <p:nvPr>
            <p:extLst>
              <p:ext uri="{D42A27DB-BD31-4B8C-83A1-F6EECF244321}">
                <p14:modId xmlns:p14="http://schemas.microsoft.com/office/powerpoint/2010/main" val="303651680"/>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ECP/Operator</a:t>
                      </a:r>
                    </a:p>
                  </a:txBody>
                  <a:tcPr marL="121618" marR="121618" marT="57150" marB="57150" anchor="ctr"/>
                </a:tc>
                <a:tc>
                  <a:txBody>
                    <a:bodyPr/>
                    <a:lstStyle/>
                    <a:p>
                      <a:pPr lvl="0" algn="ctr">
                        <a:buNone/>
                      </a:pPr>
                      <a:r>
                        <a:rPr lang="en-US" sz="1200"/>
                        <a:t>Cross Connect </a:t>
                      </a:r>
                    </a:p>
                  </a:txBody>
                  <a:tcPr marL="121618" marR="121618" marT="57150" marB="57150" anchor="ctr"/>
                </a:tc>
                <a:tc>
                  <a:txBody>
                    <a:bodyPr/>
                    <a:lstStyle/>
                    <a:p>
                      <a:pPr marL="0" marR="0" lvl="0" indent="0" algn="l">
                        <a:lnSpc>
                          <a:spcPct val="100000"/>
                        </a:lnSpc>
                        <a:spcBef>
                          <a:spcPts val="0"/>
                        </a:spcBef>
                        <a:spcAft>
                          <a:spcPts val="0"/>
                        </a:spcAft>
                        <a:buNone/>
                      </a:pPr>
                      <a:r>
                        <a:rPr lang="en-GB" sz="1200" b="0" i="0" u="none" strike="noStrike" noProof="0">
                          <a:solidFill>
                            <a:schemeClr val="tx1"/>
                          </a:solidFill>
                          <a:latin typeface="Arial"/>
                        </a:rPr>
                        <a:t>User Feedback:</a:t>
                      </a:r>
                    </a:p>
                    <a:p>
                      <a:pPr marL="228600" marR="0" lvl="0" indent="-228600" algn="l">
                        <a:lnSpc>
                          <a:spcPct val="100000"/>
                        </a:lnSpc>
                        <a:spcBef>
                          <a:spcPts val="0"/>
                        </a:spcBef>
                        <a:spcAft>
                          <a:spcPts val="0"/>
                        </a:spcAft>
                        <a:buAutoNum type="arabicParenR"/>
                      </a:pPr>
                      <a:r>
                        <a:rPr lang="en-GB" sz="1200" b="0" i="0" u="none" strike="noStrike" noProof="0">
                          <a:solidFill>
                            <a:schemeClr val="tx1"/>
                          </a:solidFill>
                          <a:latin typeface="Arial"/>
                        </a:rPr>
                        <a:t>Will show additional message for DLOA Token use or DLOA File Upload</a:t>
                      </a:r>
                    </a:p>
                    <a:p>
                      <a:pPr marL="228600" marR="0" lvl="0" indent="-228600" algn="l">
                        <a:lnSpc>
                          <a:spcPct val="100000"/>
                        </a:lnSpc>
                        <a:spcBef>
                          <a:spcPts val="0"/>
                        </a:spcBef>
                        <a:spcAft>
                          <a:spcPts val="0"/>
                        </a:spcAft>
                        <a:buAutoNum type="arabicParenR"/>
                      </a:pPr>
                      <a:r>
                        <a:rPr lang="en-GB" sz="1200" b="0" i="0" u="none" strike="noStrike" noProof="0">
                          <a:solidFill>
                            <a:schemeClr val="tx1"/>
                          </a:solidFill>
                          <a:latin typeface="Arial"/>
                        </a:rPr>
                        <a:t>Once user proceeds with either of these route – the message will be displayed "Not to upload any more paper LOA" for these Orders</a:t>
                      </a:r>
                    </a:p>
                    <a:p>
                      <a:pPr marL="228600" marR="0" lvl="0" indent="-228600" algn="l">
                        <a:lnSpc>
                          <a:spcPct val="100000"/>
                        </a:lnSpc>
                        <a:spcBef>
                          <a:spcPts val="0"/>
                        </a:spcBef>
                        <a:spcAft>
                          <a:spcPts val="0"/>
                        </a:spcAft>
                        <a:buAutoNum type="arabicParenR"/>
                      </a:pPr>
                      <a:endParaRPr lang="en-GB" sz="1200" b="0" i="0" u="none" strike="noStrike" noProof="0">
                        <a:solidFill>
                          <a:schemeClr val="tx1"/>
                        </a:solidFill>
                        <a:latin typeface="Arial"/>
                      </a:endParaRP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B33C163B-59C9-D7C9-E514-089534F51E85}"/>
              </a:ext>
            </a:extLst>
          </p:cNvPr>
          <p:cNvPicPr>
            <a:picLocks noChangeAspect="1"/>
          </p:cNvPicPr>
          <p:nvPr/>
        </p:nvPicPr>
        <p:blipFill>
          <a:blip r:embed="rId2"/>
          <a:stretch>
            <a:fillRect/>
          </a:stretch>
        </p:blipFill>
        <p:spPr>
          <a:xfrm>
            <a:off x="310195" y="766121"/>
            <a:ext cx="5293542" cy="308696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F17AB3F-6ACF-ACF4-09F0-4FB92C261771}"/>
              </a:ext>
            </a:extLst>
          </p:cNvPr>
          <p:cNvPicPr>
            <a:picLocks noChangeAspect="1"/>
          </p:cNvPicPr>
          <p:nvPr/>
        </p:nvPicPr>
        <p:blipFill>
          <a:blip r:embed="rId3"/>
          <a:stretch>
            <a:fillRect/>
          </a:stretch>
        </p:blipFill>
        <p:spPr>
          <a:xfrm>
            <a:off x="5893698" y="1442491"/>
            <a:ext cx="5765577" cy="3278452"/>
          </a:xfrm>
          <a:prstGeom prst="rect">
            <a:avLst/>
          </a:prstGeom>
        </p:spPr>
      </p:pic>
      <p:sp>
        <p:nvSpPr>
          <p:cNvPr id="9" name="Rectangle: Rounded Corners 8">
            <a:extLst>
              <a:ext uri="{FF2B5EF4-FFF2-40B4-BE49-F238E27FC236}">
                <a16:creationId xmlns:a16="http://schemas.microsoft.com/office/drawing/2014/main" id="{2050952F-4204-3E86-BF13-FDD7FA181384}"/>
              </a:ext>
            </a:extLst>
          </p:cNvPr>
          <p:cNvSpPr/>
          <p:nvPr/>
        </p:nvSpPr>
        <p:spPr>
          <a:xfrm>
            <a:off x="790322" y="2688577"/>
            <a:ext cx="4205160" cy="354702"/>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64B94682-9A5A-DCBF-E1F0-0259287D971C}"/>
              </a:ext>
            </a:extLst>
          </p:cNvPr>
          <p:cNvSpPr/>
          <p:nvPr/>
        </p:nvSpPr>
        <p:spPr>
          <a:xfrm>
            <a:off x="6495206" y="4367674"/>
            <a:ext cx="4528841" cy="347959"/>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3557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6D21A-BF2E-AE2C-A82E-03B731A7D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AE04B-A128-F65F-AD2B-FBEED2FFBC66}"/>
              </a:ext>
            </a:extLst>
          </p:cNvPr>
          <p:cNvSpPr>
            <a:spLocks noGrp="1"/>
          </p:cNvSpPr>
          <p:nvPr>
            <p:ph type="title"/>
          </p:nvPr>
        </p:nvSpPr>
        <p:spPr>
          <a:xfrm>
            <a:off x="312369" y="185921"/>
            <a:ext cx="11864550" cy="584802"/>
          </a:xfrm>
        </p:spPr>
        <p:txBody>
          <a:bodyPr vert="horz" lIns="118872" tIns="59436" rIns="118872" bIns="59436" anchor="t"/>
          <a:lstStyle/>
          <a:p>
            <a:r>
              <a:rPr lang="en-US" sz="2400" dirty="0">
                <a:solidFill>
                  <a:srgbClr val="00B050"/>
                </a:solidFill>
                <a:cs typeface="Arial"/>
              </a:rPr>
              <a:t>Cross Connect – Enhance Customer Experience for Contact Page</a:t>
            </a:r>
          </a:p>
        </p:txBody>
      </p:sp>
      <p:graphicFrame>
        <p:nvGraphicFramePr>
          <p:cNvPr id="5" name="Table 4">
            <a:extLst>
              <a:ext uri="{FF2B5EF4-FFF2-40B4-BE49-F238E27FC236}">
                <a16:creationId xmlns:a16="http://schemas.microsoft.com/office/drawing/2014/main" id="{D42BCC2E-7EAF-3058-A933-2FDA99A5270C}"/>
              </a:ext>
            </a:extLst>
          </p:cNvPr>
          <p:cNvGraphicFramePr>
            <a:graphicFrameLocks noGrp="1"/>
          </p:cNvGraphicFramePr>
          <p:nvPr>
            <p:extLst>
              <p:ext uri="{D42A27DB-BD31-4B8C-83A1-F6EECF244321}">
                <p14:modId xmlns:p14="http://schemas.microsoft.com/office/powerpoint/2010/main" val="2071594592"/>
              </p:ext>
            </p:extLst>
          </p:nvPr>
        </p:nvGraphicFramePr>
        <p:xfrm>
          <a:off x="163726" y="4987870"/>
          <a:ext cx="11864546" cy="1900007"/>
        </p:xfrm>
        <a:graphic>
          <a:graphicData uri="http://schemas.openxmlformats.org/drawingml/2006/table">
            <a:tbl>
              <a:tblPr firstRow="1" bandRow="1">
                <a:tableStyleId>{F5AB1C69-6EDB-4FF4-983F-18BD219EF322}</a:tableStyleId>
              </a:tblPr>
              <a:tblGrid>
                <a:gridCol w="1723972">
                  <a:extLst>
                    <a:ext uri="{9D8B030D-6E8A-4147-A177-3AD203B41FA5}">
                      <a16:colId xmlns:a16="http://schemas.microsoft.com/office/drawing/2014/main" val="20000"/>
                    </a:ext>
                  </a:extLst>
                </a:gridCol>
                <a:gridCol w="1874241">
                  <a:extLst>
                    <a:ext uri="{9D8B030D-6E8A-4147-A177-3AD203B41FA5}">
                      <a16:colId xmlns:a16="http://schemas.microsoft.com/office/drawing/2014/main" val="20001"/>
                    </a:ext>
                  </a:extLst>
                </a:gridCol>
                <a:gridCol w="5908145">
                  <a:extLst>
                    <a:ext uri="{9D8B030D-6E8A-4147-A177-3AD203B41FA5}">
                      <a16:colId xmlns:a16="http://schemas.microsoft.com/office/drawing/2014/main" val="20002"/>
                    </a:ext>
                  </a:extLst>
                </a:gridCol>
                <a:gridCol w="2358188">
                  <a:extLst>
                    <a:ext uri="{9D8B030D-6E8A-4147-A177-3AD203B41FA5}">
                      <a16:colId xmlns:a16="http://schemas.microsoft.com/office/drawing/2014/main" val="20003"/>
                    </a:ext>
                  </a:extLst>
                </a:gridCol>
              </a:tblGrid>
              <a:tr h="322667">
                <a:tc>
                  <a:txBody>
                    <a:bodyPr/>
                    <a:lstStyle/>
                    <a:p>
                      <a:pPr algn="ctr"/>
                      <a:r>
                        <a:rPr lang="en-GB" sz="1200" dirty="0"/>
                        <a:t>ECP/ Operator</a:t>
                      </a:r>
                    </a:p>
                  </a:txBody>
                  <a:tcPr marL="121618" marR="121618" marT="57150" marB="57150" anchor="ctr"/>
                </a:tc>
                <a:tc>
                  <a:txBody>
                    <a:bodyPr/>
                    <a:lstStyle/>
                    <a:p>
                      <a:pPr algn="ctr"/>
                      <a:r>
                        <a:rPr lang="en-GB" sz="1100" dirty="0"/>
                        <a:t>Module</a:t>
                      </a:r>
                    </a:p>
                  </a:txBody>
                  <a:tcPr marL="121618" marR="121618" marT="57150" marB="57150" anchor="ctr"/>
                </a:tc>
                <a:tc>
                  <a:txBody>
                    <a:bodyPr/>
                    <a:lstStyle/>
                    <a:p>
                      <a:pPr algn="ctr"/>
                      <a:r>
                        <a:rPr lang="en-GB" sz="1200" dirty="0"/>
                        <a:t>Detail</a:t>
                      </a:r>
                    </a:p>
                  </a:txBody>
                  <a:tcPr marL="121618" marR="121618" marT="57150" marB="57150" anchor="ctr"/>
                </a:tc>
                <a:tc>
                  <a:txBody>
                    <a:bodyPr/>
                    <a:lstStyle/>
                    <a:p>
                      <a:pPr algn="ctr"/>
                      <a:r>
                        <a:rPr lang="en-GB" sz="1000" dirty="0"/>
                        <a:t>Training</a:t>
                      </a:r>
                      <a:r>
                        <a:rPr lang="en-GB" sz="1000" baseline="0" dirty="0"/>
                        <a:t> &amp; </a:t>
                      </a:r>
                      <a:r>
                        <a:rPr lang="en-GB" sz="1000" dirty="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dirty="0">
                          <a:solidFill>
                            <a:schemeClr val="tx1"/>
                          </a:solidFill>
                        </a:rPr>
                        <a:t>ECP/Operator</a:t>
                      </a:r>
                    </a:p>
                  </a:txBody>
                  <a:tcPr marL="121618" marR="121618" marT="57150" marB="57150" anchor="ctr"/>
                </a:tc>
                <a:tc>
                  <a:txBody>
                    <a:bodyPr/>
                    <a:lstStyle/>
                    <a:p>
                      <a:pPr lvl="0" algn="ctr">
                        <a:buNone/>
                      </a:pPr>
                      <a:r>
                        <a:rPr lang="en-US" sz="1200" dirty="0"/>
                        <a:t>Cross Connect </a:t>
                      </a:r>
                    </a:p>
                  </a:txBody>
                  <a:tcPr marL="121618" marR="121618" marT="57150" marB="57150" anchor="ctr"/>
                </a:tc>
                <a:tc>
                  <a:txBody>
                    <a:bodyPr/>
                    <a:lstStyle/>
                    <a:p>
                      <a:pPr marL="285750" lvl="0" indent="-285750" algn="l">
                        <a:lnSpc>
                          <a:spcPct val="100000"/>
                        </a:lnSpc>
                        <a:spcBef>
                          <a:spcPts val="0"/>
                        </a:spcBef>
                        <a:spcAft>
                          <a:spcPts val="0"/>
                        </a:spcAft>
                        <a:buFont typeface="Arial"/>
                        <a:buChar char="•"/>
                      </a:pPr>
                      <a:endParaRPr lang="en-GB" sz="1200" b="0" i="0" u="none" strike="noStrike" noProof="0">
                        <a:solidFill>
                          <a:schemeClr val="tx1"/>
                        </a:solidFill>
                      </a:endParaRPr>
                    </a:p>
                    <a:p>
                      <a:pPr marL="285750" lvl="0" indent="-285750" algn="l">
                        <a:lnSpc>
                          <a:spcPct val="100000"/>
                        </a:lnSpc>
                        <a:spcBef>
                          <a:spcPts val="0"/>
                        </a:spcBef>
                        <a:spcAft>
                          <a:spcPts val="0"/>
                        </a:spcAft>
                        <a:buFont typeface="Arial"/>
                        <a:buChar char="•"/>
                      </a:pPr>
                      <a:r>
                        <a:rPr lang="en-GB" sz="1200" b="0" i="0" u="none" strike="noStrike" noProof="0" dirty="0">
                          <a:solidFill>
                            <a:schemeClr val="tx1"/>
                          </a:solidFill>
                        </a:rPr>
                        <a:t>By default, the user should see the contact update widget to select “best time to call” rather than clicking on edit and landing in this page.</a:t>
                      </a:r>
                      <a:endParaRPr lang="en-US" dirty="0"/>
                    </a:p>
                    <a:p>
                      <a:pPr marL="285750" lvl="0" indent="-285750" algn="l">
                        <a:lnSpc>
                          <a:spcPct val="100000"/>
                        </a:lnSpc>
                        <a:spcBef>
                          <a:spcPts val="0"/>
                        </a:spcBef>
                        <a:spcAft>
                          <a:spcPts val="0"/>
                        </a:spcAft>
                        <a:buFont typeface="Arial"/>
                        <a:buChar char="•"/>
                      </a:pPr>
                      <a:r>
                        <a:rPr lang="en-GB" sz="1200" b="0" i="0" u="none" strike="noStrike" noProof="0" dirty="0">
                          <a:solidFill>
                            <a:schemeClr val="tx1"/>
                          </a:solidFill>
                        </a:rPr>
                        <a:t>If user do not select any value from the field best time to call, then should  see the error message adjacent to the field itself. “please select a value”</a:t>
                      </a:r>
                      <a:endParaRPr lang="en-GB"/>
                    </a:p>
                    <a:p>
                      <a:pPr marL="285750" lvl="0" indent="-285750" algn="l">
                        <a:lnSpc>
                          <a:spcPct val="100000"/>
                        </a:lnSpc>
                        <a:spcBef>
                          <a:spcPts val="0"/>
                        </a:spcBef>
                        <a:spcAft>
                          <a:spcPts val="0"/>
                        </a:spcAft>
                        <a:buFont typeface="Arial"/>
                        <a:buChar char="•"/>
                      </a:pPr>
                      <a:r>
                        <a:rPr lang="en-GB" sz="1200" b="0" i="0" u="none" strike="noStrike" noProof="0" dirty="0">
                          <a:solidFill>
                            <a:schemeClr val="tx1"/>
                          </a:solidFill>
                        </a:rPr>
                        <a:t>User should not see the message at the bottom of the page, after clicking on Next.</a:t>
                      </a:r>
                      <a:endParaRPr lang="en-GB" dirty="0"/>
                    </a:p>
                    <a:p>
                      <a:pPr marL="228600" marR="0" lvl="0" indent="-228600" algn="l">
                        <a:lnSpc>
                          <a:spcPct val="100000"/>
                        </a:lnSpc>
                        <a:spcBef>
                          <a:spcPts val="0"/>
                        </a:spcBef>
                        <a:spcAft>
                          <a:spcPts val="0"/>
                        </a:spcAft>
                        <a:buAutoNum type="arabicParenR"/>
                      </a:pPr>
                      <a:endParaRPr lang="en-GB" sz="1200" b="0" i="0" u="none" strike="noStrike" noProof="0">
                        <a:solidFill>
                          <a:schemeClr val="tx1"/>
                        </a:solidFill>
                        <a:latin typeface="Arial"/>
                      </a:endParaRPr>
                    </a:p>
                  </a:txBody>
                  <a:tcPr marL="121618" marR="121618" marT="57150" marB="57150" anchor="ctr"/>
                </a:tc>
                <a:tc>
                  <a:txBody>
                    <a:bodyPr/>
                    <a:lstStyle/>
                    <a:p>
                      <a:pPr algn="ctr"/>
                      <a:r>
                        <a:rPr lang="en-GB" sz="1200" b="0" i="0" u="none" strike="noStrike" baseline="0" noProof="0" dirty="0">
                          <a:solidFill>
                            <a:srgbClr val="000000"/>
                          </a:solidFill>
                          <a:latin typeface="Arial"/>
                        </a:rPr>
                        <a:t>CSM Awareness </a:t>
                      </a:r>
                      <a:endParaRPr lang="en-US" sz="1200" b="0" i="0" u="none" strike="noStrike" baseline="0" noProof="0" dirty="0">
                        <a:solidFill>
                          <a:srgbClr val="000000"/>
                        </a:solidFill>
                        <a:latin typeface="Arial"/>
                      </a:endParaRPr>
                    </a:p>
                    <a:p>
                      <a:pPr lvl="0" algn="ctr">
                        <a:buNone/>
                      </a:pPr>
                      <a:r>
                        <a:rPr lang="en-GB" sz="1200" b="0" i="0" u="none" strike="noStrike" baseline="0" noProof="0" dirty="0">
                          <a:solidFill>
                            <a:srgbClr val="000000"/>
                          </a:solidFill>
                          <a:latin typeface="Arial"/>
                        </a:rPr>
                        <a:t>GSD awareness</a:t>
                      </a:r>
                      <a:endParaRPr lang="en-US" sz="1200" b="0" i="0" u="none" strike="noStrike" baseline="0" noProof="0" dirty="0">
                        <a:solidFill>
                          <a:srgbClr val="000000"/>
                        </a:solidFill>
                        <a:latin typeface="Arial"/>
                      </a:endParaRPr>
                    </a:p>
                    <a:p>
                      <a:pPr lvl="0" algn="ctr">
                        <a:buNone/>
                      </a:pPr>
                      <a:r>
                        <a:rPr lang="en-GB" sz="1200" b="0" i="0" u="none" strike="noStrike" baseline="0" noProof="0" dirty="0">
                          <a:solidFill>
                            <a:srgbClr val="000000"/>
                          </a:solidFill>
                          <a:latin typeface="Arial"/>
                        </a:rPr>
                        <a:t>Ops Support awareness</a:t>
                      </a:r>
                      <a:endParaRPr lang="en-GB" dirty="0"/>
                    </a:p>
                    <a:p>
                      <a:pPr lvl="0" algn="ctr">
                        <a:buNone/>
                      </a:pPr>
                      <a:r>
                        <a:rPr lang="en-GB" sz="1200" b="0" i="0" u="none" strike="noStrike" baseline="0" noProof="0" dirty="0">
                          <a:solidFill>
                            <a:srgbClr val="000000"/>
                          </a:solidFill>
                          <a:latin typeface="Arial"/>
                        </a:rPr>
                        <a:t>Sales/AE awareness</a:t>
                      </a:r>
                      <a:endParaRPr lang="en-GB" dirty="0"/>
                    </a:p>
                  </a:txBody>
                  <a:tcPr marL="121618" marR="121618" marT="57150" marB="57150" anchor="ctr"/>
                </a:tc>
                <a:extLst>
                  <a:ext uri="{0D108BD9-81ED-4DB2-BD59-A6C34878D82A}">
                    <a16:rowId xmlns:a16="http://schemas.microsoft.com/office/drawing/2014/main" val="10001"/>
                  </a:ext>
                </a:extLst>
              </a:tr>
            </a:tbl>
          </a:graphicData>
        </a:graphic>
      </p:graphicFrame>
      <p:pic>
        <p:nvPicPr>
          <p:cNvPr id="3" name="Picture 2" descr="A screenshot of a computer&#10;&#10;AI-generated content may be incorrect.">
            <a:extLst>
              <a:ext uri="{FF2B5EF4-FFF2-40B4-BE49-F238E27FC236}">
                <a16:creationId xmlns:a16="http://schemas.microsoft.com/office/drawing/2014/main" id="{3686E9E2-1E38-B6F6-4412-2EF59DB4D27E}"/>
              </a:ext>
            </a:extLst>
          </p:cNvPr>
          <p:cNvPicPr>
            <a:picLocks noChangeAspect="1"/>
          </p:cNvPicPr>
          <p:nvPr/>
        </p:nvPicPr>
        <p:blipFill>
          <a:blip r:embed="rId2"/>
          <a:stretch>
            <a:fillRect/>
          </a:stretch>
        </p:blipFill>
        <p:spPr>
          <a:xfrm>
            <a:off x="310195" y="767074"/>
            <a:ext cx="5300284" cy="2862529"/>
          </a:xfrm>
          <a:prstGeom prst="rect">
            <a:avLst/>
          </a:prstGeom>
        </p:spPr>
      </p:pic>
      <p:pic>
        <p:nvPicPr>
          <p:cNvPr id="4" name="Picture 3" descr="A screenshot of a contact page&#10;&#10;AI-generated content may be incorrect.">
            <a:extLst>
              <a:ext uri="{FF2B5EF4-FFF2-40B4-BE49-F238E27FC236}">
                <a16:creationId xmlns:a16="http://schemas.microsoft.com/office/drawing/2014/main" id="{0465731A-D9E9-8EC7-EBC7-2A2AF971D610}"/>
              </a:ext>
            </a:extLst>
          </p:cNvPr>
          <p:cNvPicPr>
            <a:picLocks noChangeAspect="1"/>
          </p:cNvPicPr>
          <p:nvPr/>
        </p:nvPicPr>
        <p:blipFill>
          <a:blip r:embed="rId3"/>
          <a:stretch>
            <a:fillRect/>
          </a:stretch>
        </p:blipFill>
        <p:spPr>
          <a:xfrm>
            <a:off x="5753166" y="1429591"/>
            <a:ext cx="5932002" cy="3459347"/>
          </a:xfrm>
          <a:prstGeom prst="rect">
            <a:avLst/>
          </a:prstGeom>
        </p:spPr>
      </p:pic>
      <p:sp>
        <p:nvSpPr>
          <p:cNvPr id="6" name="Rectangle: Rounded Corners 5">
            <a:extLst>
              <a:ext uri="{FF2B5EF4-FFF2-40B4-BE49-F238E27FC236}">
                <a16:creationId xmlns:a16="http://schemas.microsoft.com/office/drawing/2014/main" id="{4C5D34F5-D0D8-9404-D2EE-F3769466D199}"/>
              </a:ext>
            </a:extLst>
          </p:cNvPr>
          <p:cNvSpPr/>
          <p:nvPr/>
        </p:nvSpPr>
        <p:spPr>
          <a:xfrm>
            <a:off x="3217933" y="1717534"/>
            <a:ext cx="2512575" cy="900913"/>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A2F6FB32-004C-B5A8-9C7F-2BF97EFC6F85}"/>
              </a:ext>
            </a:extLst>
          </p:cNvPr>
          <p:cNvSpPr/>
          <p:nvPr/>
        </p:nvSpPr>
        <p:spPr>
          <a:xfrm>
            <a:off x="6476241" y="3977824"/>
            <a:ext cx="3780328" cy="873939"/>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527DAB3-49E8-44D9-C67D-73E17ED47A5F}"/>
              </a:ext>
            </a:extLst>
          </p:cNvPr>
          <p:cNvSpPr txBox="1"/>
          <p:nvPr/>
        </p:nvSpPr>
        <p:spPr>
          <a:xfrm>
            <a:off x="2227121" y="4139991"/>
            <a:ext cx="28856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Arial"/>
              </a:rPr>
              <a:t>This message section will be removed</a:t>
            </a:r>
            <a:endParaRPr lang="en-GB"/>
          </a:p>
        </p:txBody>
      </p:sp>
      <p:cxnSp>
        <p:nvCxnSpPr>
          <p:cNvPr id="14" name="Straight Arrow Connector 13">
            <a:extLst>
              <a:ext uri="{FF2B5EF4-FFF2-40B4-BE49-F238E27FC236}">
                <a16:creationId xmlns:a16="http://schemas.microsoft.com/office/drawing/2014/main" id="{AA7508C9-87DB-2597-4222-72D42241C006}"/>
              </a:ext>
            </a:extLst>
          </p:cNvPr>
          <p:cNvCxnSpPr/>
          <p:nvPr/>
        </p:nvCxnSpPr>
        <p:spPr>
          <a:xfrm>
            <a:off x="4908832" y="4305299"/>
            <a:ext cx="1561760" cy="91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F26521A-5C59-633F-6B2B-9F1B64405865}"/>
              </a:ext>
            </a:extLst>
          </p:cNvPr>
          <p:cNvCxnSpPr/>
          <p:nvPr/>
        </p:nvCxnSpPr>
        <p:spPr>
          <a:xfrm flipV="1">
            <a:off x="5355159" y="1114255"/>
            <a:ext cx="1710113" cy="143903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CEE6889-E682-1CAB-9E7C-18CB95DF84D5}"/>
              </a:ext>
            </a:extLst>
          </p:cNvPr>
          <p:cNvSpPr txBox="1"/>
          <p:nvPr/>
        </p:nvSpPr>
        <p:spPr>
          <a:xfrm>
            <a:off x="6917529" y="755419"/>
            <a:ext cx="40211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Arial"/>
              </a:rPr>
              <a:t>Error message will display here if user does not select the value</a:t>
            </a:r>
            <a:endParaRPr lang="en-GB"/>
          </a:p>
        </p:txBody>
      </p:sp>
    </p:spTree>
    <p:extLst>
      <p:ext uri="{BB962C8B-B14F-4D97-AF65-F5344CB8AC3E}">
        <p14:creationId xmlns:p14="http://schemas.microsoft.com/office/powerpoint/2010/main" val="2296135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E339B-9BAA-7578-D323-9368F3865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7ADF1-9569-D26A-582B-6A84537D5703}"/>
              </a:ext>
            </a:extLst>
          </p:cNvPr>
          <p:cNvSpPr>
            <a:spLocks noGrp="1"/>
          </p:cNvSpPr>
          <p:nvPr>
            <p:ph type="title"/>
          </p:nvPr>
        </p:nvSpPr>
        <p:spPr>
          <a:xfrm>
            <a:off x="312369" y="185921"/>
            <a:ext cx="11864550" cy="584802"/>
          </a:xfrm>
        </p:spPr>
        <p:txBody>
          <a:bodyPr vert="horz" lIns="118872" tIns="59436" rIns="118872" bIns="59436" anchor="t"/>
          <a:lstStyle/>
          <a:p>
            <a:r>
              <a:rPr lang="en-US" sz="2400" dirty="0">
                <a:solidFill>
                  <a:schemeClr val="accent3"/>
                </a:solidFill>
                <a:cs typeface="Arial"/>
              </a:rPr>
              <a:t>Cross Connect – Package Dashboard detailed View – Patch Release</a:t>
            </a:r>
          </a:p>
        </p:txBody>
      </p:sp>
      <p:graphicFrame>
        <p:nvGraphicFramePr>
          <p:cNvPr id="5" name="Table 4">
            <a:extLst>
              <a:ext uri="{FF2B5EF4-FFF2-40B4-BE49-F238E27FC236}">
                <a16:creationId xmlns:a16="http://schemas.microsoft.com/office/drawing/2014/main" id="{AB12D20C-3CDD-F533-C0BF-EFF6BF659C70}"/>
              </a:ext>
            </a:extLst>
          </p:cNvPr>
          <p:cNvGraphicFramePr>
            <a:graphicFrameLocks noGrp="1"/>
          </p:cNvGraphicFramePr>
          <p:nvPr>
            <p:extLst>
              <p:ext uri="{D42A27DB-BD31-4B8C-83A1-F6EECF244321}">
                <p14:modId xmlns:p14="http://schemas.microsoft.com/office/powerpoint/2010/main" val="1851230218"/>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ECP/Operator</a:t>
                      </a:r>
                    </a:p>
                  </a:txBody>
                  <a:tcPr marL="121618" marR="121618" marT="57150" marB="57150" anchor="ctr"/>
                </a:tc>
                <a:tc>
                  <a:txBody>
                    <a:bodyPr/>
                    <a:lstStyle/>
                    <a:p>
                      <a:pPr lvl="0" algn="ctr">
                        <a:buNone/>
                      </a:pPr>
                      <a:r>
                        <a:rPr lang="en-US" sz="1200"/>
                        <a:t>Cross Connect  - Inventory - Package</a:t>
                      </a:r>
                    </a:p>
                  </a:txBody>
                  <a:tcPr marL="121618" marR="121618" marT="57150" marB="57150" anchor="ctr"/>
                </a:tc>
                <a:tc>
                  <a:txBody>
                    <a:bodyPr/>
                    <a:lstStyle/>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User can access the detailed view of the package.</a:t>
                      </a:r>
                    </a:p>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This will provide the insight of individual cross connect orders associated with the package.</a:t>
                      </a:r>
                    </a:p>
                    <a:p>
                      <a:pPr marL="0" lvl="0" indent="0" algn="l">
                        <a:lnSpc>
                          <a:spcPct val="100000"/>
                        </a:lnSpc>
                        <a:spcBef>
                          <a:spcPts val="0"/>
                        </a:spcBef>
                        <a:spcAft>
                          <a:spcPts val="0"/>
                        </a:spcAft>
                        <a:buNone/>
                      </a:pPr>
                      <a:endParaRPr lang="en-GB" sz="1200" b="0" i="0" u="none" strike="noStrike" noProof="0">
                        <a:solidFill>
                          <a:schemeClr val="tx1"/>
                        </a:solidFill>
                      </a:endParaRPr>
                    </a:p>
                    <a:p>
                      <a:pPr marL="0" marR="0" lvl="0" indent="0" algn="l">
                        <a:lnSpc>
                          <a:spcPct val="100000"/>
                        </a:lnSpc>
                        <a:spcBef>
                          <a:spcPts val="0"/>
                        </a:spcBef>
                        <a:spcAft>
                          <a:spcPts val="0"/>
                        </a:spcAft>
                        <a:buNone/>
                      </a:pPr>
                      <a:endParaRPr lang="en-GB" sz="1200" b="0" i="0" u="none" strike="noStrike" noProof="0">
                        <a:solidFill>
                          <a:schemeClr val="tx1"/>
                        </a:solidFill>
                        <a:latin typeface="Arial"/>
                      </a:endParaRPr>
                    </a:p>
                    <a:p>
                      <a:pPr marL="228600" marR="0" lvl="0" indent="-228600" algn="l">
                        <a:lnSpc>
                          <a:spcPct val="100000"/>
                        </a:lnSpc>
                        <a:spcBef>
                          <a:spcPts val="0"/>
                        </a:spcBef>
                        <a:spcAft>
                          <a:spcPts val="0"/>
                        </a:spcAft>
                        <a:buAutoNum type="arabicParenR"/>
                      </a:pPr>
                      <a:endParaRPr lang="en-GB" sz="1200" b="0" i="0" u="none" strike="noStrike" noProof="0">
                        <a:solidFill>
                          <a:schemeClr val="tx1"/>
                        </a:solidFill>
                        <a:latin typeface="Arial"/>
                      </a:endParaRP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9CD9ADDA-1939-BC37-6CB9-20827C723201}"/>
              </a:ext>
            </a:extLst>
          </p:cNvPr>
          <p:cNvPicPr>
            <a:picLocks noChangeAspect="1"/>
          </p:cNvPicPr>
          <p:nvPr/>
        </p:nvPicPr>
        <p:blipFill>
          <a:blip r:embed="rId2"/>
          <a:stretch>
            <a:fillRect/>
          </a:stretch>
        </p:blipFill>
        <p:spPr>
          <a:xfrm>
            <a:off x="982572" y="647363"/>
            <a:ext cx="5371636" cy="3978585"/>
          </a:xfrm>
          <a:prstGeom prst="rect">
            <a:avLst/>
          </a:prstGeom>
        </p:spPr>
      </p:pic>
      <p:sp>
        <p:nvSpPr>
          <p:cNvPr id="4" name="TextBox 3">
            <a:extLst>
              <a:ext uri="{FF2B5EF4-FFF2-40B4-BE49-F238E27FC236}">
                <a16:creationId xmlns:a16="http://schemas.microsoft.com/office/drawing/2014/main" id="{DC00307C-5E11-7CC9-AFB6-43AD45B3888F}"/>
              </a:ext>
            </a:extLst>
          </p:cNvPr>
          <p:cNvSpPr txBox="1"/>
          <p:nvPr/>
        </p:nvSpPr>
        <p:spPr>
          <a:xfrm>
            <a:off x="6781556" y="1303148"/>
            <a:ext cx="4127674" cy="1754326"/>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accent3"/>
                </a:solidFill>
                <a:cs typeface="Arial"/>
              </a:rPr>
              <a:t> Due to Data error in the existing records, this feature can be deployed to production once confirmed by Billing team about the data correction – Target is by end of May 25 (Part of Patch Release)</a:t>
            </a:r>
            <a:endParaRPr lang="en-GB" sz="2800" b="1" dirty="0">
              <a:solidFill>
                <a:schemeClr val="accent3"/>
              </a:solidFill>
              <a:cs typeface="Arial"/>
            </a:endParaRPr>
          </a:p>
        </p:txBody>
      </p:sp>
    </p:spTree>
    <p:extLst>
      <p:ext uri="{BB962C8B-B14F-4D97-AF65-F5344CB8AC3E}">
        <p14:creationId xmlns:p14="http://schemas.microsoft.com/office/powerpoint/2010/main" val="536689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7488A-BDD4-BB5C-E299-6A20260D1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59F345-D16C-EC2A-224B-F0BA86BD96FE}"/>
              </a:ext>
            </a:extLst>
          </p:cNvPr>
          <p:cNvSpPr>
            <a:spLocks noGrp="1"/>
          </p:cNvSpPr>
          <p:nvPr>
            <p:ph type="title"/>
          </p:nvPr>
        </p:nvSpPr>
        <p:spPr>
          <a:xfrm>
            <a:off x="312369" y="185921"/>
            <a:ext cx="11864550" cy="584802"/>
          </a:xfrm>
        </p:spPr>
        <p:txBody>
          <a:bodyPr vert="horz" lIns="118872" tIns="59436" rIns="118872" bIns="59436" anchor="t"/>
          <a:lstStyle/>
          <a:p>
            <a:r>
              <a:rPr lang="en-US" sz="2400">
                <a:cs typeface="Arial"/>
              </a:rPr>
              <a:t>Cross Connect – Internal Orgs – Sunset of Classic Experience</a:t>
            </a:r>
          </a:p>
        </p:txBody>
      </p:sp>
      <p:graphicFrame>
        <p:nvGraphicFramePr>
          <p:cNvPr id="5" name="Table 4">
            <a:extLst>
              <a:ext uri="{FF2B5EF4-FFF2-40B4-BE49-F238E27FC236}">
                <a16:creationId xmlns:a16="http://schemas.microsoft.com/office/drawing/2014/main" id="{EFC16266-5AD7-CB74-C2D3-F046BE57D4CB}"/>
              </a:ext>
            </a:extLst>
          </p:cNvPr>
          <p:cNvGraphicFramePr>
            <a:graphicFrameLocks noGrp="1"/>
          </p:cNvGraphicFramePr>
          <p:nvPr>
            <p:extLst>
              <p:ext uri="{D42A27DB-BD31-4B8C-83A1-F6EECF244321}">
                <p14:modId xmlns:p14="http://schemas.microsoft.com/office/powerpoint/2010/main" val="3824075103"/>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ECP/Operator</a:t>
                      </a:r>
                    </a:p>
                  </a:txBody>
                  <a:tcPr marL="121618" marR="121618" marT="57150" marB="57150" anchor="ctr"/>
                </a:tc>
                <a:tc>
                  <a:txBody>
                    <a:bodyPr/>
                    <a:lstStyle/>
                    <a:p>
                      <a:pPr lvl="0" algn="ctr">
                        <a:buNone/>
                      </a:pPr>
                      <a:r>
                        <a:rPr lang="en-US" sz="1200"/>
                        <a:t>Cross Connect  - Classic CC Sunset</a:t>
                      </a:r>
                    </a:p>
                  </a:txBody>
                  <a:tcPr marL="121618" marR="121618" marT="57150" marB="57150" anchor="ctr"/>
                </a:tc>
                <a:tc>
                  <a:txBody>
                    <a:bodyPr/>
                    <a:lstStyle/>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Classic CC Sunset of the Internal Orgs</a:t>
                      </a:r>
                    </a:p>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We provided co </a:t>
                      </a:r>
                      <a:r>
                        <a:rPr lang="en-GB" sz="1200" b="0" i="0" u="none" strike="noStrike" noProof="0" err="1">
                          <a:solidFill>
                            <a:schemeClr val="tx1"/>
                          </a:solidFill>
                        </a:rPr>
                        <a:t>existance</a:t>
                      </a:r>
                      <a:r>
                        <a:rPr lang="en-GB" sz="1200" b="0" i="0" u="none" strike="noStrike" noProof="0">
                          <a:solidFill>
                            <a:schemeClr val="tx1"/>
                          </a:solidFill>
                        </a:rPr>
                        <a:t> experience – In the scenario of back up customer support</a:t>
                      </a:r>
                    </a:p>
                    <a:p>
                      <a:pPr marL="0" lvl="0" indent="0" algn="l">
                        <a:lnSpc>
                          <a:spcPct val="100000"/>
                        </a:lnSpc>
                        <a:spcBef>
                          <a:spcPts val="0"/>
                        </a:spcBef>
                        <a:spcAft>
                          <a:spcPts val="0"/>
                        </a:spcAft>
                        <a:buNone/>
                      </a:pPr>
                      <a:endParaRPr lang="en-GB" sz="1200" b="0" i="0" u="none" strike="noStrike" noProof="0">
                        <a:solidFill>
                          <a:schemeClr val="tx1"/>
                        </a:solidFill>
                      </a:endParaRPr>
                    </a:p>
                    <a:p>
                      <a:pPr marL="0" marR="0" lvl="0" indent="0" algn="l">
                        <a:lnSpc>
                          <a:spcPct val="100000"/>
                        </a:lnSpc>
                        <a:spcBef>
                          <a:spcPts val="0"/>
                        </a:spcBef>
                        <a:spcAft>
                          <a:spcPts val="0"/>
                        </a:spcAft>
                        <a:buNone/>
                      </a:pPr>
                      <a:endParaRPr lang="en-GB" sz="1200" b="0" i="0" u="none" strike="noStrike" noProof="0">
                        <a:solidFill>
                          <a:schemeClr val="tx1"/>
                        </a:solidFill>
                        <a:latin typeface="Arial"/>
                      </a:endParaRPr>
                    </a:p>
                    <a:p>
                      <a:pPr marL="228600" marR="0" lvl="0" indent="-228600" algn="l">
                        <a:lnSpc>
                          <a:spcPct val="100000"/>
                        </a:lnSpc>
                        <a:spcBef>
                          <a:spcPts val="0"/>
                        </a:spcBef>
                        <a:spcAft>
                          <a:spcPts val="0"/>
                        </a:spcAft>
                        <a:buAutoNum type="arabicParenR"/>
                      </a:pPr>
                      <a:endParaRPr lang="en-GB" sz="1200" b="0" i="0" u="none" strike="noStrike" noProof="0">
                        <a:solidFill>
                          <a:schemeClr val="tx1"/>
                        </a:solidFill>
                        <a:latin typeface="Arial"/>
                      </a:endParaRP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67150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6D411-2335-E013-2949-FAD8B30CF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B4A4B-EAC2-B54C-97B6-F85B03BAF383}"/>
              </a:ext>
            </a:extLst>
          </p:cNvPr>
          <p:cNvSpPr>
            <a:spLocks noGrp="1"/>
          </p:cNvSpPr>
          <p:nvPr>
            <p:ph type="title"/>
          </p:nvPr>
        </p:nvSpPr>
        <p:spPr>
          <a:xfrm>
            <a:off x="312369" y="185921"/>
            <a:ext cx="11864550" cy="584802"/>
          </a:xfrm>
        </p:spPr>
        <p:txBody>
          <a:bodyPr vert="horz" lIns="118872" tIns="59436" rIns="118872" bIns="59436" anchor="t"/>
          <a:lstStyle/>
          <a:p>
            <a:pPr>
              <a:spcBef>
                <a:spcPts val="0"/>
              </a:spcBef>
              <a:defRPr/>
            </a:pPr>
            <a:r>
              <a:rPr lang="en-US" sz="2400"/>
              <a:t>Inventory/Install Base: Fabric assets data attribute mapping</a:t>
            </a:r>
            <a:endParaRPr lang="en-SG" sz="2400"/>
          </a:p>
        </p:txBody>
      </p:sp>
      <p:graphicFrame>
        <p:nvGraphicFramePr>
          <p:cNvPr id="5" name="Table 4">
            <a:extLst>
              <a:ext uri="{FF2B5EF4-FFF2-40B4-BE49-F238E27FC236}">
                <a16:creationId xmlns:a16="http://schemas.microsoft.com/office/drawing/2014/main" id="{6A2B3FAF-7AB7-8786-58BE-887B617F52C1}"/>
              </a:ext>
            </a:extLst>
          </p:cNvPr>
          <p:cNvGraphicFramePr>
            <a:graphicFrameLocks noGrp="1"/>
          </p:cNvGraphicFramePr>
          <p:nvPr/>
        </p:nvGraphicFramePr>
        <p:xfrm>
          <a:off x="163726" y="4901168"/>
          <a:ext cx="11864549" cy="1691640"/>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194268">
                <a:tc>
                  <a:txBody>
                    <a:bodyPr/>
                    <a:lstStyle/>
                    <a:p>
                      <a:pPr algn="ctr"/>
                      <a:r>
                        <a:rPr lang="en-GB" sz="1200"/>
                        <a:t>ECP/ CSC</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274885">
                <a:tc>
                  <a:txBody>
                    <a:bodyPr/>
                    <a:lstStyle/>
                    <a:p>
                      <a:pPr algn="ctr"/>
                      <a:r>
                        <a:rPr lang="en-GB" sz="1200">
                          <a:solidFill>
                            <a:schemeClr val="tx1"/>
                          </a:solidFill>
                        </a:rPr>
                        <a:t>ECP </a:t>
                      </a:r>
                    </a:p>
                  </a:txBody>
                  <a:tcPr marL="121618" marR="121618" marT="57150" marB="5715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200" b="0"/>
                        <a:t>Inventory</a:t>
                      </a:r>
                      <a:r>
                        <a:rPr lang="en-SG" sz="1200" b="0" i="0"/>
                        <a:t> / Install Base</a:t>
                      </a:r>
                      <a:endParaRPr lang="en-SG" sz="1200" b="0"/>
                    </a:p>
                  </a:txBody>
                  <a:tcPr marL="121618" marR="121618" marT="57150" marB="57150" anchor="ct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Refer to table above</a:t>
                      </a:r>
                    </a:p>
                  </a:txBody>
                  <a:tcPr marL="121618" marR="121618" marT="57150" marB="57150" anchor="ctr"/>
                </a:tc>
                <a:tc>
                  <a:txBody>
                    <a:bodyPr/>
                    <a:lstStyle/>
                    <a:p>
                      <a:pPr algn="ctr"/>
                      <a:r>
                        <a:rPr lang="en-GB" sz="1200"/>
                        <a:t>CSM </a:t>
                      </a:r>
                      <a:r>
                        <a:rPr lang="en-GB" sz="1200" baseline="0"/>
                        <a:t>Awareness </a:t>
                      </a:r>
                    </a:p>
                    <a:p>
                      <a:pPr algn="ctr"/>
                      <a:endParaRPr lang="en-GB" sz="1200" baseline="0"/>
                    </a:p>
                    <a:p>
                      <a:pPr algn="ctr"/>
                      <a:r>
                        <a:rPr lang="en-GB" sz="1200" baseline="0"/>
                        <a:t>GSD awareness</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GB" sz="1200" baseline="0"/>
                    </a:p>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baseline="0"/>
                        <a:t>Ops Support awareness</a:t>
                      </a:r>
                    </a:p>
                    <a:p>
                      <a:pPr algn="ctr"/>
                      <a:endParaRPr lang="en-GB" sz="1200" baseline="0"/>
                    </a:p>
                    <a:p>
                      <a:pPr algn="ctr"/>
                      <a:r>
                        <a:rPr lang="en-GB" sz="1200" baseline="0"/>
                        <a:t>Sales/ SE awareness</a:t>
                      </a:r>
                    </a:p>
                  </a:txBody>
                  <a:tcPr marL="121618" marR="121618" marT="57150" marB="57150"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79CDABA-A30F-D741-53C9-C7235A7C08B5}"/>
              </a:ext>
            </a:extLst>
          </p:cNvPr>
          <p:cNvSpPr txBox="1"/>
          <p:nvPr/>
        </p:nvSpPr>
        <p:spPr>
          <a:xfrm>
            <a:off x="348721" y="624908"/>
            <a:ext cx="10050637" cy="646331"/>
          </a:xfrm>
          <a:prstGeom prst="rect">
            <a:avLst/>
          </a:prstGeom>
          <a:noFill/>
        </p:spPr>
        <p:txBody>
          <a:bodyPr wrap="square" lIns="91440" tIns="45720" rIns="91440" bIns="45720" rtlCol="0" anchor="t">
            <a:spAutoFit/>
          </a:bodyPr>
          <a:lstStyle/>
          <a:p>
            <a:r>
              <a:rPr lang="en-US" sz="1800"/>
              <a:t>‘Bandwidth’ label was inaccurate and created confusion for customers for following Fabric Assets.</a:t>
            </a:r>
          </a:p>
          <a:p>
            <a:r>
              <a:rPr lang="en-US" sz="1800"/>
              <a:t>Summary of changes made to Siebel to ECP data attribute mapping:</a:t>
            </a:r>
            <a:endParaRPr lang="en-US" sz="1800">
              <a:cs typeface="Arial"/>
            </a:endParaRPr>
          </a:p>
        </p:txBody>
      </p:sp>
      <p:graphicFrame>
        <p:nvGraphicFramePr>
          <p:cNvPr id="6" name="Table 5">
            <a:extLst>
              <a:ext uri="{FF2B5EF4-FFF2-40B4-BE49-F238E27FC236}">
                <a16:creationId xmlns:a16="http://schemas.microsoft.com/office/drawing/2014/main" id="{3AC44F64-95C8-D434-7F2C-0BF31972F6DD}"/>
              </a:ext>
            </a:extLst>
          </p:cNvPr>
          <p:cNvGraphicFramePr>
            <a:graphicFrameLocks noGrp="1"/>
          </p:cNvGraphicFramePr>
          <p:nvPr/>
        </p:nvGraphicFramePr>
        <p:xfrm>
          <a:off x="348721" y="1417472"/>
          <a:ext cx="11579321" cy="3296920"/>
        </p:xfrm>
        <a:graphic>
          <a:graphicData uri="http://schemas.openxmlformats.org/drawingml/2006/table">
            <a:tbl>
              <a:tblPr firstRow="1" bandRow="1">
                <a:tableStyleId>{5C22544A-7EE6-4342-B048-85BDC9FD1C3A}</a:tableStyleId>
              </a:tblPr>
              <a:tblGrid>
                <a:gridCol w="1929887">
                  <a:extLst>
                    <a:ext uri="{9D8B030D-6E8A-4147-A177-3AD203B41FA5}">
                      <a16:colId xmlns:a16="http://schemas.microsoft.com/office/drawing/2014/main" val="48262976"/>
                    </a:ext>
                  </a:extLst>
                </a:gridCol>
                <a:gridCol w="1519875">
                  <a:extLst>
                    <a:ext uri="{9D8B030D-6E8A-4147-A177-3AD203B41FA5}">
                      <a16:colId xmlns:a16="http://schemas.microsoft.com/office/drawing/2014/main" val="625306031"/>
                    </a:ext>
                  </a:extLst>
                </a:gridCol>
                <a:gridCol w="2089365">
                  <a:extLst>
                    <a:ext uri="{9D8B030D-6E8A-4147-A177-3AD203B41FA5}">
                      <a16:colId xmlns:a16="http://schemas.microsoft.com/office/drawing/2014/main" val="2745413056"/>
                    </a:ext>
                  </a:extLst>
                </a:gridCol>
                <a:gridCol w="2305319">
                  <a:extLst>
                    <a:ext uri="{9D8B030D-6E8A-4147-A177-3AD203B41FA5}">
                      <a16:colId xmlns:a16="http://schemas.microsoft.com/office/drawing/2014/main" val="3426008254"/>
                    </a:ext>
                  </a:extLst>
                </a:gridCol>
                <a:gridCol w="1352281">
                  <a:extLst>
                    <a:ext uri="{9D8B030D-6E8A-4147-A177-3AD203B41FA5}">
                      <a16:colId xmlns:a16="http://schemas.microsoft.com/office/drawing/2014/main" val="1853116963"/>
                    </a:ext>
                  </a:extLst>
                </a:gridCol>
                <a:gridCol w="2382594">
                  <a:extLst>
                    <a:ext uri="{9D8B030D-6E8A-4147-A177-3AD203B41FA5}">
                      <a16:colId xmlns:a16="http://schemas.microsoft.com/office/drawing/2014/main" val="1836268161"/>
                    </a:ext>
                  </a:extLst>
                </a:gridCol>
              </a:tblGrid>
              <a:tr h="370840">
                <a:tc>
                  <a:txBody>
                    <a:bodyPr/>
                    <a:lstStyle/>
                    <a:p>
                      <a:endParaRPr lang="en-US"/>
                    </a:p>
                  </a:txBody>
                  <a:tcPr/>
                </a:tc>
                <a:tc>
                  <a:txBody>
                    <a:bodyPr/>
                    <a:lstStyle/>
                    <a:p>
                      <a:r>
                        <a:rPr lang="en-US" sz="1200"/>
                        <a:t>Siebel Attribute</a:t>
                      </a:r>
                    </a:p>
                  </a:txBody>
                  <a:tcPr/>
                </a:tc>
                <a:tc>
                  <a:txBody>
                    <a:bodyPr/>
                    <a:lstStyle/>
                    <a:p>
                      <a:r>
                        <a:rPr lang="en-US" sz="1200"/>
                        <a:t>Inventory UI</a:t>
                      </a:r>
                    </a:p>
                  </a:txBody>
                  <a:tcPr/>
                </a:tc>
                <a:tc>
                  <a:txBody>
                    <a:bodyPr/>
                    <a:lstStyle/>
                    <a:p>
                      <a:r>
                        <a:rPr lang="en-US" sz="1200"/>
                        <a:t>Inventory Report</a:t>
                      </a:r>
                    </a:p>
                  </a:txBody>
                  <a:tcPr/>
                </a:tc>
                <a:tc>
                  <a:txBody>
                    <a:bodyPr/>
                    <a:lstStyle/>
                    <a:p>
                      <a:r>
                        <a:rPr lang="en-US" sz="1200"/>
                        <a:t>Install Base UI</a:t>
                      </a:r>
                    </a:p>
                  </a:txBody>
                  <a:tcPr/>
                </a:tc>
                <a:tc>
                  <a:txBody>
                    <a:bodyPr/>
                    <a:lstStyle/>
                    <a:p>
                      <a:r>
                        <a:rPr lang="en-US" sz="1200"/>
                        <a:t>Install Base Report</a:t>
                      </a:r>
                    </a:p>
                  </a:txBody>
                  <a:tcPr/>
                </a:tc>
                <a:extLst>
                  <a:ext uri="{0D108BD9-81ED-4DB2-BD59-A6C34878D82A}">
                    <a16:rowId xmlns:a16="http://schemas.microsoft.com/office/drawing/2014/main" val="1794933034"/>
                  </a:ext>
                </a:extLst>
              </a:tr>
              <a:tr h="370840">
                <a:tc>
                  <a:txBody>
                    <a:bodyPr/>
                    <a:lstStyle/>
                    <a:p>
                      <a:pPr marL="0" algn="l" defTabSz="457200" rtl="0" eaLnBrk="1" latinLnBrk="0" hangingPunct="1"/>
                      <a:r>
                        <a:rPr lang="en-US" sz="1200" b="1" kern="1200">
                          <a:solidFill>
                            <a:schemeClr val="lt1"/>
                          </a:solidFill>
                          <a:latin typeface="+mn-lt"/>
                          <a:ea typeface="+mn-ea"/>
                          <a:cs typeface="+mn-cs"/>
                        </a:rPr>
                        <a:t>ECX00002.ELEM </a:t>
                      </a:r>
                    </a:p>
                    <a:p>
                      <a:pPr marL="0" algn="l" defTabSz="457200" rtl="0" eaLnBrk="1" latinLnBrk="0" hangingPunct="1"/>
                      <a:r>
                        <a:rPr lang="en-US" sz="1200" b="1" kern="1200">
                          <a:solidFill>
                            <a:schemeClr val="lt1"/>
                          </a:solidFill>
                          <a:latin typeface="+mn-lt"/>
                          <a:ea typeface="+mn-ea"/>
                          <a:cs typeface="+mn-cs"/>
                        </a:rPr>
                        <a:t>Fabric Connection</a:t>
                      </a:r>
                    </a:p>
                  </a:txBody>
                  <a:tcPr>
                    <a:solidFill>
                      <a:srgbClr val="8A8C8E"/>
                    </a:solidFill>
                  </a:tcPr>
                </a:tc>
                <a:tc>
                  <a:txBody>
                    <a:bodyPr/>
                    <a:lstStyle/>
                    <a:p>
                      <a:r>
                        <a:rPr lang="en-US" sz="1200">
                          <a:latin typeface="Andale Mono" panose="020B0509000000000004" pitchFamily="49" charset="0"/>
                        </a:rPr>
                        <a:t>Rate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No change - kept mapping to Rate</a:t>
                      </a:r>
                    </a:p>
                  </a:txBody>
                  <a:tcPr/>
                </a:tc>
                <a:tc>
                  <a:txBody>
                    <a:bodyPr/>
                    <a:lstStyle/>
                    <a:p>
                      <a:pPr marL="228600" indent="-228600">
                        <a:buAutoNum type="arabicPeriod"/>
                      </a:pPr>
                      <a:r>
                        <a:rPr lang="en-US" sz="1200"/>
                        <a:t>Unmapped from Bandwidth</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a:t>Kept mapping to Rate (No change)</a:t>
                      </a:r>
                    </a:p>
                  </a:txBody>
                  <a:tcPr/>
                </a:tc>
                <a:tc>
                  <a:txBody>
                    <a:bodyPr/>
                    <a:lstStyle/>
                    <a:p>
                      <a:r>
                        <a:rPr lang="en-US" sz="1200"/>
                        <a:t>No change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Unmapped from Bandwidth</a:t>
                      </a:r>
                    </a:p>
                  </a:txBody>
                  <a:tcPr/>
                </a:tc>
                <a:extLst>
                  <a:ext uri="{0D108BD9-81ED-4DB2-BD59-A6C34878D82A}">
                    <a16:rowId xmlns:a16="http://schemas.microsoft.com/office/drawing/2014/main" val="2535988826"/>
                  </a:ext>
                </a:extLst>
              </a:tr>
              <a:tr h="370840">
                <a:tc>
                  <a:txBody>
                    <a:bodyPr/>
                    <a:lstStyle/>
                    <a:p>
                      <a:pPr marL="0" algn="l" defTabSz="457200" rtl="0" eaLnBrk="1" latinLnBrk="0" hangingPunct="1"/>
                      <a:r>
                        <a:rPr lang="en-US" sz="1200" b="1" kern="1200">
                          <a:solidFill>
                            <a:schemeClr val="lt1"/>
                          </a:solidFill>
                          <a:latin typeface="+mn-lt"/>
                          <a:ea typeface="+mn-ea"/>
                          <a:cs typeface="+mn-cs"/>
                        </a:rPr>
                        <a:t>ECX00003.ELEM </a:t>
                      </a:r>
                    </a:p>
                    <a:p>
                      <a:pPr marL="0" algn="l" defTabSz="457200" rtl="0" eaLnBrk="1" latinLnBrk="0" hangingPunct="1"/>
                      <a:r>
                        <a:rPr lang="en-US" sz="1200" b="1" kern="1200">
                          <a:solidFill>
                            <a:schemeClr val="lt1"/>
                          </a:solidFill>
                          <a:latin typeface="+mn-lt"/>
                          <a:ea typeface="+mn-ea"/>
                          <a:cs typeface="+mn-cs"/>
                        </a:rPr>
                        <a:t>Fabric Service Provider</a:t>
                      </a:r>
                    </a:p>
                  </a:txBody>
                  <a:tcPr>
                    <a:solidFill>
                      <a:srgbClr val="8A8C8E"/>
                    </a:solidFill>
                  </a:tcPr>
                </a:tc>
                <a:tc>
                  <a:txBody>
                    <a:bodyPr/>
                    <a:lstStyle/>
                    <a:p>
                      <a:r>
                        <a:rPr lang="en-US" sz="1200">
                          <a:latin typeface="Andale Mono" panose="020B0509000000000004" pitchFamily="49" charset="0"/>
                        </a:rPr>
                        <a:t>Rate</a:t>
                      </a:r>
                      <a:endParaRPr lang="en-US" sz="120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No change - kept mapping to Rate</a:t>
                      </a:r>
                    </a:p>
                  </a:txBody>
                  <a:tcPr/>
                </a:tc>
                <a:tc>
                  <a:txBody>
                    <a:bodyPr/>
                    <a:lstStyle/>
                    <a:p>
                      <a:pPr marL="228600" indent="-228600">
                        <a:buAutoNum type="arabicPeriod"/>
                      </a:pPr>
                      <a:r>
                        <a:rPr lang="en-US" sz="1200"/>
                        <a:t>Unmapped from Bandwidth</a:t>
                      </a:r>
                    </a:p>
                    <a:p>
                      <a:pPr marL="228600" indent="-228600">
                        <a:buFont typeface="+mj-lt"/>
                        <a:buAutoNum type="arabicPeriod"/>
                      </a:pPr>
                      <a:r>
                        <a:rPr lang="en-US" sz="1200"/>
                        <a:t>Kept mapping to Rate (No change)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No change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Unmapped from Bandwidth</a:t>
                      </a:r>
                    </a:p>
                  </a:txBody>
                  <a:tcPr/>
                </a:tc>
                <a:extLst>
                  <a:ext uri="{0D108BD9-81ED-4DB2-BD59-A6C34878D82A}">
                    <a16:rowId xmlns:a16="http://schemas.microsoft.com/office/drawing/2014/main" val="1160736843"/>
                  </a:ext>
                </a:extLst>
              </a:tr>
              <a:tr h="370840">
                <a:tc>
                  <a:txBody>
                    <a:bodyPr/>
                    <a:lstStyle/>
                    <a:p>
                      <a:pPr marL="0" algn="l" defTabSz="457200" rtl="0" eaLnBrk="1" latinLnBrk="0" hangingPunct="1"/>
                      <a:r>
                        <a:rPr lang="en-US" sz="1200" b="1" kern="1200">
                          <a:solidFill>
                            <a:schemeClr val="lt1"/>
                          </a:solidFill>
                          <a:latin typeface="+mn-lt"/>
                          <a:ea typeface="+mn-ea"/>
                          <a:cs typeface="+mn-cs"/>
                        </a:rPr>
                        <a:t>ECX00008.ELEM </a:t>
                      </a:r>
                    </a:p>
                    <a:p>
                      <a:pPr marL="0" algn="l" defTabSz="457200" rtl="0" eaLnBrk="1" latinLnBrk="0" hangingPunct="1"/>
                      <a:r>
                        <a:rPr lang="en-US" sz="1200" b="1" kern="1200">
                          <a:solidFill>
                            <a:schemeClr val="lt1"/>
                          </a:solidFill>
                          <a:latin typeface="+mn-lt"/>
                          <a:ea typeface="+mn-ea"/>
                          <a:cs typeface="+mn-cs"/>
                        </a:rPr>
                        <a:t>Fabric Remote Connection</a:t>
                      </a:r>
                    </a:p>
                  </a:txBody>
                  <a:tcPr>
                    <a:solidFill>
                      <a:srgbClr val="8A8C8E"/>
                    </a:solidFill>
                  </a:tcPr>
                </a:tc>
                <a:tc>
                  <a:txBody>
                    <a:bodyPr/>
                    <a:lstStyle/>
                    <a:p>
                      <a:r>
                        <a:rPr lang="en-US" sz="1200">
                          <a:latin typeface="Andale Mono" panose="020B0509000000000004" pitchFamily="49" charset="0"/>
                        </a:rPr>
                        <a:t>Rate</a:t>
                      </a:r>
                      <a:endParaRPr lang="en-US" sz="120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No change - kept mapping to Rate</a:t>
                      </a:r>
                    </a:p>
                  </a:txBody>
                  <a:tcPr/>
                </a:tc>
                <a:tc>
                  <a:txBody>
                    <a:bodyPr/>
                    <a:lstStyle/>
                    <a:p>
                      <a:pPr marL="228600" indent="-228600">
                        <a:buAutoNum type="arabicPeriod"/>
                      </a:pPr>
                      <a:r>
                        <a:rPr lang="en-US" sz="1200"/>
                        <a:t>Unmapped from Bandwidth</a:t>
                      </a:r>
                    </a:p>
                    <a:p>
                      <a:pPr marL="228600" indent="-228600">
                        <a:buAutoNum type="arabicPeriod"/>
                      </a:pPr>
                      <a:r>
                        <a:rPr lang="en-US" sz="1200"/>
                        <a:t>Kept mapping to Rate (No change)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No change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a:t>Unmapped from Bandwidth</a:t>
                      </a:r>
                    </a:p>
                  </a:txBody>
                  <a:tcPr/>
                </a:tc>
                <a:extLst>
                  <a:ext uri="{0D108BD9-81ED-4DB2-BD59-A6C34878D82A}">
                    <a16:rowId xmlns:a16="http://schemas.microsoft.com/office/drawing/2014/main" val="3057015040"/>
                  </a:ext>
                </a:extLst>
              </a:tr>
              <a:tr h="370840">
                <a:tc>
                  <a:txBody>
                    <a:bodyPr/>
                    <a:lstStyle/>
                    <a:p>
                      <a:pPr marL="0" algn="l" defTabSz="457200" rtl="0" eaLnBrk="1" latinLnBrk="0" hangingPunct="1"/>
                      <a:r>
                        <a:rPr lang="en-US" sz="1200" b="1" kern="1200">
                          <a:solidFill>
                            <a:schemeClr val="lt1"/>
                          </a:solidFill>
                          <a:latin typeface="+mn-lt"/>
                          <a:ea typeface="+mn-ea"/>
                          <a:cs typeface="+mn-cs"/>
                        </a:rPr>
                        <a:t>ECX00015.ELEM </a:t>
                      </a:r>
                    </a:p>
                    <a:p>
                      <a:pPr marL="0" algn="l" defTabSz="457200" rtl="0" eaLnBrk="1" latinLnBrk="0" hangingPunct="1"/>
                      <a:r>
                        <a:rPr lang="en-US" sz="1200" b="1" kern="1200">
                          <a:solidFill>
                            <a:schemeClr val="lt1"/>
                          </a:solidFill>
                          <a:latin typeface="+mn-lt"/>
                          <a:ea typeface="+mn-ea"/>
                          <a:cs typeface="+mn-cs"/>
                        </a:rPr>
                        <a:t>Fabric Virtual Connection</a:t>
                      </a:r>
                    </a:p>
                  </a:txBody>
                  <a:tcPr>
                    <a:solidFill>
                      <a:srgbClr val="8A8C8E"/>
                    </a:solidFill>
                  </a:tcPr>
                </a:tc>
                <a:tc>
                  <a:txBody>
                    <a:bodyPr/>
                    <a:lstStyle/>
                    <a:p>
                      <a:r>
                        <a:rPr lang="en-US" sz="1200">
                          <a:latin typeface="Andale Mono" panose="020B0509000000000004" pitchFamily="49" charset="0"/>
                        </a:rPr>
                        <a:t>Connection Speed</a:t>
                      </a:r>
                      <a:endParaRPr lang="en-US" sz="1200"/>
                    </a:p>
                  </a:txBody>
                  <a:tcPr/>
                </a:tc>
                <a:tc>
                  <a:txBody>
                    <a:bodyPr/>
                    <a:lstStyle/>
                    <a:p>
                      <a:pPr marL="228600" indent="-228600">
                        <a:buAutoNum type="arabicPeriod"/>
                      </a:pPr>
                      <a:r>
                        <a:rPr lang="en-US" sz="1200"/>
                        <a:t>Unmapped from Bandwidth</a:t>
                      </a:r>
                    </a:p>
                    <a:p>
                      <a:pPr marL="228600" indent="-228600">
                        <a:buAutoNum type="arabicPeriod"/>
                      </a:pPr>
                      <a:r>
                        <a:rPr lang="en-US" sz="1200"/>
                        <a:t>Added ’Billing Tier’ label &amp; map it to Siebel’s ‘Connection Speed’</a:t>
                      </a:r>
                    </a:p>
                  </a:txBody>
                  <a:tcPr/>
                </a:tc>
                <a:tc>
                  <a:txBody>
                    <a:bodyPr/>
                    <a:lstStyle/>
                    <a:p>
                      <a:pPr marL="228600" indent="-228600">
                        <a:buAutoNum type="arabicPeriod"/>
                      </a:pPr>
                      <a:r>
                        <a:rPr lang="en-US" sz="1200"/>
                        <a:t>Unmapped from Bandwidth</a:t>
                      </a:r>
                    </a:p>
                    <a:p>
                      <a:pPr marL="228600" indent="-228600">
                        <a:buAutoNum type="arabicPeriod"/>
                      </a:pPr>
                      <a:r>
                        <a:rPr lang="en-US" sz="1200"/>
                        <a:t>Added ’Billing Tier’ label &amp; map it to Siebel’s ‘Connection Speed’</a:t>
                      </a:r>
                    </a:p>
                  </a:txBody>
                  <a:tcPr/>
                </a:tc>
                <a:tc>
                  <a:txBody>
                    <a:bodyPr/>
                    <a:lstStyle/>
                    <a:p>
                      <a:r>
                        <a:rPr lang="en-US" sz="1200"/>
                        <a:t>Unmapped from Bandwidth</a:t>
                      </a:r>
                    </a:p>
                  </a:txBody>
                  <a:tcPr/>
                </a:tc>
                <a:tc>
                  <a:txBody>
                    <a:bodyPr/>
                    <a:lstStyle/>
                    <a:p>
                      <a:pPr marL="228600" indent="-228600">
                        <a:buAutoNum type="arabicPeriod"/>
                      </a:pPr>
                      <a:r>
                        <a:rPr lang="en-US" sz="1200"/>
                        <a:t>Unmapped from Bandwidth</a:t>
                      </a:r>
                    </a:p>
                    <a:p>
                      <a:pPr marL="228600" indent="-228600">
                        <a:buAutoNum type="arabicPeriod"/>
                      </a:pPr>
                      <a:r>
                        <a:rPr lang="en-US" sz="1200"/>
                        <a:t>Added ’Billing Tier’ label &amp; map it to Siebel’s ‘Connection Speed’</a:t>
                      </a:r>
                    </a:p>
                  </a:txBody>
                  <a:tcPr/>
                </a:tc>
                <a:extLst>
                  <a:ext uri="{0D108BD9-81ED-4DB2-BD59-A6C34878D82A}">
                    <a16:rowId xmlns:a16="http://schemas.microsoft.com/office/drawing/2014/main" val="3397009090"/>
                  </a:ext>
                </a:extLst>
              </a:tr>
            </a:tbl>
          </a:graphicData>
        </a:graphic>
      </p:graphicFrame>
      <p:sp>
        <p:nvSpPr>
          <p:cNvPr id="12" name="Rectangle 11">
            <a:extLst>
              <a:ext uri="{FF2B5EF4-FFF2-40B4-BE49-F238E27FC236}">
                <a16:creationId xmlns:a16="http://schemas.microsoft.com/office/drawing/2014/main" id="{E40359FB-9E06-7E63-424E-0B3505CF119B}"/>
              </a:ext>
            </a:extLst>
          </p:cNvPr>
          <p:cNvSpPr/>
          <p:nvPr/>
        </p:nvSpPr>
        <p:spPr>
          <a:xfrm>
            <a:off x="3848367" y="3740922"/>
            <a:ext cx="1975217" cy="973470"/>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7" name="Rectangle 6">
            <a:extLst>
              <a:ext uri="{FF2B5EF4-FFF2-40B4-BE49-F238E27FC236}">
                <a16:creationId xmlns:a16="http://schemas.microsoft.com/office/drawing/2014/main" id="{B3662A60-AEA6-50F5-AEDF-35D138AAAFAB}"/>
              </a:ext>
            </a:extLst>
          </p:cNvPr>
          <p:cNvSpPr/>
          <p:nvPr/>
        </p:nvSpPr>
        <p:spPr>
          <a:xfrm>
            <a:off x="5963566" y="1844240"/>
            <a:ext cx="2115200" cy="189412"/>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20A0295F-3ABB-3DEA-4665-DEDDD78333EA}"/>
              </a:ext>
            </a:extLst>
          </p:cNvPr>
          <p:cNvSpPr/>
          <p:nvPr/>
        </p:nvSpPr>
        <p:spPr>
          <a:xfrm>
            <a:off x="5963566" y="2466933"/>
            <a:ext cx="2115200" cy="189412"/>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2C285190-20CC-1738-C9E4-9BD218A1B7D4}"/>
              </a:ext>
            </a:extLst>
          </p:cNvPr>
          <p:cNvSpPr/>
          <p:nvPr/>
        </p:nvSpPr>
        <p:spPr>
          <a:xfrm>
            <a:off x="5963566" y="3113682"/>
            <a:ext cx="2115200" cy="189412"/>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17" name="Rectangle 16">
            <a:extLst>
              <a:ext uri="{FF2B5EF4-FFF2-40B4-BE49-F238E27FC236}">
                <a16:creationId xmlns:a16="http://schemas.microsoft.com/office/drawing/2014/main" id="{408078FA-2568-C46D-AC4D-18D41789EFAC}"/>
              </a:ext>
            </a:extLst>
          </p:cNvPr>
          <p:cNvSpPr/>
          <p:nvPr/>
        </p:nvSpPr>
        <p:spPr>
          <a:xfrm>
            <a:off x="5963566" y="3757447"/>
            <a:ext cx="2115200" cy="779780"/>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18" name="Rectangle 17">
            <a:extLst>
              <a:ext uri="{FF2B5EF4-FFF2-40B4-BE49-F238E27FC236}">
                <a16:creationId xmlns:a16="http://schemas.microsoft.com/office/drawing/2014/main" id="{8F9879C0-7B5F-1CD7-3F44-43651553D0AD}"/>
              </a:ext>
            </a:extLst>
          </p:cNvPr>
          <p:cNvSpPr/>
          <p:nvPr/>
        </p:nvSpPr>
        <p:spPr>
          <a:xfrm>
            <a:off x="8218749" y="3766541"/>
            <a:ext cx="1178380" cy="478453"/>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22" name="Rectangle 21">
            <a:extLst>
              <a:ext uri="{FF2B5EF4-FFF2-40B4-BE49-F238E27FC236}">
                <a16:creationId xmlns:a16="http://schemas.microsoft.com/office/drawing/2014/main" id="{9DB5AF36-11B8-4FB0-FEB6-5768335F9510}"/>
              </a:ext>
            </a:extLst>
          </p:cNvPr>
          <p:cNvSpPr/>
          <p:nvPr/>
        </p:nvSpPr>
        <p:spPr>
          <a:xfrm>
            <a:off x="9609841" y="3102374"/>
            <a:ext cx="1983347" cy="200721"/>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23" name="Rectangle 22">
            <a:extLst>
              <a:ext uri="{FF2B5EF4-FFF2-40B4-BE49-F238E27FC236}">
                <a16:creationId xmlns:a16="http://schemas.microsoft.com/office/drawing/2014/main" id="{9D6781B7-2241-6995-CB13-92DCF61692DE}"/>
              </a:ext>
            </a:extLst>
          </p:cNvPr>
          <p:cNvSpPr/>
          <p:nvPr/>
        </p:nvSpPr>
        <p:spPr>
          <a:xfrm>
            <a:off x="9635600" y="3745679"/>
            <a:ext cx="2207681" cy="791549"/>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24" name="Rectangle 23">
            <a:extLst>
              <a:ext uri="{FF2B5EF4-FFF2-40B4-BE49-F238E27FC236}">
                <a16:creationId xmlns:a16="http://schemas.microsoft.com/office/drawing/2014/main" id="{B7AE95F9-B151-900F-1DE2-222A9820CE5B}"/>
              </a:ext>
            </a:extLst>
          </p:cNvPr>
          <p:cNvSpPr/>
          <p:nvPr/>
        </p:nvSpPr>
        <p:spPr>
          <a:xfrm>
            <a:off x="9609840" y="2470154"/>
            <a:ext cx="1983347" cy="200721"/>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25" name="Rectangle 24">
            <a:extLst>
              <a:ext uri="{FF2B5EF4-FFF2-40B4-BE49-F238E27FC236}">
                <a16:creationId xmlns:a16="http://schemas.microsoft.com/office/drawing/2014/main" id="{C831DC0D-BE5A-89FC-38A9-A5FA54FB4CE2}"/>
              </a:ext>
            </a:extLst>
          </p:cNvPr>
          <p:cNvSpPr/>
          <p:nvPr/>
        </p:nvSpPr>
        <p:spPr>
          <a:xfrm>
            <a:off x="9609839" y="1836818"/>
            <a:ext cx="1983347" cy="200721"/>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646678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160A-45F3-BD24-CA1D-67E9E52BD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CC07E-D589-81ED-7CB9-01055462D85E}"/>
              </a:ext>
            </a:extLst>
          </p:cNvPr>
          <p:cNvSpPr>
            <a:spLocks noGrp="1"/>
          </p:cNvSpPr>
          <p:nvPr>
            <p:ph type="title"/>
          </p:nvPr>
        </p:nvSpPr>
        <p:spPr>
          <a:xfrm>
            <a:off x="312369" y="185921"/>
            <a:ext cx="11864550" cy="584802"/>
          </a:xfrm>
        </p:spPr>
        <p:txBody>
          <a:bodyPr vert="horz" lIns="118872" tIns="59436" rIns="118872" bIns="59436" anchor="t"/>
          <a:lstStyle/>
          <a:p>
            <a:pPr>
              <a:spcBef>
                <a:spcPts val="0"/>
              </a:spcBef>
              <a:defRPr/>
            </a:pPr>
            <a:r>
              <a:rPr lang="en-US" sz="2400"/>
              <a:t>Sample screenshots of Inventory, Install Base UI behavior</a:t>
            </a:r>
            <a:endParaRPr lang="en-SG" sz="2400"/>
          </a:p>
        </p:txBody>
      </p:sp>
      <p:pic>
        <p:nvPicPr>
          <p:cNvPr id="8" name="Picture 7">
            <a:extLst>
              <a:ext uri="{FF2B5EF4-FFF2-40B4-BE49-F238E27FC236}">
                <a16:creationId xmlns:a16="http://schemas.microsoft.com/office/drawing/2014/main" id="{151ADE9C-D418-7ED1-2A58-B38FED5E8AED}"/>
              </a:ext>
            </a:extLst>
          </p:cNvPr>
          <p:cNvPicPr>
            <a:picLocks noChangeAspect="1"/>
          </p:cNvPicPr>
          <p:nvPr/>
        </p:nvPicPr>
        <p:blipFill>
          <a:blip r:embed="rId3"/>
          <a:srcRect t="6179" r="3827" b="5838"/>
          <a:stretch/>
        </p:blipFill>
        <p:spPr>
          <a:xfrm>
            <a:off x="5252172" y="1607858"/>
            <a:ext cx="6757677" cy="3804426"/>
          </a:xfrm>
          <a:prstGeom prst="rect">
            <a:avLst/>
          </a:prstGeom>
          <a:effectLst>
            <a:outerShdw blurRad="50800" dist="38100" dir="5400000" algn="t" rotWithShape="0">
              <a:prstClr val="black">
                <a:alpha val="20000"/>
              </a:prstClr>
            </a:outerShdw>
          </a:effectLst>
        </p:spPr>
      </p:pic>
      <p:pic>
        <p:nvPicPr>
          <p:cNvPr id="9" name="Picture 8">
            <a:extLst>
              <a:ext uri="{FF2B5EF4-FFF2-40B4-BE49-F238E27FC236}">
                <a16:creationId xmlns:a16="http://schemas.microsoft.com/office/drawing/2014/main" id="{038B0B45-388C-D73B-0F99-CF43A7E5C010}"/>
              </a:ext>
            </a:extLst>
          </p:cNvPr>
          <p:cNvPicPr>
            <a:picLocks noChangeAspect="1"/>
          </p:cNvPicPr>
          <p:nvPr/>
        </p:nvPicPr>
        <p:blipFill>
          <a:blip r:embed="rId4"/>
          <a:srcRect l="41437" b="5668"/>
          <a:stretch/>
        </p:blipFill>
        <p:spPr>
          <a:xfrm>
            <a:off x="304331" y="1607858"/>
            <a:ext cx="4551741" cy="5153554"/>
          </a:xfrm>
          <a:prstGeom prst="rect">
            <a:avLst/>
          </a:prstGeom>
          <a:effectLst>
            <a:outerShdw blurRad="50800" dist="38100" dir="5400000" algn="t" rotWithShape="0">
              <a:prstClr val="black">
                <a:alpha val="20000"/>
              </a:prstClr>
            </a:outerShdw>
          </a:effectLst>
        </p:spPr>
      </p:pic>
      <p:sp>
        <p:nvSpPr>
          <p:cNvPr id="12" name="Rectangle 11">
            <a:extLst>
              <a:ext uri="{FF2B5EF4-FFF2-40B4-BE49-F238E27FC236}">
                <a16:creationId xmlns:a16="http://schemas.microsoft.com/office/drawing/2014/main" id="{C17D90AC-C1A1-38B7-FAA3-E9C3BA4698A4}"/>
              </a:ext>
            </a:extLst>
          </p:cNvPr>
          <p:cNvSpPr/>
          <p:nvPr/>
        </p:nvSpPr>
        <p:spPr>
          <a:xfrm flipH="1">
            <a:off x="410371" y="5031237"/>
            <a:ext cx="1162443" cy="202600"/>
          </a:xfrm>
          <a:prstGeom prst="rect">
            <a:avLst/>
          </a:prstGeom>
          <a:solidFill>
            <a:srgbClr val="0070C0">
              <a:alpha val="10000"/>
            </a:srgbClr>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0A8CFF7A-F407-9A7E-88E4-7CC1415CE8E2}"/>
              </a:ext>
            </a:extLst>
          </p:cNvPr>
          <p:cNvSpPr/>
          <p:nvPr/>
        </p:nvSpPr>
        <p:spPr>
          <a:xfrm flipH="1">
            <a:off x="5514776" y="4496514"/>
            <a:ext cx="1313334" cy="161308"/>
          </a:xfrm>
          <a:prstGeom prst="rect">
            <a:avLst/>
          </a:prstGeom>
          <a:solidFill>
            <a:srgbClr val="0070C0">
              <a:alpha val="10000"/>
            </a:srgbClr>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92DF76E0-6D38-8B16-73B2-75804C1AC9F1}"/>
              </a:ext>
            </a:extLst>
          </p:cNvPr>
          <p:cNvSpPr/>
          <p:nvPr/>
        </p:nvSpPr>
        <p:spPr>
          <a:xfrm flipH="1">
            <a:off x="410371" y="5982533"/>
            <a:ext cx="1162443" cy="202600"/>
          </a:xfrm>
          <a:prstGeom prst="rect">
            <a:avLst/>
          </a:prstGeom>
          <a:solidFill>
            <a:srgbClr val="0070C0">
              <a:alpha val="10000"/>
            </a:srgbClr>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7" name="Rectangular Callout 16">
            <a:extLst>
              <a:ext uri="{FF2B5EF4-FFF2-40B4-BE49-F238E27FC236}">
                <a16:creationId xmlns:a16="http://schemas.microsoft.com/office/drawing/2014/main" id="{63DA6D73-E1A5-CBD5-35B6-2B486BE823E0}"/>
              </a:ext>
            </a:extLst>
          </p:cNvPr>
          <p:cNvSpPr/>
          <p:nvPr/>
        </p:nvSpPr>
        <p:spPr>
          <a:xfrm>
            <a:off x="2257043" y="4339462"/>
            <a:ext cx="1861511" cy="719818"/>
          </a:xfrm>
          <a:prstGeom prst="wedgeRectCallout">
            <a:avLst>
              <a:gd name="adj1" fmla="val -86385"/>
              <a:gd name="adj2" fmla="val 61862"/>
            </a:avLst>
          </a:prstGeom>
          <a:solidFill>
            <a:schemeClr val="accent5"/>
          </a:solidFill>
          <a:ln>
            <a:solidFill>
              <a:srgbClr val="0070C0"/>
            </a:solidFill>
          </a:ln>
          <a:effectLst>
            <a:outerShdw blurRad="508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a:t>No Change. ‘Bandwidth’ label is not mapped to ‘Rate’</a:t>
            </a:r>
          </a:p>
        </p:txBody>
      </p:sp>
      <p:sp>
        <p:nvSpPr>
          <p:cNvPr id="18" name="Rectangular Callout 17">
            <a:extLst>
              <a:ext uri="{FF2B5EF4-FFF2-40B4-BE49-F238E27FC236}">
                <a16:creationId xmlns:a16="http://schemas.microsoft.com/office/drawing/2014/main" id="{E7482216-7745-3938-5564-EA74BECEC61E}"/>
              </a:ext>
            </a:extLst>
          </p:cNvPr>
          <p:cNvSpPr/>
          <p:nvPr/>
        </p:nvSpPr>
        <p:spPr>
          <a:xfrm>
            <a:off x="2257042" y="5791432"/>
            <a:ext cx="1861511" cy="719817"/>
          </a:xfrm>
          <a:prstGeom prst="wedgeRectCallout">
            <a:avLst>
              <a:gd name="adj1" fmla="val -87419"/>
              <a:gd name="adj2" fmla="val 2610"/>
            </a:avLst>
          </a:prstGeom>
          <a:solidFill>
            <a:schemeClr val="accent5"/>
          </a:solidFill>
          <a:ln>
            <a:solidFill>
              <a:srgbClr val="0070C0"/>
            </a:solidFill>
          </a:ln>
          <a:effectLst>
            <a:outerShdw blurRad="508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a:t>No Change. ‘Rate’ label is mapped to ‘Rate’</a:t>
            </a:r>
          </a:p>
        </p:txBody>
      </p:sp>
      <p:sp>
        <p:nvSpPr>
          <p:cNvPr id="19" name="Rectangular Callout 18">
            <a:extLst>
              <a:ext uri="{FF2B5EF4-FFF2-40B4-BE49-F238E27FC236}">
                <a16:creationId xmlns:a16="http://schemas.microsoft.com/office/drawing/2014/main" id="{C54C431D-6BE9-3D1A-ECC1-D0A35ADF9147}"/>
              </a:ext>
            </a:extLst>
          </p:cNvPr>
          <p:cNvSpPr/>
          <p:nvPr/>
        </p:nvSpPr>
        <p:spPr>
          <a:xfrm>
            <a:off x="7396318" y="3754660"/>
            <a:ext cx="1861511" cy="741854"/>
          </a:xfrm>
          <a:prstGeom prst="wedgeRectCallout">
            <a:avLst>
              <a:gd name="adj1" fmla="val -82256"/>
              <a:gd name="adj2" fmla="val 67003"/>
            </a:avLst>
          </a:prstGeom>
          <a:solidFill>
            <a:schemeClr val="accent5"/>
          </a:solidFill>
          <a:ln>
            <a:solidFill>
              <a:srgbClr val="0070C0"/>
            </a:solidFill>
          </a:ln>
          <a:effectLst>
            <a:outerShdw blurRad="508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a:t>No Change. ‘Bandwidth’ label is not mapped to ‘Rate’</a:t>
            </a:r>
          </a:p>
        </p:txBody>
      </p:sp>
      <p:sp>
        <p:nvSpPr>
          <p:cNvPr id="20" name="TextBox 19">
            <a:extLst>
              <a:ext uri="{FF2B5EF4-FFF2-40B4-BE49-F238E27FC236}">
                <a16:creationId xmlns:a16="http://schemas.microsoft.com/office/drawing/2014/main" id="{790F0B49-DA68-7266-2E51-0EB50826D75A}"/>
              </a:ext>
            </a:extLst>
          </p:cNvPr>
          <p:cNvSpPr txBox="1"/>
          <p:nvPr/>
        </p:nvSpPr>
        <p:spPr>
          <a:xfrm>
            <a:off x="348720" y="577539"/>
            <a:ext cx="11661128" cy="646331"/>
          </a:xfrm>
          <a:prstGeom prst="rect">
            <a:avLst/>
          </a:prstGeom>
          <a:noFill/>
        </p:spPr>
        <p:txBody>
          <a:bodyPr wrap="square" lIns="91440" tIns="45720" rIns="91440" bIns="45720" rtlCol="0" anchor="t">
            <a:spAutoFit/>
          </a:bodyPr>
          <a:lstStyle/>
          <a:p>
            <a:r>
              <a:rPr lang="en-US" sz="1800"/>
              <a:t>For </a:t>
            </a:r>
            <a:r>
              <a:rPr lang="en-US" sz="1800">
                <a:latin typeface="Andale Mono"/>
              </a:rPr>
              <a:t>ECX00002.ELEM Fabric Connection</a:t>
            </a:r>
            <a:r>
              <a:rPr lang="en-US" sz="1800"/>
              <a:t>, </a:t>
            </a:r>
            <a:r>
              <a:rPr lang="en-US" sz="1800">
                <a:latin typeface="Andale Mono"/>
              </a:rPr>
              <a:t>ECX00003.ELEM Fabric Service Provider</a:t>
            </a:r>
            <a:r>
              <a:rPr lang="en-US" sz="1800"/>
              <a:t>,</a:t>
            </a:r>
            <a:br>
              <a:rPr lang="en-US" sz="1800"/>
            </a:br>
            <a:r>
              <a:rPr lang="en-US" sz="1800">
                <a:latin typeface="Andale Mono"/>
              </a:rPr>
              <a:t>ECX00008.ELEM Fabric Remote Connection</a:t>
            </a:r>
            <a:r>
              <a:rPr lang="en-US" sz="1800"/>
              <a:t> assets</a:t>
            </a:r>
          </a:p>
        </p:txBody>
      </p:sp>
      <p:sp>
        <p:nvSpPr>
          <p:cNvPr id="21" name="TextBox 20">
            <a:extLst>
              <a:ext uri="{FF2B5EF4-FFF2-40B4-BE49-F238E27FC236}">
                <a16:creationId xmlns:a16="http://schemas.microsoft.com/office/drawing/2014/main" id="{6CB3DD16-13A5-CD46-E4B8-0209E1FED8C4}"/>
              </a:ext>
            </a:extLst>
          </p:cNvPr>
          <p:cNvSpPr txBox="1"/>
          <p:nvPr/>
        </p:nvSpPr>
        <p:spPr>
          <a:xfrm>
            <a:off x="2013378" y="1252457"/>
            <a:ext cx="1133644" cy="369332"/>
          </a:xfrm>
          <a:prstGeom prst="rect">
            <a:avLst/>
          </a:prstGeom>
          <a:noFill/>
        </p:spPr>
        <p:txBody>
          <a:bodyPr wrap="square" rtlCol="0">
            <a:spAutoFit/>
          </a:bodyPr>
          <a:lstStyle/>
          <a:p>
            <a:r>
              <a:rPr lang="en-US" sz="1800"/>
              <a:t>Inventory</a:t>
            </a:r>
          </a:p>
        </p:txBody>
      </p:sp>
      <p:sp>
        <p:nvSpPr>
          <p:cNvPr id="22" name="TextBox 21">
            <a:extLst>
              <a:ext uri="{FF2B5EF4-FFF2-40B4-BE49-F238E27FC236}">
                <a16:creationId xmlns:a16="http://schemas.microsoft.com/office/drawing/2014/main" id="{AE0FD1B9-91B4-D0E4-FC10-41622E58BA5A}"/>
              </a:ext>
            </a:extLst>
          </p:cNvPr>
          <p:cNvSpPr txBox="1"/>
          <p:nvPr/>
        </p:nvSpPr>
        <p:spPr>
          <a:xfrm>
            <a:off x="7942359" y="1252457"/>
            <a:ext cx="1377300" cy="369332"/>
          </a:xfrm>
          <a:prstGeom prst="rect">
            <a:avLst/>
          </a:prstGeom>
          <a:noFill/>
        </p:spPr>
        <p:txBody>
          <a:bodyPr wrap="square" rtlCol="0">
            <a:spAutoFit/>
          </a:bodyPr>
          <a:lstStyle/>
          <a:p>
            <a:r>
              <a:rPr lang="en-US" sz="1800"/>
              <a:t>Install Base</a:t>
            </a:r>
          </a:p>
        </p:txBody>
      </p:sp>
    </p:spTree>
    <p:extLst>
      <p:ext uri="{BB962C8B-B14F-4D97-AF65-F5344CB8AC3E}">
        <p14:creationId xmlns:p14="http://schemas.microsoft.com/office/powerpoint/2010/main" val="2632604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94691-9780-E22F-CF8E-EF2923822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5FA56-DE23-9373-8CB1-4F4390AAFEC0}"/>
              </a:ext>
            </a:extLst>
          </p:cNvPr>
          <p:cNvSpPr>
            <a:spLocks noGrp="1"/>
          </p:cNvSpPr>
          <p:nvPr>
            <p:ph type="title"/>
          </p:nvPr>
        </p:nvSpPr>
        <p:spPr>
          <a:xfrm>
            <a:off x="312369" y="185921"/>
            <a:ext cx="11864550" cy="584802"/>
          </a:xfrm>
        </p:spPr>
        <p:txBody>
          <a:bodyPr vert="horz" lIns="118872" tIns="59436" rIns="118872" bIns="59436" anchor="t"/>
          <a:lstStyle/>
          <a:p>
            <a:pPr>
              <a:spcBef>
                <a:spcPts val="0"/>
              </a:spcBef>
              <a:defRPr/>
            </a:pPr>
            <a:r>
              <a:rPr lang="en-US" sz="2400"/>
              <a:t>Sample screenshots of Inventory, Install Base Report behavior</a:t>
            </a:r>
            <a:endParaRPr lang="en-SG" sz="2400"/>
          </a:p>
        </p:txBody>
      </p:sp>
      <p:pic>
        <p:nvPicPr>
          <p:cNvPr id="3" name="Picture 2">
            <a:extLst>
              <a:ext uri="{FF2B5EF4-FFF2-40B4-BE49-F238E27FC236}">
                <a16:creationId xmlns:a16="http://schemas.microsoft.com/office/drawing/2014/main" id="{CEF4B15B-42B0-4CD7-72D0-6CA936A23FF9}"/>
              </a:ext>
            </a:extLst>
          </p:cNvPr>
          <p:cNvPicPr>
            <a:picLocks noChangeAspect="1"/>
          </p:cNvPicPr>
          <p:nvPr/>
        </p:nvPicPr>
        <p:blipFill>
          <a:blip r:embed="rId3"/>
          <a:stretch>
            <a:fillRect/>
          </a:stretch>
        </p:blipFill>
        <p:spPr>
          <a:xfrm>
            <a:off x="1962797" y="3797939"/>
            <a:ext cx="7772400" cy="2611526"/>
          </a:xfrm>
          <a:prstGeom prst="rect">
            <a:avLst/>
          </a:prstGeom>
          <a:effectLst>
            <a:outerShdw blurRad="50800" dist="38100" dir="5400000" algn="t" rotWithShape="0">
              <a:prstClr val="black">
                <a:alpha val="20000"/>
              </a:prstClr>
            </a:outerShdw>
          </a:effectLst>
        </p:spPr>
      </p:pic>
      <p:pic>
        <p:nvPicPr>
          <p:cNvPr id="4" name="Picture 3">
            <a:extLst>
              <a:ext uri="{FF2B5EF4-FFF2-40B4-BE49-F238E27FC236}">
                <a16:creationId xmlns:a16="http://schemas.microsoft.com/office/drawing/2014/main" id="{2F5AA72F-D243-C17B-574F-38EB62BE457F}"/>
              </a:ext>
            </a:extLst>
          </p:cNvPr>
          <p:cNvPicPr>
            <a:picLocks noChangeAspect="1"/>
          </p:cNvPicPr>
          <p:nvPr/>
        </p:nvPicPr>
        <p:blipFill>
          <a:blip r:embed="rId4"/>
          <a:stretch>
            <a:fillRect/>
          </a:stretch>
        </p:blipFill>
        <p:spPr>
          <a:xfrm>
            <a:off x="1962797" y="1226358"/>
            <a:ext cx="7772400" cy="2413990"/>
          </a:xfrm>
          <a:prstGeom prst="rect">
            <a:avLst/>
          </a:prstGeom>
          <a:effectLst>
            <a:outerShdw blurRad="50800" dist="38100" dir="5400000" algn="t" rotWithShape="0">
              <a:prstClr val="black">
                <a:alpha val="20000"/>
              </a:prstClr>
            </a:outerShdw>
          </a:effectLst>
        </p:spPr>
      </p:pic>
      <p:sp>
        <p:nvSpPr>
          <p:cNvPr id="6" name="Rectangular Callout 5">
            <a:extLst>
              <a:ext uri="{FF2B5EF4-FFF2-40B4-BE49-F238E27FC236}">
                <a16:creationId xmlns:a16="http://schemas.microsoft.com/office/drawing/2014/main" id="{D4C4508C-1BB7-89F9-31F1-18F7F3F5DF90}"/>
              </a:ext>
            </a:extLst>
          </p:cNvPr>
          <p:cNvSpPr/>
          <p:nvPr/>
        </p:nvSpPr>
        <p:spPr>
          <a:xfrm>
            <a:off x="9735198" y="2268657"/>
            <a:ext cx="2045209" cy="734850"/>
          </a:xfrm>
          <a:prstGeom prst="wedgeRectCallout">
            <a:avLst>
              <a:gd name="adj1" fmla="val -86902"/>
              <a:gd name="adj2" fmla="val 73383"/>
            </a:avLst>
          </a:prstGeom>
          <a:solidFill>
            <a:schemeClr val="accent5"/>
          </a:solidFill>
          <a:ln>
            <a:solidFill>
              <a:srgbClr val="0070C0"/>
            </a:solidFill>
          </a:ln>
          <a:effectLst>
            <a:outerShdw blurRad="508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a:t>No Change. 'Rate’ column is mapped to Siebel’s ‘Rate’ attribute</a:t>
            </a:r>
          </a:p>
        </p:txBody>
      </p:sp>
      <p:sp>
        <p:nvSpPr>
          <p:cNvPr id="7" name="Rectangular Callout 6">
            <a:extLst>
              <a:ext uri="{FF2B5EF4-FFF2-40B4-BE49-F238E27FC236}">
                <a16:creationId xmlns:a16="http://schemas.microsoft.com/office/drawing/2014/main" id="{1B7A2134-F8AB-BB41-678A-0663B314C092}"/>
              </a:ext>
            </a:extLst>
          </p:cNvPr>
          <p:cNvSpPr/>
          <p:nvPr/>
        </p:nvSpPr>
        <p:spPr>
          <a:xfrm>
            <a:off x="4020197" y="5103702"/>
            <a:ext cx="1758662" cy="828344"/>
          </a:xfrm>
          <a:prstGeom prst="wedgeRectCallout">
            <a:avLst>
              <a:gd name="adj1" fmla="val 74572"/>
              <a:gd name="adj2" fmla="val 64246"/>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a:t>Change: ‘Bandwidth’ column is unmapped from Siebel ‘Rate’</a:t>
            </a:r>
          </a:p>
        </p:txBody>
      </p:sp>
      <p:sp>
        <p:nvSpPr>
          <p:cNvPr id="11" name="Rectangular Callout 10">
            <a:extLst>
              <a:ext uri="{FF2B5EF4-FFF2-40B4-BE49-F238E27FC236}">
                <a16:creationId xmlns:a16="http://schemas.microsoft.com/office/drawing/2014/main" id="{1C7628DA-7A41-1159-067F-38BA66994012}"/>
              </a:ext>
            </a:extLst>
          </p:cNvPr>
          <p:cNvSpPr/>
          <p:nvPr/>
        </p:nvSpPr>
        <p:spPr>
          <a:xfrm>
            <a:off x="5549009" y="2433353"/>
            <a:ext cx="1758662" cy="828344"/>
          </a:xfrm>
          <a:prstGeom prst="wedgeRectCallout">
            <a:avLst>
              <a:gd name="adj1" fmla="val 106315"/>
              <a:gd name="adj2" fmla="val 31710"/>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a:t>Change: ‘Bandwidth’ column is unmapped from Siebel ‘Rate’</a:t>
            </a:r>
          </a:p>
        </p:txBody>
      </p:sp>
      <p:sp>
        <p:nvSpPr>
          <p:cNvPr id="16" name="TextBox 15">
            <a:extLst>
              <a:ext uri="{FF2B5EF4-FFF2-40B4-BE49-F238E27FC236}">
                <a16:creationId xmlns:a16="http://schemas.microsoft.com/office/drawing/2014/main" id="{825DDEED-09E5-93AF-DD1B-BEE02E1EBF32}"/>
              </a:ext>
            </a:extLst>
          </p:cNvPr>
          <p:cNvSpPr txBox="1"/>
          <p:nvPr/>
        </p:nvSpPr>
        <p:spPr>
          <a:xfrm>
            <a:off x="411594" y="2566439"/>
            <a:ext cx="1133644" cy="369332"/>
          </a:xfrm>
          <a:prstGeom prst="rect">
            <a:avLst/>
          </a:prstGeom>
          <a:noFill/>
        </p:spPr>
        <p:txBody>
          <a:bodyPr wrap="square" rtlCol="0">
            <a:spAutoFit/>
          </a:bodyPr>
          <a:lstStyle/>
          <a:p>
            <a:r>
              <a:rPr lang="en-US" sz="1800"/>
              <a:t>Inventory</a:t>
            </a:r>
          </a:p>
        </p:txBody>
      </p:sp>
      <p:sp>
        <p:nvSpPr>
          <p:cNvPr id="17" name="TextBox 16">
            <a:extLst>
              <a:ext uri="{FF2B5EF4-FFF2-40B4-BE49-F238E27FC236}">
                <a16:creationId xmlns:a16="http://schemas.microsoft.com/office/drawing/2014/main" id="{FCEC1F03-657E-5346-4610-102FBAC41665}"/>
              </a:ext>
            </a:extLst>
          </p:cNvPr>
          <p:cNvSpPr txBox="1"/>
          <p:nvPr/>
        </p:nvSpPr>
        <p:spPr>
          <a:xfrm>
            <a:off x="411594" y="5103702"/>
            <a:ext cx="1377300" cy="369332"/>
          </a:xfrm>
          <a:prstGeom prst="rect">
            <a:avLst/>
          </a:prstGeom>
          <a:noFill/>
        </p:spPr>
        <p:txBody>
          <a:bodyPr wrap="square" rtlCol="0">
            <a:spAutoFit/>
          </a:bodyPr>
          <a:lstStyle/>
          <a:p>
            <a:r>
              <a:rPr lang="en-US" sz="1800"/>
              <a:t>Install Base</a:t>
            </a:r>
          </a:p>
        </p:txBody>
      </p:sp>
      <p:sp>
        <p:nvSpPr>
          <p:cNvPr id="8" name="TextBox 7">
            <a:extLst>
              <a:ext uri="{FF2B5EF4-FFF2-40B4-BE49-F238E27FC236}">
                <a16:creationId xmlns:a16="http://schemas.microsoft.com/office/drawing/2014/main" id="{E549CA46-D43A-01DB-132A-57EC88E96DE8}"/>
              </a:ext>
            </a:extLst>
          </p:cNvPr>
          <p:cNvSpPr txBox="1"/>
          <p:nvPr/>
        </p:nvSpPr>
        <p:spPr>
          <a:xfrm>
            <a:off x="348720" y="577539"/>
            <a:ext cx="11661128" cy="646331"/>
          </a:xfrm>
          <a:prstGeom prst="rect">
            <a:avLst/>
          </a:prstGeom>
          <a:noFill/>
        </p:spPr>
        <p:txBody>
          <a:bodyPr wrap="square" lIns="91440" tIns="45720" rIns="91440" bIns="45720" rtlCol="0" anchor="t">
            <a:spAutoFit/>
          </a:bodyPr>
          <a:lstStyle/>
          <a:p>
            <a:r>
              <a:rPr lang="en-US" sz="1800"/>
              <a:t>For </a:t>
            </a:r>
            <a:r>
              <a:rPr lang="en-US" sz="1800">
                <a:latin typeface="Andale Mono"/>
              </a:rPr>
              <a:t>ECX00002.ELEM Fabric Connection</a:t>
            </a:r>
            <a:r>
              <a:rPr lang="en-US" sz="1800"/>
              <a:t>, </a:t>
            </a:r>
            <a:r>
              <a:rPr lang="en-US" sz="1800">
                <a:latin typeface="Andale Mono"/>
              </a:rPr>
              <a:t>ECX00003.ELEM Fabric Service Provider</a:t>
            </a:r>
            <a:r>
              <a:rPr lang="en-US" sz="1800"/>
              <a:t>,</a:t>
            </a:r>
            <a:br>
              <a:rPr lang="en-US" sz="1800"/>
            </a:br>
            <a:r>
              <a:rPr lang="en-US" sz="1800">
                <a:latin typeface="Andale Mono"/>
              </a:rPr>
              <a:t>ECX00008.ELEM Fabric Remote Connection</a:t>
            </a:r>
            <a:r>
              <a:rPr lang="en-US" sz="1800"/>
              <a:t> assets</a:t>
            </a:r>
          </a:p>
        </p:txBody>
      </p:sp>
    </p:spTree>
    <p:extLst>
      <p:ext uri="{BB962C8B-B14F-4D97-AF65-F5344CB8AC3E}">
        <p14:creationId xmlns:p14="http://schemas.microsoft.com/office/powerpoint/2010/main" val="3824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13144-8E4E-B3DC-7717-B4D72D6353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C50667-D727-F8CB-4B85-F6AE8C55D550}"/>
              </a:ext>
            </a:extLst>
          </p:cNvPr>
          <p:cNvPicPr>
            <a:picLocks noChangeAspect="1"/>
          </p:cNvPicPr>
          <p:nvPr/>
        </p:nvPicPr>
        <p:blipFill>
          <a:blip r:embed="rId3"/>
          <a:srcRect r="6883"/>
          <a:stretch/>
        </p:blipFill>
        <p:spPr>
          <a:xfrm>
            <a:off x="5338776" y="1536612"/>
            <a:ext cx="6480628" cy="3970913"/>
          </a:xfrm>
          <a:prstGeom prst="rect">
            <a:avLst/>
          </a:prstGeom>
          <a:effectLst>
            <a:outerShdw blurRad="50800" dist="38100" dir="5400000" algn="t" rotWithShape="0">
              <a:prstClr val="black">
                <a:alpha val="20000"/>
              </a:prstClr>
            </a:outerShdw>
          </a:effectLst>
        </p:spPr>
      </p:pic>
      <p:pic>
        <p:nvPicPr>
          <p:cNvPr id="4" name="Picture 3">
            <a:extLst>
              <a:ext uri="{FF2B5EF4-FFF2-40B4-BE49-F238E27FC236}">
                <a16:creationId xmlns:a16="http://schemas.microsoft.com/office/drawing/2014/main" id="{29BFC2A2-B363-292C-B765-483ABD9A70BF}"/>
              </a:ext>
            </a:extLst>
          </p:cNvPr>
          <p:cNvPicPr>
            <a:picLocks noChangeAspect="1"/>
          </p:cNvPicPr>
          <p:nvPr/>
        </p:nvPicPr>
        <p:blipFill>
          <a:blip r:embed="rId4"/>
          <a:srcRect l="41379" b="3290"/>
          <a:stretch/>
        </p:blipFill>
        <p:spPr>
          <a:xfrm>
            <a:off x="333038" y="1523002"/>
            <a:ext cx="4556303" cy="5135824"/>
          </a:xfrm>
          <a:prstGeom prst="rect">
            <a:avLst/>
          </a:prstGeom>
          <a:effectLst>
            <a:outerShdw blurRad="50800" dist="38100" dir="5400000" algn="t" rotWithShape="0">
              <a:prstClr val="black">
                <a:alpha val="20000"/>
              </a:prstClr>
            </a:outerShdw>
          </a:effectLst>
        </p:spPr>
      </p:pic>
      <p:sp>
        <p:nvSpPr>
          <p:cNvPr id="2" name="Title 1">
            <a:extLst>
              <a:ext uri="{FF2B5EF4-FFF2-40B4-BE49-F238E27FC236}">
                <a16:creationId xmlns:a16="http://schemas.microsoft.com/office/drawing/2014/main" id="{68397C2D-C11D-2535-92CF-7FF039D5414A}"/>
              </a:ext>
            </a:extLst>
          </p:cNvPr>
          <p:cNvSpPr>
            <a:spLocks noGrp="1"/>
          </p:cNvSpPr>
          <p:nvPr>
            <p:ph type="title"/>
          </p:nvPr>
        </p:nvSpPr>
        <p:spPr>
          <a:xfrm>
            <a:off x="312369" y="185921"/>
            <a:ext cx="11864550" cy="584802"/>
          </a:xfrm>
        </p:spPr>
        <p:txBody>
          <a:bodyPr vert="horz" lIns="118872" tIns="59436" rIns="118872" bIns="59436" anchor="t"/>
          <a:lstStyle/>
          <a:p>
            <a:pPr>
              <a:spcBef>
                <a:spcPts val="0"/>
              </a:spcBef>
              <a:defRPr/>
            </a:pPr>
            <a:r>
              <a:rPr lang="en-US" sz="2400"/>
              <a:t>Sample screenshots of Inventory, Install Base UI behavior</a:t>
            </a:r>
            <a:endParaRPr lang="en-SG" sz="2400"/>
          </a:p>
        </p:txBody>
      </p:sp>
      <p:sp>
        <p:nvSpPr>
          <p:cNvPr id="12" name="Rectangle 11">
            <a:extLst>
              <a:ext uri="{FF2B5EF4-FFF2-40B4-BE49-F238E27FC236}">
                <a16:creationId xmlns:a16="http://schemas.microsoft.com/office/drawing/2014/main" id="{14E02F0F-F100-8B61-5F22-3F80B1EE4134}"/>
              </a:ext>
            </a:extLst>
          </p:cNvPr>
          <p:cNvSpPr/>
          <p:nvPr/>
        </p:nvSpPr>
        <p:spPr>
          <a:xfrm flipH="1">
            <a:off x="410370" y="4948315"/>
            <a:ext cx="1162443" cy="202600"/>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A9992931-0C88-A274-D215-09471B0CF5E3}"/>
              </a:ext>
            </a:extLst>
          </p:cNvPr>
          <p:cNvSpPr/>
          <p:nvPr/>
        </p:nvSpPr>
        <p:spPr>
          <a:xfrm flipH="1">
            <a:off x="5602834" y="4601751"/>
            <a:ext cx="1313334" cy="161308"/>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9200CA39-E2F2-FBE0-81BC-9556C59C3204}"/>
              </a:ext>
            </a:extLst>
          </p:cNvPr>
          <p:cNvSpPr/>
          <p:nvPr/>
        </p:nvSpPr>
        <p:spPr>
          <a:xfrm flipH="1">
            <a:off x="410368" y="6456225"/>
            <a:ext cx="1281112" cy="202600"/>
          </a:xfrm>
          <a:prstGeom prst="rect">
            <a:avLst/>
          </a:prstGeom>
          <a:solidFill>
            <a:schemeClr val="accent4">
              <a:alpha val="40000"/>
            </a:schemeClr>
          </a:solidFill>
          <a:ln w="9525">
            <a:solidFill>
              <a:schemeClr val="accent4">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800"/>
          </a:p>
        </p:txBody>
      </p:sp>
      <p:sp>
        <p:nvSpPr>
          <p:cNvPr id="17" name="Rectangular Callout 16">
            <a:extLst>
              <a:ext uri="{FF2B5EF4-FFF2-40B4-BE49-F238E27FC236}">
                <a16:creationId xmlns:a16="http://schemas.microsoft.com/office/drawing/2014/main" id="{63240D8D-184B-470E-9437-488FA37CB30A}"/>
              </a:ext>
            </a:extLst>
          </p:cNvPr>
          <p:cNvSpPr/>
          <p:nvPr/>
        </p:nvSpPr>
        <p:spPr>
          <a:xfrm>
            <a:off x="2202391" y="4260969"/>
            <a:ext cx="1970810" cy="681564"/>
          </a:xfrm>
          <a:prstGeom prst="wedgeRectCallout">
            <a:avLst>
              <a:gd name="adj1" fmla="val -86385"/>
              <a:gd name="adj2" fmla="val 61862"/>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SG" sz="1200"/>
              <a:t>Change: Bandwidth is unmapped from Siebel's `Connection Speed`</a:t>
            </a:r>
          </a:p>
        </p:txBody>
      </p:sp>
      <p:sp>
        <p:nvSpPr>
          <p:cNvPr id="18" name="Rectangular Callout 17">
            <a:extLst>
              <a:ext uri="{FF2B5EF4-FFF2-40B4-BE49-F238E27FC236}">
                <a16:creationId xmlns:a16="http://schemas.microsoft.com/office/drawing/2014/main" id="{3D0E4BA9-9A80-9A65-A337-36F7AFF495CC}"/>
              </a:ext>
            </a:extLst>
          </p:cNvPr>
          <p:cNvSpPr/>
          <p:nvPr/>
        </p:nvSpPr>
        <p:spPr>
          <a:xfrm>
            <a:off x="2257042" y="5950042"/>
            <a:ext cx="1861511" cy="851503"/>
          </a:xfrm>
          <a:prstGeom prst="wedgeRectCallout">
            <a:avLst>
              <a:gd name="adj1" fmla="val -80500"/>
              <a:gd name="adj2" fmla="val 19247"/>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SG" sz="1200"/>
              <a:t>Change: new label `Billing Tier` is mapped to Siebel's `Connection Speed`</a:t>
            </a:r>
          </a:p>
        </p:txBody>
      </p:sp>
      <p:sp>
        <p:nvSpPr>
          <p:cNvPr id="19" name="Rectangular Callout 18">
            <a:extLst>
              <a:ext uri="{FF2B5EF4-FFF2-40B4-BE49-F238E27FC236}">
                <a16:creationId xmlns:a16="http://schemas.microsoft.com/office/drawing/2014/main" id="{16C16D0E-B1DD-29D6-20BD-C22E38608385}"/>
              </a:ext>
            </a:extLst>
          </p:cNvPr>
          <p:cNvSpPr/>
          <p:nvPr/>
        </p:nvSpPr>
        <p:spPr>
          <a:xfrm>
            <a:off x="7427136" y="3610005"/>
            <a:ext cx="1861511" cy="719818"/>
          </a:xfrm>
          <a:prstGeom prst="wedgeRectCallout">
            <a:avLst>
              <a:gd name="adj1" fmla="val -80180"/>
              <a:gd name="adj2" fmla="val 94780"/>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SG" sz="1200"/>
              <a:t>Change: Bandwidth is unmapped from Siebel's `Connection Speed`</a:t>
            </a:r>
          </a:p>
        </p:txBody>
      </p:sp>
      <p:sp>
        <p:nvSpPr>
          <p:cNvPr id="7" name="TextBox 6">
            <a:extLst>
              <a:ext uri="{FF2B5EF4-FFF2-40B4-BE49-F238E27FC236}">
                <a16:creationId xmlns:a16="http://schemas.microsoft.com/office/drawing/2014/main" id="{E959C322-881A-0B2A-E670-DF262639472E}"/>
              </a:ext>
            </a:extLst>
          </p:cNvPr>
          <p:cNvSpPr txBox="1"/>
          <p:nvPr/>
        </p:nvSpPr>
        <p:spPr>
          <a:xfrm>
            <a:off x="348720" y="577538"/>
            <a:ext cx="11661128" cy="369332"/>
          </a:xfrm>
          <a:prstGeom prst="rect">
            <a:avLst/>
          </a:prstGeom>
          <a:noFill/>
        </p:spPr>
        <p:txBody>
          <a:bodyPr wrap="square" lIns="91440" tIns="45720" rIns="91440" bIns="45720" rtlCol="0" anchor="t">
            <a:spAutoFit/>
          </a:bodyPr>
          <a:lstStyle/>
          <a:p>
            <a:r>
              <a:rPr lang="en-US" sz="1800"/>
              <a:t>For </a:t>
            </a:r>
            <a:r>
              <a:rPr lang="en-US" sz="1800">
                <a:latin typeface="Andale Mono"/>
              </a:rPr>
              <a:t>ECX00015.ELEM Fabric Virtual Connection</a:t>
            </a:r>
            <a:r>
              <a:rPr lang="en-US" sz="1800"/>
              <a:t> assets</a:t>
            </a:r>
          </a:p>
        </p:txBody>
      </p:sp>
      <p:sp>
        <p:nvSpPr>
          <p:cNvPr id="11" name="TextBox 10">
            <a:extLst>
              <a:ext uri="{FF2B5EF4-FFF2-40B4-BE49-F238E27FC236}">
                <a16:creationId xmlns:a16="http://schemas.microsoft.com/office/drawing/2014/main" id="{D546B6A9-462C-A4F7-0BFD-8222D6819682}"/>
              </a:ext>
            </a:extLst>
          </p:cNvPr>
          <p:cNvSpPr txBox="1"/>
          <p:nvPr/>
        </p:nvSpPr>
        <p:spPr>
          <a:xfrm>
            <a:off x="2013378" y="1226699"/>
            <a:ext cx="1133644" cy="369332"/>
          </a:xfrm>
          <a:prstGeom prst="rect">
            <a:avLst/>
          </a:prstGeom>
          <a:noFill/>
        </p:spPr>
        <p:txBody>
          <a:bodyPr wrap="square" rtlCol="0">
            <a:spAutoFit/>
          </a:bodyPr>
          <a:lstStyle/>
          <a:p>
            <a:r>
              <a:rPr lang="en-US" sz="1800"/>
              <a:t>Inventory</a:t>
            </a:r>
          </a:p>
        </p:txBody>
      </p:sp>
      <p:sp>
        <p:nvSpPr>
          <p:cNvPr id="13" name="TextBox 12">
            <a:extLst>
              <a:ext uri="{FF2B5EF4-FFF2-40B4-BE49-F238E27FC236}">
                <a16:creationId xmlns:a16="http://schemas.microsoft.com/office/drawing/2014/main" id="{61A2F82D-DB6B-3B4B-813D-C64D1EA3CFCE}"/>
              </a:ext>
            </a:extLst>
          </p:cNvPr>
          <p:cNvSpPr txBox="1"/>
          <p:nvPr/>
        </p:nvSpPr>
        <p:spPr>
          <a:xfrm>
            <a:off x="7942359" y="1226699"/>
            <a:ext cx="1377300" cy="369332"/>
          </a:xfrm>
          <a:prstGeom prst="rect">
            <a:avLst/>
          </a:prstGeom>
          <a:noFill/>
        </p:spPr>
        <p:txBody>
          <a:bodyPr wrap="square" rtlCol="0">
            <a:spAutoFit/>
          </a:bodyPr>
          <a:lstStyle/>
          <a:p>
            <a:r>
              <a:rPr lang="en-US" sz="1800"/>
              <a:t>Install Base</a:t>
            </a:r>
          </a:p>
        </p:txBody>
      </p:sp>
    </p:spTree>
    <p:extLst>
      <p:ext uri="{BB962C8B-B14F-4D97-AF65-F5344CB8AC3E}">
        <p14:creationId xmlns:p14="http://schemas.microsoft.com/office/powerpoint/2010/main" val="1210446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1F354-E250-923D-718D-90DA55A66E0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A5C482F-DDFD-96DB-2434-A9350A300ADE}"/>
              </a:ext>
            </a:extLst>
          </p:cNvPr>
          <p:cNvPicPr>
            <a:picLocks noChangeAspect="1"/>
          </p:cNvPicPr>
          <p:nvPr/>
        </p:nvPicPr>
        <p:blipFill>
          <a:blip r:embed="rId3"/>
          <a:stretch>
            <a:fillRect/>
          </a:stretch>
        </p:blipFill>
        <p:spPr>
          <a:xfrm>
            <a:off x="1900542" y="3897897"/>
            <a:ext cx="8390917" cy="2411611"/>
          </a:xfrm>
          <a:prstGeom prst="rect">
            <a:avLst/>
          </a:prstGeom>
          <a:effectLst>
            <a:outerShdw blurRad="50800" dist="38100" dir="5400000" algn="t" rotWithShape="0">
              <a:prstClr val="black">
                <a:alpha val="20000"/>
              </a:prstClr>
            </a:outerShdw>
          </a:effectLst>
        </p:spPr>
      </p:pic>
      <p:pic>
        <p:nvPicPr>
          <p:cNvPr id="3" name="Picture 2">
            <a:extLst>
              <a:ext uri="{FF2B5EF4-FFF2-40B4-BE49-F238E27FC236}">
                <a16:creationId xmlns:a16="http://schemas.microsoft.com/office/drawing/2014/main" id="{7692A115-B628-EC0E-531C-A0B6E13C0585}"/>
              </a:ext>
            </a:extLst>
          </p:cNvPr>
          <p:cNvPicPr>
            <a:picLocks noChangeAspect="1"/>
          </p:cNvPicPr>
          <p:nvPr/>
        </p:nvPicPr>
        <p:blipFill>
          <a:blip r:embed="rId4"/>
          <a:stretch>
            <a:fillRect/>
          </a:stretch>
        </p:blipFill>
        <p:spPr>
          <a:xfrm>
            <a:off x="1857554" y="1323288"/>
            <a:ext cx="8433904" cy="2233844"/>
          </a:xfrm>
          <a:prstGeom prst="rect">
            <a:avLst/>
          </a:prstGeom>
          <a:effectLst>
            <a:outerShdw blurRad="50800" dist="38100" dir="5400000" algn="t" rotWithShape="0">
              <a:prstClr val="black">
                <a:alpha val="20000"/>
              </a:prstClr>
            </a:outerShdw>
          </a:effectLst>
        </p:spPr>
      </p:pic>
      <p:sp>
        <p:nvSpPr>
          <p:cNvPr id="2" name="Title 1">
            <a:extLst>
              <a:ext uri="{FF2B5EF4-FFF2-40B4-BE49-F238E27FC236}">
                <a16:creationId xmlns:a16="http://schemas.microsoft.com/office/drawing/2014/main" id="{C2D10196-04E5-98DB-C657-37F199044EDB}"/>
              </a:ext>
            </a:extLst>
          </p:cNvPr>
          <p:cNvSpPr>
            <a:spLocks noGrp="1"/>
          </p:cNvSpPr>
          <p:nvPr>
            <p:ph type="title"/>
          </p:nvPr>
        </p:nvSpPr>
        <p:spPr>
          <a:xfrm>
            <a:off x="312369" y="185921"/>
            <a:ext cx="11864550" cy="584802"/>
          </a:xfrm>
        </p:spPr>
        <p:txBody>
          <a:bodyPr vert="horz" lIns="118872" tIns="59436" rIns="118872" bIns="59436" anchor="t"/>
          <a:lstStyle/>
          <a:p>
            <a:pPr>
              <a:spcBef>
                <a:spcPts val="0"/>
              </a:spcBef>
              <a:defRPr/>
            </a:pPr>
            <a:r>
              <a:rPr lang="en-US" sz="2400"/>
              <a:t>Sample screenshots of Inventory, Install Base Report behavior</a:t>
            </a:r>
            <a:endParaRPr lang="en-SG" sz="2400"/>
          </a:p>
        </p:txBody>
      </p:sp>
      <p:sp>
        <p:nvSpPr>
          <p:cNvPr id="7" name="Rectangular Callout 6">
            <a:extLst>
              <a:ext uri="{FF2B5EF4-FFF2-40B4-BE49-F238E27FC236}">
                <a16:creationId xmlns:a16="http://schemas.microsoft.com/office/drawing/2014/main" id="{756AAB9E-ABAE-6BC7-9AE9-3C4993C9FC60}"/>
              </a:ext>
            </a:extLst>
          </p:cNvPr>
          <p:cNvSpPr/>
          <p:nvPr/>
        </p:nvSpPr>
        <p:spPr>
          <a:xfrm>
            <a:off x="5909616" y="2244156"/>
            <a:ext cx="1758662" cy="828344"/>
          </a:xfrm>
          <a:prstGeom prst="wedgeRectCallout">
            <a:avLst>
              <a:gd name="adj1" fmla="val 105583"/>
              <a:gd name="adj2" fmla="val 51922"/>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200"/>
              <a:t>Change: ‘Bandwidth’ column is unmapped from Siebel 'Connection Speed'</a:t>
            </a:r>
          </a:p>
        </p:txBody>
      </p:sp>
      <p:sp>
        <p:nvSpPr>
          <p:cNvPr id="8" name="Rectangular Callout 7">
            <a:extLst>
              <a:ext uri="{FF2B5EF4-FFF2-40B4-BE49-F238E27FC236}">
                <a16:creationId xmlns:a16="http://schemas.microsoft.com/office/drawing/2014/main" id="{4496440E-7195-EF9D-CFAB-10D2662AF009}"/>
              </a:ext>
            </a:extLst>
          </p:cNvPr>
          <p:cNvSpPr/>
          <p:nvPr/>
        </p:nvSpPr>
        <p:spPr>
          <a:xfrm>
            <a:off x="10229323" y="1920137"/>
            <a:ext cx="1758662" cy="828344"/>
          </a:xfrm>
          <a:prstGeom prst="wedgeRectCallout">
            <a:avLst>
              <a:gd name="adj1" fmla="val -68707"/>
              <a:gd name="adj2" fmla="val 100120"/>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a:t>Change: ‘Billing Tier’ column is added and mapped to Siebel ‘Connection Speed’</a:t>
            </a:r>
          </a:p>
        </p:txBody>
      </p:sp>
      <p:sp>
        <p:nvSpPr>
          <p:cNvPr id="11" name="Rectangular Callout 10">
            <a:extLst>
              <a:ext uri="{FF2B5EF4-FFF2-40B4-BE49-F238E27FC236}">
                <a16:creationId xmlns:a16="http://schemas.microsoft.com/office/drawing/2014/main" id="{6C271730-1683-D821-0DE3-4C5CC8C55D47}"/>
              </a:ext>
            </a:extLst>
          </p:cNvPr>
          <p:cNvSpPr/>
          <p:nvPr/>
        </p:nvSpPr>
        <p:spPr>
          <a:xfrm>
            <a:off x="6427685" y="5288368"/>
            <a:ext cx="1758662" cy="828344"/>
          </a:xfrm>
          <a:prstGeom prst="wedgeRectCallout">
            <a:avLst>
              <a:gd name="adj1" fmla="val 106315"/>
              <a:gd name="adj2" fmla="val 31710"/>
            </a:avLst>
          </a:prstGeom>
          <a:solidFill>
            <a:schemeClr val="accent4"/>
          </a:solidFill>
          <a:ln>
            <a:solidFill>
              <a:srgbClr val="FFC00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200"/>
              <a:t>Change: ‘Bandwidth’ column is unmapped from Siebel 'Connection Speed'</a:t>
            </a:r>
          </a:p>
        </p:txBody>
      </p:sp>
      <p:sp>
        <p:nvSpPr>
          <p:cNvPr id="14" name="TextBox 13">
            <a:extLst>
              <a:ext uri="{FF2B5EF4-FFF2-40B4-BE49-F238E27FC236}">
                <a16:creationId xmlns:a16="http://schemas.microsoft.com/office/drawing/2014/main" id="{9F5407B5-5BDE-B5B5-B626-013E32F77F97}"/>
              </a:ext>
            </a:extLst>
          </p:cNvPr>
          <p:cNvSpPr txBox="1"/>
          <p:nvPr/>
        </p:nvSpPr>
        <p:spPr>
          <a:xfrm>
            <a:off x="351007" y="580994"/>
            <a:ext cx="8722691" cy="369332"/>
          </a:xfrm>
          <a:prstGeom prst="rect">
            <a:avLst/>
          </a:prstGeom>
          <a:noFill/>
        </p:spPr>
        <p:txBody>
          <a:bodyPr wrap="square" lIns="91440" tIns="45720" rIns="91440" bIns="45720" anchor="t">
            <a:spAutoFit/>
          </a:bodyPr>
          <a:lstStyle/>
          <a:p>
            <a:r>
              <a:rPr lang="en-US" sz="1800"/>
              <a:t>For </a:t>
            </a:r>
            <a:r>
              <a:rPr lang="en-US" sz="1800">
                <a:latin typeface="Andale Mono"/>
              </a:rPr>
              <a:t>ECX00015.ELEM Fabric Virtual Connection</a:t>
            </a:r>
            <a:r>
              <a:rPr lang="en-US" sz="1800"/>
              <a:t> assets</a:t>
            </a:r>
          </a:p>
        </p:txBody>
      </p:sp>
      <p:sp>
        <p:nvSpPr>
          <p:cNvPr id="16" name="TextBox 15">
            <a:extLst>
              <a:ext uri="{FF2B5EF4-FFF2-40B4-BE49-F238E27FC236}">
                <a16:creationId xmlns:a16="http://schemas.microsoft.com/office/drawing/2014/main" id="{A55D6377-7A11-93F0-F637-BA48AD2CA23E}"/>
              </a:ext>
            </a:extLst>
          </p:cNvPr>
          <p:cNvSpPr txBox="1"/>
          <p:nvPr/>
        </p:nvSpPr>
        <p:spPr>
          <a:xfrm>
            <a:off x="411594" y="2566439"/>
            <a:ext cx="1133644" cy="369332"/>
          </a:xfrm>
          <a:prstGeom prst="rect">
            <a:avLst/>
          </a:prstGeom>
          <a:noFill/>
        </p:spPr>
        <p:txBody>
          <a:bodyPr wrap="square" rtlCol="0">
            <a:spAutoFit/>
          </a:bodyPr>
          <a:lstStyle/>
          <a:p>
            <a:r>
              <a:rPr lang="en-US" sz="1800"/>
              <a:t>Inventory</a:t>
            </a:r>
          </a:p>
        </p:txBody>
      </p:sp>
      <p:sp>
        <p:nvSpPr>
          <p:cNvPr id="20" name="TextBox 19">
            <a:extLst>
              <a:ext uri="{FF2B5EF4-FFF2-40B4-BE49-F238E27FC236}">
                <a16:creationId xmlns:a16="http://schemas.microsoft.com/office/drawing/2014/main" id="{277730D6-F9E2-3FD1-B69F-F6C58B98223F}"/>
              </a:ext>
            </a:extLst>
          </p:cNvPr>
          <p:cNvSpPr txBox="1"/>
          <p:nvPr/>
        </p:nvSpPr>
        <p:spPr>
          <a:xfrm>
            <a:off x="411594" y="5103702"/>
            <a:ext cx="1377300" cy="369332"/>
          </a:xfrm>
          <a:prstGeom prst="rect">
            <a:avLst/>
          </a:prstGeom>
          <a:noFill/>
        </p:spPr>
        <p:txBody>
          <a:bodyPr wrap="square" rtlCol="0">
            <a:spAutoFit/>
          </a:bodyPr>
          <a:lstStyle/>
          <a:p>
            <a:r>
              <a:rPr lang="en-US" sz="1800"/>
              <a:t>Install Base</a:t>
            </a:r>
          </a:p>
        </p:txBody>
      </p:sp>
    </p:spTree>
    <p:extLst>
      <p:ext uri="{BB962C8B-B14F-4D97-AF65-F5344CB8AC3E}">
        <p14:creationId xmlns:p14="http://schemas.microsoft.com/office/powerpoint/2010/main" val="3531952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78C83-8C52-BEA9-3AFB-A8AB93A1C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C83E6-D092-9A62-6A5E-50FB1B80C12E}"/>
              </a:ext>
            </a:extLst>
          </p:cNvPr>
          <p:cNvSpPr>
            <a:spLocks noGrp="1"/>
          </p:cNvSpPr>
          <p:nvPr>
            <p:ph type="title"/>
          </p:nvPr>
        </p:nvSpPr>
        <p:spPr>
          <a:xfrm>
            <a:off x="312369" y="185921"/>
            <a:ext cx="11864550" cy="584802"/>
          </a:xfrm>
        </p:spPr>
        <p:txBody>
          <a:bodyPr vert="horz" lIns="118872" tIns="59436" rIns="118872" bIns="59436" anchor="t"/>
          <a:lstStyle/>
          <a:p>
            <a:r>
              <a:rPr lang="en-US" sz="2400">
                <a:cs typeface="Arial"/>
              </a:rPr>
              <a:t>Operator – </a:t>
            </a:r>
            <a:r>
              <a:rPr lang="en-US" sz="2400" b="0" i="0" u="none" strike="noStrike" kern="1200" cap="none" spc="0" normalizeH="0" baseline="0" noProof="0">
                <a:ln>
                  <a:noFill/>
                </a:ln>
                <a:solidFill>
                  <a:srgbClr val="000000"/>
                </a:solidFill>
                <a:effectLst/>
                <a:uLnTx/>
                <a:uFillTx/>
                <a:latin typeface="+mn-lt"/>
                <a:ea typeface="+mn-ea"/>
                <a:cs typeface="+mn-cs"/>
              </a:rPr>
              <a:t>Allow alphanumeric search in Operator’s Order Number Search</a:t>
            </a:r>
            <a:endParaRPr lang="en-US" sz="2400">
              <a:cs typeface="Arial"/>
            </a:endParaRPr>
          </a:p>
        </p:txBody>
      </p:sp>
      <p:graphicFrame>
        <p:nvGraphicFramePr>
          <p:cNvPr id="5" name="Table 4">
            <a:extLst>
              <a:ext uri="{FF2B5EF4-FFF2-40B4-BE49-F238E27FC236}">
                <a16:creationId xmlns:a16="http://schemas.microsoft.com/office/drawing/2014/main" id="{C74637C7-076F-EF0A-4BD9-916BA03CCFDC}"/>
              </a:ext>
            </a:extLst>
          </p:cNvPr>
          <p:cNvGraphicFramePr>
            <a:graphicFrameLocks noGrp="1"/>
          </p:cNvGraphicFramePr>
          <p:nvPr>
            <p:extLst>
              <p:ext uri="{D42A27DB-BD31-4B8C-83A1-F6EECF244321}">
                <p14:modId xmlns:p14="http://schemas.microsoft.com/office/powerpoint/2010/main" val="52685794"/>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Operator</a:t>
                      </a:r>
                    </a:p>
                  </a:txBody>
                  <a:tcPr marL="121618" marR="121618" marT="57150" marB="57150" anchor="ctr"/>
                </a:tc>
                <a:tc>
                  <a:txBody>
                    <a:bodyPr/>
                    <a:lstStyle/>
                    <a:p>
                      <a:pPr lvl="0" algn="ctr">
                        <a:buNone/>
                      </a:pPr>
                      <a:r>
                        <a:rPr lang="en-US" sz="1200"/>
                        <a:t>Order Number Search</a:t>
                      </a:r>
                    </a:p>
                  </a:txBody>
                  <a:tcPr marL="121618" marR="121618" marT="57150" marB="57150" anchor="ctr"/>
                </a:tc>
                <a:tc>
                  <a:txBody>
                    <a:bodyPr/>
                    <a:lstStyle/>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User can enter alphabets into search box</a:t>
                      </a:r>
                    </a:p>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Alphanumeric order numbers can be searched and user will land on ECP’s order details page accordingly</a:t>
                      </a: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4" name="Picture 3" descr="A screenshot of a phone&#10;&#10;AI-generated content may be incorrect.">
            <a:extLst>
              <a:ext uri="{FF2B5EF4-FFF2-40B4-BE49-F238E27FC236}">
                <a16:creationId xmlns:a16="http://schemas.microsoft.com/office/drawing/2014/main" id="{60DC8A74-1C31-D33A-B998-BEF97D509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8357" y="1417659"/>
            <a:ext cx="7772400" cy="2011341"/>
          </a:xfrm>
          <a:prstGeom prst="rect">
            <a:avLst/>
          </a:prstGeom>
        </p:spPr>
      </p:pic>
    </p:spTree>
    <p:extLst>
      <p:ext uri="{BB962C8B-B14F-4D97-AF65-F5344CB8AC3E}">
        <p14:creationId xmlns:p14="http://schemas.microsoft.com/office/powerpoint/2010/main" val="3967192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17C6B-99AD-0F10-CE30-DD495A66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5BACE-C8BC-B7A3-DDBD-89BA867E13B3}"/>
              </a:ext>
            </a:extLst>
          </p:cNvPr>
          <p:cNvSpPr>
            <a:spLocks noGrp="1"/>
          </p:cNvSpPr>
          <p:nvPr>
            <p:ph type="title"/>
          </p:nvPr>
        </p:nvSpPr>
        <p:spPr>
          <a:xfrm>
            <a:off x="312369" y="185921"/>
            <a:ext cx="11864550" cy="584802"/>
          </a:xfrm>
        </p:spPr>
        <p:txBody>
          <a:bodyPr vert="horz" lIns="118872" tIns="59436" rIns="118872" bIns="59436" anchor="t"/>
          <a:lstStyle/>
          <a:p>
            <a:r>
              <a:rPr lang="en-US" sz="2400">
                <a:cs typeface="Arial"/>
              </a:rPr>
              <a:t>Order History – </a:t>
            </a:r>
            <a:r>
              <a:rPr lang="en-US" sz="2400" b="0" i="0" u="none" strike="noStrike" kern="1200" cap="none" spc="0" normalizeH="0" baseline="0" noProof="0">
                <a:ln>
                  <a:noFill/>
                </a:ln>
                <a:solidFill>
                  <a:srgbClr val="000000"/>
                </a:solidFill>
                <a:effectLst/>
                <a:uLnTx/>
                <a:uFillTx/>
                <a:latin typeface="+mn-lt"/>
                <a:ea typeface="+mn-ea"/>
                <a:cs typeface="+mn-cs"/>
              </a:rPr>
              <a:t>Update default </a:t>
            </a:r>
            <a:r>
              <a:rPr lang="en-US" sz="2400" b="0" i="0" u="none" strike="noStrike" kern="1200" cap="none" spc="0" normalizeH="0" baseline="0" noProof="0" err="1">
                <a:ln>
                  <a:noFill/>
                </a:ln>
                <a:solidFill>
                  <a:srgbClr val="000000"/>
                </a:solidFill>
                <a:effectLst/>
                <a:uLnTx/>
                <a:uFillTx/>
                <a:latin typeface="+mn-lt"/>
                <a:ea typeface="+mn-ea"/>
                <a:cs typeface="+mn-cs"/>
              </a:rPr>
              <a:t>behaviour</a:t>
            </a:r>
            <a:r>
              <a:rPr lang="en-US" sz="2400" b="0" i="0" u="none" strike="noStrike" kern="1200" cap="none" spc="0" normalizeH="0" baseline="0" noProof="0">
                <a:ln>
                  <a:noFill/>
                </a:ln>
                <a:solidFill>
                  <a:srgbClr val="000000"/>
                </a:solidFill>
                <a:effectLst/>
                <a:uLnTx/>
                <a:uFillTx/>
                <a:latin typeface="+mn-lt"/>
                <a:ea typeface="+mn-ea"/>
                <a:cs typeface="+mn-cs"/>
              </a:rPr>
              <a:t> when landing on Orders &amp; Tickets History page</a:t>
            </a:r>
            <a:endParaRPr lang="en-US" sz="2400">
              <a:cs typeface="Arial"/>
            </a:endParaRPr>
          </a:p>
        </p:txBody>
      </p:sp>
      <p:graphicFrame>
        <p:nvGraphicFramePr>
          <p:cNvPr id="5" name="Table 4">
            <a:extLst>
              <a:ext uri="{FF2B5EF4-FFF2-40B4-BE49-F238E27FC236}">
                <a16:creationId xmlns:a16="http://schemas.microsoft.com/office/drawing/2014/main" id="{FCEFC1C9-98FD-3481-2628-3A77F27FF249}"/>
              </a:ext>
            </a:extLst>
          </p:cNvPr>
          <p:cNvGraphicFramePr>
            <a:graphicFrameLocks noGrp="1"/>
          </p:cNvGraphicFramePr>
          <p:nvPr>
            <p:extLst>
              <p:ext uri="{D42A27DB-BD31-4B8C-83A1-F6EECF244321}">
                <p14:modId xmlns:p14="http://schemas.microsoft.com/office/powerpoint/2010/main" val="33558589"/>
              </p:ext>
            </p:extLst>
          </p:nvPr>
        </p:nvGraphicFramePr>
        <p:xfrm>
          <a:off x="163726" y="4987870"/>
          <a:ext cx="11864549" cy="1720891"/>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ECP</a:t>
                      </a:r>
                    </a:p>
                  </a:txBody>
                  <a:tcPr marL="121618" marR="121618" marT="57150" marB="57150" anchor="ctr"/>
                </a:tc>
                <a:tc>
                  <a:txBody>
                    <a:bodyPr/>
                    <a:lstStyle/>
                    <a:p>
                      <a:pPr lvl="0" algn="ctr">
                        <a:buNone/>
                      </a:pPr>
                      <a:r>
                        <a:rPr lang="en-US" sz="1200"/>
                        <a:t>Order History</a:t>
                      </a:r>
                    </a:p>
                  </a:txBody>
                  <a:tcPr marL="121618" marR="121618" marT="57150" marB="57150" anchor="ctr"/>
                </a:tc>
                <a:tc>
                  <a:txBody>
                    <a:bodyPr/>
                    <a:lstStyle/>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Users will be on the “All” tab when they access Orders &amp; Tickets History page</a:t>
                      </a:r>
                    </a:p>
                    <a:p>
                      <a:pPr marL="285750" lvl="0" indent="-285750" algn="l">
                        <a:lnSpc>
                          <a:spcPct val="100000"/>
                        </a:lnSpc>
                        <a:spcBef>
                          <a:spcPts val="0"/>
                        </a:spcBef>
                        <a:spcAft>
                          <a:spcPts val="0"/>
                        </a:spcAft>
                        <a:buFont typeface="Arial"/>
                        <a:buChar char="•"/>
                      </a:pPr>
                      <a:r>
                        <a:rPr lang="en-GB" sz="1200" b="0" i="0" u="none" strike="noStrike" noProof="0">
                          <a:solidFill>
                            <a:schemeClr val="tx1"/>
                          </a:solidFill>
                        </a:rPr>
                        <a:t>Position of “All” tab has been shifted to the first tab of the data table</a:t>
                      </a: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4" name="Picture 3" descr="A screenshot of a computer&#10;&#10;AI-generated content may be incorrect.">
            <a:extLst>
              <a:ext uri="{FF2B5EF4-FFF2-40B4-BE49-F238E27FC236}">
                <a16:creationId xmlns:a16="http://schemas.microsoft.com/office/drawing/2014/main" id="{C7AC83AC-F688-1091-3768-BE362BBDE5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52" y="1248481"/>
            <a:ext cx="11398895" cy="3290034"/>
          </a:xfrm>
          <a:prstGeom prst="rect">
            <a:avLst/>
          </a:prstGeom>
        </p:spPr>
      </p:pic>
      <p:sp>
        <p:nvSpPr>
          <p:cNvPr id="6" name="Rectangle 5">
            <a:extLst>
              <a:ext uri="{FF2B5EF4-FFF2-40B4-BE49-F238E27FC236}">
                <a16:creationId xmlns:a16="http://schemas.microsoft.com/office/drawing/2014/main" id="{9DFC8575-9021-2308-C0DC-A5A575426265}"/>
              </a:ext>
            </a:extLst>
          </p:cNvPr>
          <p:cNvSpPr/>
          <p:nvPr/>
        </p:nvSpPr>
        <p:spPr>
          <a:xfrm>
            <a:off x="714564" y="2301139"/>
            <a:ext cx="4275274" cy="4905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9553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457F-68EB-C7F4-5F10-9D64C5524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91313-55B8-3B87-A49D-6741AEBE4320}"/>
              </a:ext>
            </a:extLst>
          </p:cNvPr>
          <p:cNvSpPr>
            <a:spLocks noGrp="1"/>
          </p:cNvSpPr>
          <p:nvPr>
            <p:ph type="title"/>
          </p:nvPr>
        </p:nvSpPr>
        <p:spPr>
          <a:xfrm>
            <a:off x="312369" y="185921"/>
            <a:ext cx="11864550" cy="584802"/>
          </a:xfrm>
        </p:spPr>
        <p:txBody>
          <a:bodyPr vert="horz" lIns="118872" tIns="59436" rIns="118872" bIns="59436" anchor="t"/>
          <a:lstStyle/>
          <a:p>
            <a:r>
              <a:rPr lang="en-US" sz="2400">
                <a:cs typeface="Arial"/>
              </a:rPr>
              <a:t>Equinix Intelligence – Pilot launch</a:t>
            </a:r>
          </a:p>
        </p:txBody>
      </p:sp>
      <p:graphicFrame>
        <p:nvGraphicFramePr>
          <p:cNvPr id="5" name="Table 4">
            <a:extLst>
              <a:ext uri="{FF2B5EF4-FFF2-40B4-BE49-F238E27FC236}">
                <a16:creationId xmlns:a16="http://schemas.microsoft.com/office/drawing/2014/main" id="{98B741E3-AF86-B4B1-2D23-2D18CBBDEE64}"/>
              </a:ext>
            </a:extLst>
          </p:cNvPr>
          <p:cNvGraphicFramePr>
            <a:graphicFrameLocks noGrp="1"/>
          </p:cNvGraphicFramePr>
          <p:nvPr>
            <p:extLst>
              <p:ext uri="{D42A27DB-BD31-4B8C-83A1-F6EECF244321}">
                <p14:modId xmlns:p14="http://schemas.microsoft.com/office/powerpoint/2010/main" val="2611586881"/>
              </p:ext>
            </p:extLst>
          </p:nvPr>
        </p:nvGraphicFramePr>
        <p:xfrm>
          <a:off x="163725" y="4545809"/>
          <a:ext cx="11864549" cy="2082887"/>
        </p:xfrm>
        <a:graphic>
          <a:graphicData uri="http://schemas.openxmlformats.org/drawingml/2006/table">
            <a:tbl>
              <a:tblPr firstRow="1" bandRow="1">
                <a:tableStyleId>{F5AB1C69-6EDB-4FF4-983F-18BD219EF322}</a:tableStyleId>
              </a:tblPr>
              <a:tblGrid>
                <a:gridCol w="1723973">
                  <a:extLst>
                    <a:ext uri="{9D8B030D-6E8A-4147-A177-3AD203B41FA5}">
                      <a16:colId xmlns:a16="http://schemas.microsoft.com/office/drawing/2014/main" val="20000"/>
                    </a:ext>
                  </a:extLst>
                </a:gridCol>
                <a:gridCol w="1874242">
                  <a:extLst>
                    <a:ext uri="{9D8B030D-6E8A-4147-A177-3AD203B41FA5}">
                      <a16:colId xmlns:a16="http://schemas.microsoft.com/office/drawing/2014/main" val="20001"/>
                    </a:ext>
                  </a:extLst>
                </a:gridCol>
                <a:gridCol w="6082793">
                  <a:extLst>
                    <a:ext uri="{9D8B030D-6E8A-4147-A177-3AD203B41FA5}">
                      <a16:colId xmlns:a16="http://schemas.microsoft.com/office/drawing/2014/main" val="20002"/>
                    </a:ext>
                  </a:extLst>
                </a:gridCol>
                <a:gridCol w="2183541">
                  <a:extLst>
                    <a:ext uri="{9D8B030D-6E8A-4147-A177-3AD203B41FA5}">
                      <a16:colId xmlns:a16="http://schemas.microsoft.com/office/drawing/2014/main" val="20003"/>
                    </a:ext>
                  </a:extLst>
                </a:gridCol>
              </a:tblGrid>
              <a:tr h="322667">
                <a:tc>
                  <a:txBody>
                    <a:bodyPr/>
                    <a:lstStyle/>
                    <a:p>
                      <a:pPr algn="ctr"/>
                      <a:r>
                        <a:rPr lang="en-GB" sz="1200"/>
                        <a:t>ECP/ Operator</a:t>
                      </a:r>
                    </a:p>
                  </a:txBody>
                  <a:tcPr marL="121618" marR="121618" marT="57150" marB="57150" anchor="ctr"/>
                </a:tc>
                <a:tc>
                  <a:txBody>
                    <a:bodyPr/>
                    <a:lstStyle/>
                    <a:p>
                      <a:pPr algn="ctr"/>
                      <a:r>
                        <a:rPr lang="en-GB" sz="1100"/>
                        <a:t>Module</a:t>
                      </a:r>
                    </a:p>
                  </a:txBody>
                  <a:tcPr marL="121618" marR="121618" marT="57150" marB="57150" anchor="ctr"/>
                </a:tc>
                <a:tc>
                  <a:txBody>
                    <a:bodyPr/>
                    <a:lstStyle/>
                    <a:p>
                      <a:pPr algn="ctr"/>
                      <a:r>
                        <a:rPr lang="en-GB" sz="1200"/>
                        <a:t>Detail</a:t>
                      </a:r>
                    </a:p>
                  </a:txBody>
                  <a:tcPr marL="121618" marR="121618" marT="57150" marB="57150" anchor="ctr"/>
                </a:tc>
                <a:tc>
                  <a:txBody>
                    <a:bodyPr/>
                    <a:lstStyle/>
                    <a:p>
                      <a:pPr algn="ctr"/>
                      <a:r>
                        <a:rPr lang="en-GB" sz="1000"/>
                        <a:t>Training</a:t>
                      </a:r>
                      <a:r>
                        <a:rPr lang="en-GB" sz="1000" baseline="0"/>
                        <a:t> &amp; </a:t>
                      </a:r>
                      <a:r>
                        <a:rPr lang="en-GB" sz="1000"/>
                        <a:t>process change</a:t>
                      </a:r>
                    </a:p>
                  </a:txBody>
                  <a:tcPr marL="121618" marR="121618" marT="57150" marB="57150" anchor="ctr"/>
                </a:tc>
                <a:extLst>
                  <a:ext uri="{0D108BD9-81ED-4DB2-BD59-A6C34878D82A}">
                    <a16:rowId xmlns:a16="http://schemas.microsoft.com/office/drawing/2014/main" val="10000"/>
                  </a:ext>
                </a:extLst>
              </a:tr>
              <a:tr h="1398224">
                <a:tc>
                  <a:txBody>
                    <a:bodyPr/>
                    <a:lstStyle/>
                    <a:p>
                      <a:pPr algn="ctr"/>
                      <a:r>
                        <a:rPr lang="en-GB" sz="1200">
                          <a:solidFill>
                            <a:schemeClr val="tx1"/>
                          </a:solidFill>
                        </a:rPr>
                        <a:t>ECP</a:t>
                      </a:r>
                    </a:p>
                  </a:txBody>
                  <a:tcPr marL="121618" marR="121618" marT="57150" marB="57150" anchor="ctr"/>
                </a:tc>
                <a:tc>
                  <a:txBody>
                    <a:bodyPr/>
                    <a:lstStyle/>
                    <a:p>
                      <a:pPr lvl="0" algn="ctr">
                        <a:buNone/>
                      </a:pPr>
                      <a:r>
                        <a:rPr lang="en-US" sz="1200"/>
                        <a:t>Equinix Intelligence</a:t>
                      </a:r>
                    </a:p>
                  </a:txBody>
                  <a:tcPr marL="121618" marR="121618" marT="57150" marB="57150" anchor="ctr"/>
                </a:tc>
                <a:tc>
                  <a:txBody>
                    <a:bodyPr/>
                    <a:lstStyle/>
                    <a:p>
                      <a:pPr marL="228600" indent="-228600">
                        <a:buFont typeface="+mj-lt"/>
                        <a:buAutoNum type="arabicPeriod"/>
                      </a:pPr>
                      <a:r>
                        <a:rPr lang="en-SG" sz="900" b="0" i="0" u="none" strike="noStrike" kern="1200">
                          <a:solidFill>
                            <a:schemeClr val="dk1"/>
                          </a:solidFill>
                          <a:effectLst/>
                          <a:latin typeface="+mn-lt"/>
                          <a:ea typeface="+mn-ea"/>
                          <a:cs typeface="+mn-cs"/>
                        </a:rPr>
                        <a:t>Customer will see an Equinix Intelligence CTA on ECP's, Fabric's portal header</a:t>
                      </a:r>
                    </a:p>
                    <a:p>
                      <a:pPr marL="228600" indent="-228600">
                        <a:buFont typeface="+mj-lt"/>
                        <a:buAutoNum type="arabicPeriod"/>
                      </a:pPr>
                      <a:r>
                        <a:rPr lang="en-SG" sz="900" b="0" i="0" u="none" strike="noStrike" kern="1200">
                          <a:solidFill>
                            <a:schemeClr val="dk1"/>
                          </a:solidFill>
                          <a:effectLst/>
                          <a:latin typeface="+mn-lt"/>
                          <a:ea typeface="+mn-ea"/>
                          <a:cs typeface="+mn-cs"/>
                        </a:rPr>
                        <a:t>Clicking on the CTA will launch Equinix Intelligence Chat Box that is movable across the screen.</a:t>
                      </a:r>
                    </a:p>
                    <a:p>
                      <a:pPr marL="228600" indent="-228600">
                        <a:buFont typeface="+mj-lt"/>
                        <a:buAutoNum type="arabicPeriod"/>
                      </a:pPr>
                      <a:r>
                        <a:rPr lang="en-SG" sz="900" b="0" i="0" u="none" strike="noStrike" kern="1200">
                          <a:solidFill>
                            <a:schemeClr val="dk1"/>
                          </a:solidFill>
                          <a:effectLst/>
                          <a:latin typeface="+mn-lt"/>
                          <a:ea typeface="+mn-ea"/>
                          <a:cs typeface="+mn-cs"/>
                        </a:rPr>
                        <a:t>Customer can interact with the Equinix Intelligence chat box to get answers to their queries. </a:t>
                      </a:r>
                      <a:br>
                        <a:rPr lang="en-SG" sz="900" b="0" i="0" u="none" strike="noStrike" kern="1200">
                          <a:solidFill>
                            <a:schemeClr val="dk1"/>
                          </a:solidFill>
                          <a:effectLst/>
                          <a:latin typeface="+mn-lt"/>
                          <a:ea typeface="+mn-ea"/>
                          <a:cs typeface="+mn-cs"/>
                        </a:rPr>
                      </a:br>
                      <a:r>
                        <a:rPr lang="en-SG" sz="900" b="0" i="0" u="none" strike="noStrike" kern="1200">
                          <a:solidFill>
                            <a:schemeClr val="dk1"/>
                          </a:solidFill>
                          <a:effectLst/>
                          <a:latin typeface="+mn-lt"/>
                          <a:ea typeface="+mn-ea"/>
                          <a:cs typeface="+mn-cs"/>
                        </a:rPr>
                        <a:t>(Data source will be from Product Documents inclusive of </a:t>
                      </a:r>
                      <a:r>
                        <a:rPr lang="en-SG" sz="900" b="0" i="0" u="none" strike="noStrike" kern="1200" err="1">
                          <a:solidFill>
                            <a:schemeClr val="dk1"/>
                          </a:solidFill>
                          <a:effectLst/>
                          <a:latin typeface="+mn-lt"/>
                          <a:ea typeface="+mn-ea"/>
                          <a:cs typeface="+mn-cs"/>
                        </a:rPr>
                        <a:t>deploy.equinix.com</a:t>
                      </a:r>
                      <a:r>
                        <a:rPr lang="en-SG" sz="900" b="0" i="0" u="none" strike="noStrike" kern="1200">
                          <a:solidFill>
                            <a:schemeClr val="dk1"/>
                          </a:solidFill>
                          <a:effectLst/>
                          <a:latin typeface="+mn-lt"/>
                          <a:ea typeface="+mn-ea"/>
                          <a:cs typeface="+mn-cs"/>
                        </a:rPr>
                        <a:t>)</a:t>
                      </a:r>
                    </a:p>
                    <a:p>
                      <a:pPr marL="228600" indent="-228600">
                        <a:buFont typeface="+mj-lt"/>
                        <a:buAutoNum type="arabicPeriod"/>
                      </a:pPr>
                      <a:r>
                        <a:rPr lang="en-SG" sz="900" b="0" i="0" u="none" strike="noStrike" kern="1200">
                          <a:solidFill>
                            <a:schemeClr val="dk1"/>
                          </a:solidFill>
                          <a:effectLst/>
                          <a:latin typeface="+mn-lt"/>
                          <a:ea typeface="+mn-ea"/>
                          <a:cs typeface="+mn-cs"/>
                        </a:rPr>
                        <a:t>Customer can get their own order details information from Equinix Intelligence. </a:t>
                      </a:r>
                      <a:br>
                        <a:rPr lang="en-SG" sz="900" b="0" i="0" u="none" strike="noStrike" kern="1200">
                          <a:solidFill>
                            <a:schemeClr val="dk1"/>
                          </a:solidFill>
                          <a:effectLst/>
                          <a:latin typeface="+mn-lt"/>
                          <a:ea typeface="+mn-ea"/>
                          <a:cs typeface="+mn-cs"/>
                        </a:rPr>
                      </a:br>
                      <a:r>
                        <a:rPr lang="en-SG" sz="900" b="0" i="0" u="none" strike="noStrike" kern="1200">
                          <a:solidFill>
                            <a:schemeClr val="dk1"/>
                          </a:solidFill>
                          <a:effectLst/>
                          <a:latin typeface="+mn-lt"/>
                          <a:ea typeface="+mn-ea"/>
                          <a:cs typeface="+mn-cs"/>
                        </a:rPr>
                        <a:t>(Details which they can already find in their Orders &amp; Tickets History page.)</a:t>
                      </a:r>
                    </a:p>
                    <a:p>
                      <a:pPr marL="228600" indent="-228600">
                        <a:buFont typeface="+mj-lt"/>
                        <a:buAutoNum type="arabicPeriod"/>
                      </a:pPr>
                      <a:r>
                        <a:rPr lang="en-SG" sz="900" b="0" i="0" u="none" strike="noStrike" kern="1200">
                          <a:solidFill>
                            <a:schemeClr val="dk1"/>
                          </a:solidFill>
                          <a:effectLst/>
                          <a:latin typeface="+mn-lt"/>
                          <a:ea typeface="+mn-ea"/>
                          <a:cs typeface="+mn-cs"/>
                        </a:rPr>
                        <a:t>If Equinix Intelligence does not resolve customer's problem, they can trigger the SFDC Live Chat within Equinix Intelligence itself. There is no need to switch to another application and the Live Chat will be managed by GSD as usual.</a:t>
                      </a:r>
                    </a:p>
                    <a:p>
                      <a:pPr marL="228600" indent="-228600">
                        <a:buFont typeface="+mj-lt"/>
                        <a:buAutoNum type="arabicPeriod"/>
                      </a:pPr>
                      <a:r>
                        <a:rPr lang="en-SG" sz="900" b="0" i="0" u="none" strike="noStrike" kern="1200">
                          <a:solidFill>
                            <a:schemeClr val="dk1"/>
                          </a:solidFill>
                          <a:effectLst/>
                          <a:latin typeface="+mn-lt"/>
                          <a:ea typeface="+mn-ea"/>
                          <a:cs typeface="+mn-cs"/>
                        </a:rPr>
                        <a:t>Equinix Intelligence can be minimised into a floating icon that's movable as well. Customer can permanently close the floating icon, Customer can also see any counts of notification received from the GSD Live Agent during live chat session.</a:t>
                      </a:r>
                    </a:p>
                  </a:txBody>
                  <a:tcPr marL="121618" marR="121618" marT="57150" marB="57150" anchor="ctr"/>
                </a:tc>
                <a:tc>
                  <a:txBody>
                    <a:bodyPr/>
                    <a:lstStyle/>
                    <a:p>
                      <a:pPr algn="ctr"/>
                      <a:r>
                        <a:rPr lang="en-GB" sz="1200" b="0" i="0" u="none" strike="noStrike" baseline="0" noProof="0">
                          <a:solidFill>
                            <a:srgbClr val="000000"/>
                          </a:solidFill>
                          <a:latin typeface="Arial"/>
                        </a:rPr>
                        <a:t>CSM Awareness </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GSD awareness</a:t>
                      </a:r>
                      <a:endParaRPr lang="en-US" sz="1200" b="0" i="0" u="none" strike="noStrike" baseline="0" noProof="0">
                        <a:solidFill>
                          <a:srgbClr val="000000"/>
                        </a:solidFill>
                        <a:latin typeface="Arial"/>
                      </a:endParaRPr>
                    </a:p>
                    <a:p>
                      <a:pPr lvl="0" algn="ctr">
                        <a:buNone/>
                      </a:pPr>
                      <a:r>
                        <a:rPr lang="en-GB" sz="1200" b="0" i="0" u="none" strike="noStrike" baseline="0" noProof="0">
                          <a:solidFill>
                            <a:srgbClr val="000000"/>
                          </a:solidFill>
                          <a:latin typeface="Arial"/>
                        </a:rPr>
                        <a:t>Ops Support awareness</a:t>
                      </a:r>
                      <a:endParaRPr lang="en-GB"/>
                    </a:p>
                    <a:p>
                      <a:pPr lvl="0" algn="ctr">
                        <a:buNone/>
                      </a:pPr>
                      <a:r>
                        <a:rPr lang="en-GB" sz="1200" b="0" i="0" u="none" strike="noStrike" baseline="0" noProof="0">
                          <a:solidFill>
                            <a:srgbClr val="000000"/>
                          </a:solidFill>
                          <a:latin typeface="Arial"/>
                        </a:rPr>
                        <a:t>Sales/AE awareness</a:t>
                      </a:r>
                      <a:endParaRPr lang="en-GB"/>
                    </a:p>
                  </a:txBody>
                  <a:tcPr marL="121618" marR="121618" marT="57150" marB="57150" anchor="ctr"/>
                </a:tc>
                <a:extLst>
                  <a:ext uri="{0D108BD9-81ED-4DB2-BD59-A6C34878D82A}">
                    <a16:rowId xmlns:a16="http://schemas.microsoft.com/office/drawing/2014/main" val="10001"/>
                  </a:ext>
                </a:extLst>
              </a:tr>
            </a:tbl>
          </a:graphicData>
        </a:graphic>
      </p:graphicFrame>
      <p:pic>
        <p:nvPicPr>
          <p:cNvPr id="4" name="Picture 3" descr="A screenshot of a computer&#10;&#10;AI-generated content may be incorrect.">
            <a:extLst>
              <a:ext uri="{FF2B5EF4-FFF2-40B4-BE49-F238E27FC236}">
                <a16:creationId xmlns:a16="http://schemas.microsoft.com/office/drawing/2014/main" id="{5D9F17CF-3285-DC32-A02F-02359223A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138" y="1151121"/>
            <a:ext cx="5507067" cy="2475557"/>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448EAE93-5E53-F08D-3B89-A4A89FEEC1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6905" y="806593"/>
            <a:ext cx="5977956" cy="3268845"/>
          </a:xfrm>
          <a:prstGeom prst="rect">
            <a:avLst/>
          </a:prstGeom>
        </p:spPr>
      </p:pic>
      <p:sp>
        <p:nvSpPr>
          <p:cNvPr id="10" name="Rectangle 9">
            <a:extLst>
              <a:ext uri="{FF2B5EF4-FFF2-40B4-BE49-F238E27FC236}">
                <a16:creationId xmlns:a16="http://schemas.microsoft.com/office/drawing/2014/main" id="{653483BA-7E22-C261-CE8F-9E287CD7B3D1}"/>
              </a:ext>
            </a:extLst>
          </p:cNvPr>
          <p:cNvSpPr/>
          <p:nvPr/>
        </p:nvSpPr>
        <p:spPr>
          <a:xfrm>
            <a:off x="3194137" y="1199347"/>
            <a:ext cx="1640910" cy="58561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C34452-4703-48F6-2825-D2CE2F69D503}"/>
              </a:ext>
            </a:extLst>
          </p:cNvPr>
          <p:cNvSpPr/>
          <p:nvPr/>
        </p:nvSpPr>
        <p:spPr>
          <a:xfrm>
            <a:off x="3194137" y="2072654"/>
            <a:ext cx="2300168" cy="155402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D1E8E1-08AF-A6B0-B386-D759F76D0232}"/>
              </a:ext>
            </a:extLst>
          </p:cNvPr>
          <p:cNvSpPr/>
          <p:nvPr/>
        </p:nvSpPr>
        <p:spPr>
          <a:xfrm>
            <a:off x="9045880" y="1764025"/>
            <a:ext cx="2300168" cy="223177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0296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A0B77-C775-57E5-FE53-3CD001803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7EB82-F490-755C-306E-984FBFFFC155}"/>
              </a:ext>
            </a:extLst>
          </p:cNvPr>
          <p:cNvSpPr>
            <a:spLocks noGrp="1"/>
          </p:cNvSpPr>
          <p:nvPr>
            <p:ph type="title"/>
          </p:nvPr>
        </p:nvSpPr>
        <p:spPr>
          <a:xfrm>
            <a:off x="312369" y="185921"/>
            <a:ext cx="11864550" cy="584802"/>
          </a:xfrm>
        </p:spPr>
        <p:txBody>
          <a:bodyPr vert="horz" lIns="118872" tIns="59436" rIns="118872" bIns="59436" anchor="t"/>
          <a:lstStyle/>
          <a:p>
            <a:r>
              <a:rPr lang="en-US" sz="2400">
                <a:cs typeface="Arial"/>
              </a:rPr>
              <a:t>Equinix Intelligence – Pilot launch (continued)</a:t>
            </a:r>
          </a:p>
        </p:txBody>
      </p:sp>
      <p:pic>
        <p:nvPicPr>
          <p:cNvPr id="6" name="Picture 5" descr="A screenshot of a chat&#10;&#10;AI-generated content may be incorrect.">
            <a:extLst>
              <a:ext uri="{FF2B5EF4-FFF2-40B4-BE49-F238E27FC236}">
                <a16:creationId xmlns:a16="http://schemas.microsoft.com/office/drawing/2014/main" id="{86F6966B-0AD7-4BEF-2976-242752DBD7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890" y="770723"/>
            <a:ext cx="5357163" cy="2521910"/>
          </a:xfrm>
          <a:prstGeom prst="rect">
            <a:avLst/>
          </a:prstGeom>
        </p:spPr>
      </p:pic>
      <p:pic>
        <p:nvPicPr>
          <p:cNvPr id="8" name="Picture 7" descr="A screenshot of a computer screen&#10;&#10;AI-generated content may be incorrect.">
            <a:extLst>
              <a:ext uri="{FF2B5EF4-FFF2-40B4-BE49-F238E27FC236}">
                <a16:creationId xmlns:a16="http://schemas.microsoft.com/office/drawing/2014/main" id="{9608E828-2288-AB19-C74D-55E907D2D3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116" y="3559148"/>
            <a:ext cx="5149937" cy="3111219"/>
          </a:xfrm>
          <a:prstGeom prst="rect">
            <a:avLst/>
          </a:prstGeom>
        </p:spPr>
      </p:pic>
      <p:pic>
        <p:nvPicPr>
          <p:cNvPr id="11" name="Picture 10" descr="A screenshot of a social media post&#10;&#10;AI-generated content may be incorrect.">
            <a:extLst>
              <a:ext uri="{FF2B5EF4-FFF2-40B4-BE49-F238E27FC236}">
                <a16:creationId xmlns:a16="http://schemas.microsoft.com/office/drawing/2014/main" id="{7E0FA392-1CF6-6FA9-75EB-E0C15C2044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1412" y="2143214"/>
            <a:ext cx="6172698" cy="2298838"/>
          </a:xfrm>
          <a:prstGeom prst="rect">
            <a:avLst/>
          </a:prstGeom>
        </p:spPr>
      </p:pic>
      <p:sp>
        <p:nvSpPr>
          <p:cNvPr id="12" name="Rectangle 11">
            <a:extLst>
              <a:ext uri="{FF2B5EF4-FFF2-40B4-BE49-F238E27FC236}">
                <a16:creationId xmlns:a16="http://schemas.microsoft.com/office/drawing/2014/main" id="{4D1EA18F-8B6B-974C-E462-B3ABAF4BA0E8}"/>
              </a:ext>
            </a:extLst>
          </p:cNvPr>
          <p:cNvSpPr/>
          <p:nvPr/>
        </p:nvSpPr>
        <p:spPr>
          <a:xfrm>
            <a:off x="3018773" y="1928604"/>
            <a:ext cx="1897693" cy="83338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B63112-6284-C5EF-D7C9-522D6AD01C58}"/>
              </a:ext>
            </a:extLst>
          </p:cNvPr>
          <p:cNvSpPr/>
          <p:nvPr/>
        </p:nvSpPr>
        <p:spPr>
          <a:xfrm>
            <a:off x="3018773" y="4922325"/>
            <a:ext cx="2300168" cy="155402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15D8068-7D84-F48B-2618-49C87E7F9373}"/>
              </a:ext>
            </a:extLst>
          </p:cNvPr>
          <p:cNvSpPr/>
          <p:nvPr/>
        </p:nvSpPr>
        <p:spPr>
          <a:xfrm>
            <a:off x="10503074" y="3663863"/>
            <a:ext cx="765730" cy="58911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F2DFB66-C927-3BB4-E8C0-69D437EC35B1}"/>
              </a:ext>
            </a:extLst>
          </p:cNvPr>
          <p:cNvSpPr txBox="1"/>
          <p:nvPr/>
        </p:nvSpPr>
        <p:spPr>
          <a:xfrm>
            <a:off x="5831412" y="4930091"/>
            <a:ext cx="4671662" cy="369332"/>
          </a:xfrm>
          <a:prstGeom prst="rect">
            <a:avLst/>
          </a:prstGeom>
          <a:noFill/>
        </p:spPr>
        <p:txBody>
          <a:bodyPr wrap="square" rtlCol="0">
            <a:spAutoFit/>
          </a:bodyPr>
          <a:lstStyle/>
          <a:p>
            <a:r>
              <a:rPr lang="en-US">
                <a:hlinkClick r:id="rId6"/>
              </a:rPr>
              <a:t>Note : List of pilot customers</a:t>
            </a:r>
            <a:endParaRPr lang="en-US"/>
          </a:p>
        </p:txBody>
      </p:sp>
    </p:spTree>
    <p:extLst>
      <p:ext uri="{BB962C8B-B14F-4D97-AF65-F5344CB8AC3E}">
        <p14:creationId xmlns:p14="http://schemas.microsoft.com/office/powerpoint/2010/main" val="2739713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3C47A-9184-50E6-114B-256D74AA6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1DF14-5EDA-B3B4-704A-2635C419FA93}"/>
              </a:ext>
            </a:extLst>
          </p:cNvPr>
          <p:cNvSpPr>
            <a:spLocks noGrp="1"/>
          </p:cNvSpPr>
          <p:nvPr>
            <p:ph type="title"/>
          </p:nvPr>
        </p:nvSpPr>
        <p:spPr>
          <a:xfrm>
            <a:off x="312369" y="185921"/>
            <a:ext cx="11864550" cy="584802"/>
          </a:xfrm>
        </p:spPr>
        <p:txBody>
          <a:bodyPr vert="horz" lIns="118872" tIns="59436" rIns="118872" bIns="59436" anchor="t"/>
          <a:lstStyle/>
          <a:p>
            <a:pPr marL="0" marR="0" lvl="0" indent="0" algn="l" rtl="0" eaLnBrk="1" fontAlgn="auto" latinLnBrk="0" hangingPunct="1">
              <a:lnSpc>
                <a:spcPct val="100000"/>
              </a:lnSpc>
              <a:spcBef>
                <a:spcPts val="0"/>
              </a:spcBef>
              <a:spcAft>
                <a:spcPts val="0"/>
              </a:spcAft>
              <a:buClrTx/>
              <a:buSzTx/>
              <a:buFontTx/>
              <a:buNone/>
            </a:pPr>
            <a:r>
              <a:rPr lang="en-SG" sz="1800" b="0" kern="1200">
                <a:solidFill>
                  <a:schemeClr val="dk1"/>
                </a:solidFill>
                <a:latin typeface="+mn-lt"/>
                <a:ea typeface="+mn-ea"/>
                <a:cs typeface="+mn-cs"/>
              </a:rPr>
              <a:t>Hiding IBX pricing</a:t>
            </a:r>
          </a:p>
        </p:txBody>
      </p:sp>
      <p:graphicFrame>
        <p:nvGraphicFramePr>
          <p:cNvPr id="6" name="Table 5">
            <a:extLst>
              <a:ext uri="{FF2B5EF4-FFF2-40B4-BE49-F238E27FC236}">
                <a16:creationId xmlns:a16="http://schemas.microsoft.com/office/drawing/2014/main" id="{BFDA688C-5C87-E871-8C03-11C1F24E2E35}"/>
              </a:ext>
            </a:extLst>
          </p:cNvPr>
          <p:cNvGraphicFramePr>
            <a:graphicFrameLocks noGrp="1"/>
          </p:cNvGraphicFramePr>
          <p:nvPr/>
        </p:nvGraphicFramePr>
        <p:xfrm>
          <a:off x="8169630" y="5829300"/>
          <a:ext cx="4007289" cy="1028700"/>
        </p:xfrm>
        <a:graphic>
          <a:graphicData uri="http://schemas.openxmlformats.org/drawingml/2006/table">
            <a:tbl>
              <a:tblPr firstCol="1" bandRow="1">
                <a:tableStyleId>{F5AB1C69-6EDB-4FF4-983F-18BD219EF322}</a:tableStyleId>
              </a:tblPr>
              <a:tblGrid>
                <a:gridCol w="963156">
                  <a:extLst>
                    <a:ext uri="{9D8B030D-6E8A-4147-A177-3AD203B41FA5}">
                      <a16:colId xmlns:a16="http://schemas.microsoft.com/office/drawing/2014/main" val="20002"/>
                    </a:ext>
                  </a:extLst>
                </a:gridCol>
                <a:gridCol w="3044133">
                  <a:extLst>
                    <a:ext uri="{9D8B030D-6E8A-4147-A177-3AD203B41FA5}">
                      <a16:colId xmlns:a16="http://schemas.microsoft.com/office/drawing/2014/main" val="20003"/>
                    </a:ext>
                  </a:extLst>
                </a:gridCol>
              </a:tblGrid>
              <a:tr h="1005580">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a:t>Training</a:t>
                      </a:r>
                      <a:r>
                        <a:rPr lang="en-GB" sz="1200" baseline="0"/>
                        <a:t> &amp; </a:t>
                      </a:r>
                      <a:r>
                        <a:rPr lang="en-GB" sz="1200"/>
                        <a:t>process change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kern="1200">
                        <a:solidFill>
                          <a:schemeClr val="dk1"/>
                        </a:solidFill>
                        <a:latin typeface="+mn-lt"/>
                        <a:ea typeface="+mn-ea"/>
                        <a:cs typeface="+mn-cs"/>
                      </a:endParaRPr>
                    </a:p>
                  </a:txBody>
                  <a:tcPr marL="121618" marR="121618" marT="57150" marB="57150" anchor="ctr"/>
                </a:tc>
                <a:tc>
                  <a:txBody>
                    <a:bodyPr/>
                    <a:lstStyle/>
                    <a:p>
                      <a:pPr marL="171450" indent="-171450" algn="l">
                        <a:buFont typeface="Arial" panose="020B0604020202020204" pitchFamily="34" charset="0"/>
                        <a:buChar char="•"/>
                      </a:pPr>
                      <a:r>
                        <a:rPr lang="en-GB" sz="1200"/>
                        <a:t>CSM </a:t>
                      </a:r>
                      <a:r>
                        <a:rPr lang="en-GB" sz="1200" baseline="0"/>
                        <a:t>Awareness </a:t>
                      </a:r>
                    </a:p>
                    <a:p>
                      <a:pPr marL="171450" indent="-171450" algn="l">
                        <a:buFont typeface="Arial" panose="020B0604020202020204" pitchFamily="34" charset="0"/>
                        <a:buChar char="•"/>
                      </a:pPr>
                      <a:r>
                        <a:rPr lang="en-GB" sz="1200" baseline="0"/>
                        <a:t>GSD awareness</a:t>
                      </a:r>
                    </a:p>
                    <a:p>
                      <a:pPr marL="171450" indent="-171450" algn="l">
                        <a:buFont typeface="Arial" panose="020B0604020202020204" pitchFamily="34" charset="0"/>
                        <a:buChar char="•"/>
                      </a:pPr>
                      <a:r>
                        <a:rPr lang="en-GB" sz="1200" baseline="0"/>
                        <a:t>Ops Support awareness</a:t>
                      </a:r>
                    </a:p>
                    <a:p>
                      <a:pPr marL="171450" indent="-171450" algn="l">
                        <a:buFont typeface="Arial" panose="020B0604020202020204" pitchFamily="34" charset="0"/>
                        <a:buChar char="•"/>
                      </a:pPr>
                      <a:r>
                        <a:rPr lang="en-GB" sz="1200" baseline="0"/>
                        <a:t>Sales/ SE awareness</a:t>
                      </a:r>
                    </a:p>
                  </a:txBody>
                  <a:tcPr marL="121618" marR="121618" marT="57150" marB="57150" anchor="ctr"/>
                </a:tc>
                <a:extLst>
                  <a:ext uri="{0D108BD9-81ED-4DB2-BD59-A6C34878D82A}">
                    <a16:rowId xmlns:a16="http://schemas.microsoft.com/office/drawing/2014/main" val="10001"/>
                  </a:ext>
                </a:extLst>
              </a:tr>
            </a:tbl>
          </a:graphicData>
        </a:graphic>
      </p:graphicFrame>
      <p:pic>
        <p:nvPicPr>
          <p:cNvPr id="4" name="Picture 3">
            <a:extLst>
              <a:ext uri="{FF2B5EF4-FFF2-40B4-BE49-F238E27FC236}">
                <a16:creationId xmlns:a16="http://schemas.microsoft.com/office/drawing/2014/main" id="{DD34C471-B17A-6EEF-2F54-B1FF9D23BBAA}"/>
              </a:ext>
            </a:extLst>
          </p:cNvPr>
          <p:cNvPicPr>
            <a:picLocks noChangeAspect="1"/>
          </p:cNvPicPr>
          <p:nvPr/>
        </p:nvPicPr>
        <p:blipFill>
          <a:blip r:embed="rId2"/>
          <a:stretch>
            <a:fillRect/>
          </a:stretch>
        </p:blipFill>
        <p:spPr>
          <a:xfrm>
            <a:off x="6368143" y="1021300"/>
            <a:ext cx="5540730" cy="4579404"/>
          </a:xfrm>
          <a:prstGeom prst="rect">
            <a:avLst/>
          </a:prstGeom>
        </p:spPr>
      </p:pic>
      <p:sp>
        <p:nvSpPr>
          <p:cNvPr id="5" name="Title 1">
            <a:extLst>
              <a:ext uri="{FF2B5EF4-FFF2-40B4-BE49-F238E27FC236}">
                <a16:creationId xmlns:a16="http://schemas.microsoft.com/office/drawing/2014/main" id="{D0C91281-2BBD-076A-6B3A-0BCDBF9610FA}"/>
              </a:ext>
            </a:extLst>
          </p:cNvPr>
          <p:cNvSpPr txBox="1">
            <a:spLocks/>
          </p:cNvSpPr>
          <p:nvPr/>
        </p:nvSpPr>
        <p:spPr>
          <a:xfrm>
            <a:off x="2762400" y="619936"/>
            <a:ext cx="1042902" cy="401364"/>
          </a:xfrm>
          <a:prstGeom prst="rect">
            <a:avLst/>
          </a:prstGeom>
          <a:noFill/>
          <a:ln>
            <a:noFill/>
          </a:ln>
        </p:spPr>
        <p:txBody>
          <a:bodyPr vert="horz" lIns="118872" tIns="59436" rIns="118872" bIns="59436" anchor="t"/>
          <a:lstStyle>
            <a:lvl1pPr algn="l" defTabSz="457200" rtl="0" eaLnBrk="1" latinLnBrk="0" hangingPunct="1">
              <a:spcBef>
                <a:spcPct val="0"/>
              </a:spcBef>
              <a:buNone/>
              <a:defRPr sz="3400" b="1" kern="1200">
                <a:solidFill>
                  <a:schemeClr val="bg2"/>
                </a:solidFill>
                <a:latin typeface="+mj-lt"/>
                <a:ea typeface="+mj-ea"/>
                <a:cs typeface="+mj-cs"/>
              </a:defRPr>
            </a:lvl1pPr>
          </a:lstStyle>
          <a:p>
            <a:pPr algn="ctr">
              <a:spcBef>
                <a:spcPts val="0"/>
              </a:spcBef>
            </a:pPr>
            <a:r>
              <a:rPr lang="en-SG" sz="1800" b="0">
                <a:solidFill>
                  <a:schemeClr val="dk1"/>
                </a:solidFill>
                <a:latin typeface="+mn-lt"/>
                <a:ea typeface="+mn-ea"/>
                <a:cs typeface="+mn-cs"/>
              </a:rPr>
              <a:t>Before</a:t>
            </a:r>
          </a:p>
        </p:txBody>
      </p:sp>
      <p:sp>
        <p:nvSpPr>
          <p:cNvPr id="7" name="Title 1">
            <a:extLst>
              <a:ext uri="{FF2B5EF4-FFF2-40B4-BE49-F238E27FC236}">
                <a16:creationId xmlns:a16="http://schemas.microsoft.com/office/drawing/2014/main" id="{7B1C1E3E-7F01-A017-6F60-781DD6F68F2D}"/>
              </a:ext>
            </a:extLst>
          </p:cNvPr>
          <p:cNvSpPr txBox="1">
            <a:spLocks/>
          </p:cNvSpPr>
          <p:nvPr/>
        </p:nvSpPr>
        <p:spPr>
          <a:xfrm>
            <a:off x="8617057" y="619936"/>
            <a:ext cx="1042902" cy="401364"/>
          </a:xfrm>
          <a:prstGeom prst="rect">
            <a:avLst/>
          </a:prstGeom>
          <a:noFill/>
          <a:ln>
            <a:noFill/>
          </a:ln>
        </p:spPr>
        <p:txBody>
          <a:bodyPr vert="horz" lIns="118872" tIns="59436" rIns="118872" bIns="59436" anchor="t"/>
          <a:lstStyle>
            <a:lvl1pPr algn="l" defTabSz="457200" rtl="0" eaLnBrk="1" latinLnBrk="0" hangingPunct="1">
              <a:spcBef>
                <a:spcPct val="0"/>
              </a:spcBef>
              <a:buNone/>
              <a:defRPr sz="3400" b="1" kern="1200">
                <a:solidFill>
                  <a:schemeClr val="bg2"/>
                </a:solidFill>
                <a:latin typeface="+mj-lt"/>
                <a:ea typeface="+mj-ea"/>
                <a:cs typeface="+mj-cs"/>
              </a:defRPr>
            </a:lvl1pPr>
          </a:lstStyle>
          <a:p>
            <a:pPr algn="ctr">
              <a:spcBef>
                <a:spcPts val="0"/>
              </a:spcBef>
            </a:pPr>
            <a:r>
              <a:rPr lang="en-SG" sz="1800" b="0">
                <a:solidFill>
                  <a:schemeClr val="dk1"/>
                </a:solidFill>
                <a:latin typeface="+mn-lt"/>
                <a:ea typeface="+mn-ea"/>
                <a:cs typeface="+mn-cs"/>
              </a:rPr>
              <a:t>After</a:t>
            </a:r>
          </a:p>
        </p:txBody>
      </p:sp>
      <p:pic>
        <p:nvPicPr>
          <p:cNvPr id="8" name="Picture 7">
            <a:extLst>
              <a:ext uri="{FF2B5EF4-FFF2-40B4-BE49-F238E27FC236}">
                <a16:creationId xmlns:a16="http://schemas.microsoft.com/office/drawing/2014/main" id="{F2FCC43A-EF00-8707-0B03-D3E0B7025A98}"/>
              </a:ext>
            </a:extLst>
          </p:cNvPr>
          <p:cNvPicPr>
            <a:picLocks noChangeAspect="1"/>
          </p:cNvPicPr>
          <p:nvPr/>
        </p:nvPicPr>
        <p:blipFill>
          <a:blip r:embed="rId3"/>
          <a:stretch>
            <a:fillRect/>
          </a:stretch>
        </p:blipFill>
        <p:spPr>
          <a:xfrm>
            <a:off x="397230" y="1021301"/>
            <a:ext cx="5773243" cy="4808000"/>
          </a:xfrm>
          <a:prstGeom prst="rect">
            <a:avLst/>
          </a:prstGeom>
        </p:spPr>
      </p:pic>
      <p:sp>
        <p:nvSpPr>
          <p:cNvPr id="9" name="Rectangle 8">
            <a:extLst>
              <a:ext uri="{FF2B5EF4-FFF2-40B4-BE49-F238E27FC236}">
                <a16:creationId xmlns:a16="http://schemas.microsoft.com/office/drawing/2014/main" id="{09553374-23D9-7FF3-50F2-DCCFAD43F93B}"/>
              </a:ext>
            </a:extLst>
          </p:cNvPr>
          <p:cNvSpPr/>
          <p:nvPr/>
        </p:nvSpPr>
        <p:spPr>
          <a:xfrm>
            <a:off x="4444616" y="1413968"/>
            <a:ext cx="1651384" cy="4509312"/>
          </a:xfrm>
          <a:prstGeom prst="rect">
            <a:avLst/>
          </a:prstGeom>
          <a:noFill/>
          <a:ln w="1905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9695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563E7-4743-F1E9-3813-6575D3850B5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2130990-17B9-1E1A-5634-C5E100550BDD}"/>
              </a:ext>
            </a:extLst>
          </p:cNvPr>
          <p:cNvPicPr>
            <a:picLocks noChangeAspect="1"/>
          </p:cNvPicPr>
          <p:nvPr/>
        </p:nvPicPr>
        <p:blipFill>
          <a:blip r:embed="rId2"/>
          <a:stretch>
            <a:fillRect/>
          </a:stretch>
        </p:blipFill>
        <p:spPr>
          <a:xfrm>
            <a:off x="652065" y="737246"/>
            <a:ext cx="5592579" cy="5004796"/>
          </a:xfrm>
          <a:prstGeom prst="rect">
            <a:avLst/>
          </a:prstGeom>
        </p:spPr>
      </p:pic>
      <p:sp>
        <p:nvSpPr>
          <p:cNvPr id="2" name="Title 1">
            <a:extLst>
              <a:ext uri="{FF2B5EF4-FFF2-40B4-BE49-F238E27FC236}">
                <a16:creationId xmlns:a16="http://schemas.microsoft.com/office/drawing/2014/main" id="{8CB4ACA1-6714-8652-3610-6E4F360E934A}"/>
              </a:ext>
            </a:extLst>
          </p:cNvPr>
          <p:cNvSpPr>
            <a:spLocks noGrp="1"/>
          </p:cNvSpPr>
          <p:nvPr>
            <p:ph type="title"/>
          </p:nvPr>
        </p:nvSpPr>
        <p:spPr>
          <a:xfrm>
            <a:off x="312369" y="185921"/>
            <a:ext cx="11864550" cy="584802"/>
          </a:xfrm>
        </p:spPr>
        <p:txBody>
          <a:bodyPr vert="horz" lIns="118872" tIns="59436" rIns="118872" bIns="59436"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800" b="0" kern="1200">
                <a:solidFill>
                  <a:schemeClr val="dk1"/>
                </a:solidFill>
                <a:latin typeface="+mn-lt"/>
                <a:ea typeface="+mn-ea"/>
                <a:cs typeface="+mn-cs"/>
              </a:rPr>
              <a:t>Only increasing MRC on MACDs</a:t>
            </a:r>
          </a:p>
        </p:txBody>
      </p:sp>
      <p:graphicFrame>
        <p:nvGraphicFramePr>
          <p:cNvPr id="6" name="Table 5">
            <a:extLst>
              <a:ext uri="{FF2B5EF4-FFF2-40B4-BE49-F238E27FC236}">
                <a16:creationId xmlns:a16="http://schemas.microsoft.com/office/drawing/2014/main" id="{FD80BE14-9473-6C8A-6A1B-4DC7C1C651C1}"/>
              </a:ext>
            </a:extLst>
          </p:cNvPr>
          <p:cNvGraphicFramePr>
            <a:graphicFrameLocks noGrp="1"/>
          </p:cNvGraphicFramePr>
          <p:nvPr/>
        </p:nvGraphicFramePr>
        <p:xfrm>
          <a:off x="8169630" y="5829300"/>
          <a:ext cx="4007289" cy="1028700"/>
        </p:xfrm>
        <a:graphic>
          <a:graphicData uri="http://schemas.openxmlformats.org/drawingml/2006/table">
            <a:tbl>
              <a:tblPr firstCol="1" bandRow="1">
                <a:tableStyleId>{F5AB1C69-6EDB-4FF4-983F-18BD219EF322}</a:tableStyleId>
              </a:tblPr>
              <a:tblGrid>
                <a:gridCol w="963156">
                  <a:extLst>
                    <a:ext uri="{9D8B030D-6E8A-4147-A177-3AD203B41FA5}">
                      <a16:colId xmlns:a16="http://schemas.microsoft.com/office/drawing/2014/main" val="20002"/>
                    </a:ext>
                  </a:extLst>
                </a:gridCol>
                <a:gridCol w="3044133">
                  <a:extLst>
                    <a:ext uri="{9D8B030D-6E8A-4147-A177-3AD203B41FA5}">
                      <a16:colId xmlns:a16="http://schemas.microsoft.com/office/drawing/2014/main" val="20003"/>
                    </a:ext>
                  </a:extLst>
                </a:gridCol>
              </a:tblGrid>
              <a:tr h="1005580">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a:t>Training</a:t>
                      </a:r>
                      <a:r>
                        <a:rPr lang="en-GB" sz="1200" baseline="0"/>
                        <a:t> &amp; </a:t>
                      </a:r>
                      <a:r>
                        <a:rPr lang="en-GB" sz="1200"/>
                        <a:t>process change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kern="1200">
                        <a:solidFill>
                          <a:schemeClr val="dk1"/>
                        </a:solidFill>
                        <a:latin typeface="+mn-lt"/>
                        <a:ea typeface="+mn-ea"/>
                        <a:cs typeface="+mn-cs"/>
                      </a:endParaRPr>
                    </a:p>
                  </a:txBody>
                  <a:tcPr marL="121618" marR="121618" marT="57150" marB="57150" anchor="ctr"/>
                </a:tc>
                <a:tc>
                  <a:txBody>
                    <a:bodyPr/>
                    <a:lstStyle/>
                    <a:p>
                      <a:pPr marL="171450" indent="-171450" algn="l">
                        <a:buFont typeface="Arial" panose="020B0604020202020204" pitchFamily="34" charset="0"/>
                        <a:buChar char="•"/>
                      </a:pPr>
                      <a:r>
                        <a:rPr lang="en-GB" sz="1200"/>
                        <a:t>CSM </a:t>
                      </a:r>
                      <a:r>
                        <a:rPr lang="en-GB" sz="1200" baseline="0"/>
                        <a:t>Awareness </a:t>
                      </a:r>
                    </a:p>
                    <a:p>
                      <a:pPr marL="171450" indent="-171450" algn="l">
                        <a:buFont typeface="Arial" panose="020B0604020202020204" pitchFamily="34" charset="0"/>
                        <a:buChar char="•"/>
                      </a:pPr>
                      <a:r>
                        <a:rPr lang="en-GB" sz="1200" baseline="0"/>
                        <a:t>GSD awareness</a:t>
                      </a:r>
                    </a:p>
                    <a:p>
                      <a:pPr marL="171450" indent="-171450" algn="l">
                        <a:buFont typeface="Arial" panose="020B0604020202020204" pitchFamily="34" charset="0"/>
                        <a:buChar char="•"/>
                      </a:pPr>
                      <a:r>
                        <a:rPr lang="en-GB" sz="1200" baseline="0"/>
                        <a:t>Ops Support awareness</a:t>
                      </a:r>
                    </a:p>
                    <a:p>
                      <a:pPr marL="171450" indent="-171450" algn="l">
                        <a:buFont typeface="Arial" panose="020B0604020202020204" pitchFamily="34" charset="0"/>
                        <a:buChar char="•"/>
                      </a:pPr>
                      <a:r>
                        <a:rPr lang="en-GB" sz="1200" baseline="0"/>
                        <a:t>Sales/ SE awareness</a:t>
                      </a:r>
                    </a:p>
                  </a:txBody>
                  <a:tcPr marL="121618" marR="121618" marT="57150" marB="57150" anchor="ct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799B5030-F3D6-730F-09EE-AEA389045BC9}"/>
              </a:ext>
            </a:extLst>
          </p:cNvPr>
          <p:cNvPicPr>
            <a:picLocks noChangeAspect="1"/>
          </p:cNvPicPr>
          <p:nvPr/>
        </p:nvPicPr>
        <p:blipFill>
          <a:blip r:embed="rId3"/>
          <a:stretch>
            <a:fillRect/>
          </a:stretch>
        </p:blipFill>
        <p:spPr>
          <a:xfrm>
            <a:off x="6483690" y="698974"/>
            <a:ext cx="5693229" cy="5081340"/>
          </a:xfrm>
          <a:prstGeom prst="rect">
            <a:avLst/>
          </a:prstGeom>
        </p:spPr>
      </p:pic>
      <p:sp>
        <p:nvSpPr>
          <p:cNvPr id="4" name="Title 1">
            <a:extLst>
              <a:ext uri="{FF2B5EF4-FFF2-40B4-BE49-F238E27FC236}">
                <a16:creationId xmlns:a16="http://schemas.microsoft.com/office/drawing/2014/main" id="{C8F9E4D9-04EE-A769-8B39-68AC7A716ECC}"/>
              </a:ext>
            </a:extLst>
          </p:cNvPr>
          <p:cNvSpPr txBox="1">
            <a:spLocks/>
          </p:cNvSpPr>
          <p:nvPr/>
        </p:nvSpPr>
        <p:spPr>
          <a:xfrm>
            <a:off x="2762400" y="619936"/>
            <a:ext cx="1042902" cy="401364"/>
          </a:xfrm>
          <a:prstGeom prst="rect">
            <a:avLst/>
          </a:prstGeom>
          <a:noFill/>
          <a:ln>
            <a:noFill/>
          </a:ln>
        </p:spPr>
        <p:txBody>
          <a:bodyPr vert="horz" lIns="118872" tIns="59436" rIns="118872" bIns="59436" anchor="t"/>
          <a:lstStyle>
            <a:lvl1pPr algn="l" defTabSz="457200" rtl="0" eaLnBrk="1" latinLnBrk="0" hangingPunct="1">
              <a:spcBef>
                <a:spcPct val="0"/>
              </a:spcBef>
              <a:buNone/>
              <a:defRPr sz="3400" b="1" kern="1200">
                <a:solidFill>
                  <a:schemeClr val="bg2"/>
                </a:solidFill>
                <a:latin typeface="+mj-lt"/>
                <a:ea typeface="+mj-ea"/>
                <a:cs typeface="+mj-cs"/>
              </a:defRPr>
            </a:lvl1pPr>
          </a:lstStyle>
          <a:p>
            <a:pPr algn="ctr">
              <a:spcBef>
                <a:spcPts val="0"/>
              </a:spcBef>
            </a:pPr>
            <a:r>
              <a:rPr lang="en-SG" sz="1800" b="0">
                <a:solidFill>
                  <a:schemeClr val="dk1"/>
                </a:solidFill>
                <a:latin typeface="+mn-lt"/>
                <a:ea typeface="+mn-ea"/>
                <a:cs typeface="+mn-cs"/>
              </a:rPr>
              <a:t>Before</a:t>
            </a:r>
          </a:p>
        </p:txBody>
      </p:sp>
      <p:sp>
        <p:nvSpPr>
          <p:cNvPr id="5" name="Title 1">
            <a:extLst>
              <a:ext uri="{FF2B5EF4-FFF2-40B4-BE49-F238E27FC236}">
                <a16:creationId xmlns:a16="http://schemas.microsoft.com/office/drawing/2014/main" id="{54381D1F-0208-35B0-879A-4F55FEE4AA27}"/>
              </a:ext>
            </a:extLst>
          </p:cNvPr>
          <p:cNvSpPr txBox="1">
            <a:spLocks/>
          </p:cNvSpPr>
          <p:nvPr/>
        </p:nvSpPr>
        <p:spPr>
          <a:xfrm>
            <a:off x="8617057" y="619936"/>
            <a:ext cx="1042902" cy="401364"/>
          </a:xfrm>
          <a:prstGeom prst="rect">
            <a:avLst/>
          </a:prstGeom>
          <a:noFill/>
          <a:ln>
            <a:noFill/>
          </a:ln>
        </p:spPr>
        <p:txBody>
          <a:bodyPr vert="horz" lIns="118872" tIns="59436" rIns="118872" bIns="59436" anchor="t"/>
          <a:lstStyle>
            <a:lvl1pPr algn="l" defTabSz="457200" rtl="0" eaLnBrk="1" latinLnBrk="0" hangingPunct="1">
              <a:spcBef>
                <a:spcPct val="0"/>
              </a:spcBef>
              <a:buNone/>
              <a:defRPr sz="3400" b="1" kern="1200">
                <a:solidFill>
                  <a:schemeClr val="bg2"/>
                </a:solidFill>
                <a:latin typeface="+mj-lt"/>
                <a:ea typeface="+mj-ea"/>
                <a:cs typeface="+mj-cs"/>
              </a:defRPr>
            </a:lvl1pPr>
          </a:lstStyle>
          <a:p>
            <a:pPr algn="ctr">
              <a:spcBef>
                <a:spcPts val="0"/>
              </a:spcBef>
            </a:pPr>
            <a:r>
              <a:rPr lang="en-SG" sz="1800" b="0">
                <a:solidFill>
                  <a:schemeClr val="dk1"/>
                </a:solidFill>
                <a:latin typeface="+mn-lt"/>
                <a:ea typeface="+mn-ea"/>
                <a:cs typeface="+mn-cs"/>
              </a:rPr>
              <a:t>After</a:t>
            </a:r>
          </a:p>
        </p:txBody>
      </p:sp>
      <p:sp>
        <p:nvSpPr>
          <p:cNvPr id="8" name="Rectangle 7">
            <a:extLst>
              <a:ext uri="{FF2B5EF4-FFF2-40B4-BE49-F238E27FC236}">
                <a16:creationId xmlns:a16="http://schemas.microsoft.com/office/drawing/2014/main" id="{A2B2AC64-6A99-2534-A13E-4F7EECDC258B}"/>
              </a:ext>
            </a:extLst>
          </p:cNvPr>
          <p:cNvSpPr/>
          <p:nvPr/>
        </p:nvSpPr>
        <p:spPr>
          <a:xfrm>
            <a:off x="652065" y="4114800"/>
            <a:ext cx="2110335" cy="253093"/>
          </a:xfrm>
          <a:prstGeom prst="rect">
            <a:avLst/>
          </a:prstGeom>
          <a:noFill/>
          <a:ln w="1905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2E9A97B-276C-D183-2523-9DF3D1883DC1}"/>
              </a:ext>
            </a:extLst>
          </p:cNvPr>
          <p:cNvSpPr/>
          <p:nvPr/>
        </p:nvSpPr>
        <p:spPr>
          <a:xfrm>
            <a:off x="1767072" y="4675328"/>
            <a:ext cx="3302768" cy="709472"/>
          </a:xfrm>
          <a:prstGeom prst="rect">
            <a:avLst/>
          </a:prstGeom>
          <a:noFill/>
          <a:ln w="1905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8519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5975-E836-9DBB-148B-F4255CA14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CBE4A-C6F3-7F93-919D-8A54C5A5294D}"/>
              </a:ext>
            </a:extLst>
          </p:cNvPr>
          <p:cNvSpPr>
            <a:spLocks noGrp="1"/>
          </p:cNvSpPr>
          <p:nvPr>
            <p:ph type="title"/>
          </p:nvPr>
        </p:nvSpPr>
        <p:spPr>
          <a:xfrm>
            <a:off x="312369" y="185921"/>
            <a:ext cx="11864550" cy="584802"/>
          </a:xfrm>
        </p:spPr>
        <p:txBody>
          <a:bodyPr vert="horz" lIns="118872" tIns="59436" rIns="118872" bIns="59436"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lang="en-SG" sz="1800" b="0" kern="1200">
                <a:solidFill>
                  <a:schemeClr val="dk1"/>
                </a:solidFill>
                <a:latin typeface="+mn-lt"/>
                <a:ea typeface="+mn-ea"/>
                <a:cs typeface="+mn-cs"/>
              </a:rPr>
              <a:t>Allow 1kVA draw capacity increments</a:t>
            </a:r>
          </a:p>
        </p:txBody>
      </p:sp>
      <p:graphicFrame>
        <p:nvGraphicFramePr>
          <p:cNvPr id="6" name="Table 5">
            <a:extLst>
              <a:ext uri="{FF2B5EF4-FFF2-40B4-BE49-F238E27FC236}">
                <a16:creationId xmlns:a16="http://schemas.microsoft.com/office/drawing/2014/main" id="{5AEC232B-BE57-4077-BA04-C0567E0C1D16}"/>
              </a:ext>
            </a:extLst>
          </p:cNvPr>
          <p:cNvGraphicFramePr>
            <a:graphicFrameLocks noGrp="1"/>
          </p:cNvGraphicFramePr>
          <p:nvPr/>
        </p:nvGraphicFramePr>
        <p:xfrm>
          <a:off x="8169630" y="5829300"/>
          <a:ext cx="4007289" cy="1028700"/>
        </p:xfrm>
        <a:graphic>
          <a:graphicData uri="http://schemas.openxmlformats.org/drawingml/2006/table">
            <a:tbl>
              <a:tblPr firstCol="1" bandRow="1">
                <a:tableStyleId>{F5AB1C69-6EDB-4FF4-983F-18BD219EF322}</a:tableStyleId>
              </a:tblPr>
              <a:tblGrid>
                <a:gridCol w="963156">
                  <a:extLst>
                    <a:ext uri="{9D8B030D-6E8A-4147-A177-3AD203B41FA5}">
                      <a16:colId xmlns:a16="http://schemas.microsoft.com/office/drawing/2014/main" val="20002"/>
                    </a:ext>
                  </a:extLst>
                </a:gridCol>
                <a:gridCol w="3044133">
                  <a:extLst>
                    <a:ext uri="{9D8B030D-6E8A-4147-A177-3AD203B41FA5}">
                      <a16:colId xmlns:a16="http://schemas.microsoft.com/office/drawing/2014/main" val="20003"/>
                    </a:ext>
                  </a:extLst>
                </a:gridCol>
              </a:tblGrid>
              <a:tr h="1005580">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a:t>Training</a:t>
                      </a:r>
                      <a:r>
                        <a:rPr lang="en-GB" sz="1200" baseline="0"/>
                        <a:t> &amp; </a:t>
                      </a:r>
                      <a:r>
                        <a:rPr lang="en-GB" sz="1200"/>
                        <a:t>process change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kern="1200">
                        <a:solidFill>
                          <a:schemeClr val="dk1"/>
                        </a:solidFill>
                        <a:latin typeface="+mn-lt"/>
                        <a:ea typeface="+mn-ea"/>
                        <a:cs typeface="+mn-cs"/>
                      </a:endParaRPr>
                    </a:p>
                  </a:txBody>
                  <a:tcPr marL="121618" marR="121618" marT="57150" marB="57150" anchor="ctr"/>
                </a:tc>
                <a:tc>
                  <a:txBody>
                    <a:bodyPr/>
                    <a:lstStyle/>
                    <a:p>
                      <a:pPr marL="171450" indent="-171450" algn="l">
                        <a:buFont typeface="Arial" panose="020B0604020202020204" pitchFamily="34" charset="0"/>
                        <a:buChar char="•"/>
                      </a:pPr>
                      <a:r>
                        <a:rPr lang="en-GB" sz="1200"/>
                        <a:t>CSM </a:t>
                      </a:r>
                      <a:r>
                        <a:rPr lang="en-GB" sz="1200" baseline="0"/>
                        <a:t>Awareness </a:t>
                      </a:r>
                    </a:p>
                    <a:p>
                      <a:pPr marL="171450" indent="-171450" algn="l">
                        <a:buFont typeface="Arial" panose="020B0604020202020204" pitchFamily="34" charset="0"/>
                        <a:buChar char="•"/>
                      </a:pPr>
                      <a:r>
                        <a:rPr lang="en-GB" sz="1200" baseline="0"/>
                        <a:t>GSD awareness</a:t>
                      </a:r>
                    </a:p>
                    <a:p>
                      <a:pPr marL="171450" indent="-171450" algn="l">
                        <a:buFont typeface="Arial" panose="020B0604020202020204" pitchFamily="34" charset="0"/>
                        <a:buChar char="•"/>
                      </a:pPr>
                      <a:r>
                        <a:rPr lang="en-GB" sz="1200" baseline="0"/>
                        <a:t>Ops Support awareness</a:t>
                      </a:r>
                    </a:p>
                    <a:p>
                      <a:pPr marL="171450" indent="-171450" algn="l">
                        <a:buFont typeface="Arial" panose="020B0604020202020204" pitchFamily="34" charset="0"/>
                        <a:buChar char="•"/>
                      </a:pPr>
                      <a:r>
                        <a:rPr lang="en-GB" sz="1200" baseline="0"/>
                        <a:t>Sales/ SE awareness</a:t>
                      </a:r>
                    </a:p>
                  </a:txBody>
                  <a:tcPr marL="121618" marR="121618" marT="57150" marB="57150" anchor="ctr"/>
                </a:tc>
                <a:extLst>
                  <a:ext uri="{0D108BD9-81ED-4DB2-BD59-A6C34878D82A}">
                    <a16:rowId xmlns:a16="http://schemas.microsoft.com/office/drawing/2014/main" val="10001"/>
                  </a:ext>
                </a:extLst>
              </a:tr>
            </a:tbl>
          </a:graphicData>
        </a:graphic>
      </p:graphicFrame>
      <p:sp>
        <p:nvSpPr>
          <p:cNvPr id="3" name="Title 1">
            <a:extLst>
              <a:ext uri="{FF2B5EF4-FFF2-40B4-BE49-F238E27FC236}">
                <a16:creationId xmlns:a16="http://schemas.microsoft.com/office/drawing/2014/main" id="{C2F422C4-C751-3F15-F095-7ADF9048AC3B}"/>
              </a:ext>
            </a:extLst>
          </p:cNvPr>
          <p:cNvSpPr txBox="1">
            <a:spLocks/>
          </p:cNvSpPr>
          <p:nvPr/>
        </p:nvSpPr>
        <p:spPr>
          <a:xfrm>
            <a:off x="2715313" y="619936"/>
            <a:ext cx="1042902" cy="401364"/>
          </a:xfrm>
          <a:prstGeom prst="rect">
            <a:avLst/>
          </a:prstGeom>
          <a:noFill/>
          <a:ln>
            <a:noFill/>
          </a:ln>
        </p:spPr>
        <p:txBody>
          <a:bodyPr vert="horz" lIns="118872" tIns="59436" rIns="118872" bIns="59436" anchor="t"/>
          <a:lstStyle>
            <a:lvl1pPr algn="l" defTabSz="457200" rtl="0" eaLnBrk="1" latinLnBrk="0" hangingPunct="1">
              <a:spcBef>
                <a:spcPct val="0"/>
              </a:spcBef>
              <a:buNone/>
              <a:defRPr sz="3400" b="1" kern="1200">
                <a:solidFill>
                  <a:schemeClr val="bg2"/>
                </a:solidFill>
                <a:latin typeface="+mj-lt"/>
                <a:ea typeface="+mj-ea"/>
                <a:cs typeface="+mj-cs"/>
              </a:defRPr>
            </a:lvl1pPr>
          </a:lstStyle>
          <a:p>
            <a:pPr algn="ctr">
              <a:spcBef>
                <a:spcPts val="0"/>
              </a:spcBef>
            </a:pPr>
            <a:r>
              <a:rPr lang="en-SG" sz="1800" b="0">
                <a:solidFill>
                  <a:schemeClr val="dk1"/>
                </a:solidFill>
                <a:latin typeface="+mn-lt"/>
                <a:ea typeface="+mn-ea"/>
                <a:cs typeface="+mn-cs"/>
              </a:rPr>
              <a:t>Before</a:t>
            </a:r>
          </a:p>
        </p:txBody>
      </p:sp>
      <p:sp>
        <p:nvSpPr>
          <p:cNvPr id="4" name="Title 1">
            <a:extLst>
              <a:ext uri="{FF2B5EF4-FFF2-40B4-BE49-F238E27FC236}">
                <a16:creationId xmlns:a16="http://schemas.microsoft.com/office/drawing/2014/main" id="{3E4F7781-ED02-BAE4-A86A-2141D3275E41}"/>
              </a:ext>
            </a:extLst>
          </p:cNvPr>
          <p:cNvSpPr txBox="1">
            <a:spLocks/>
          </p:cNvSpPr>
          <p:nvPr/>
        </p:nvSpPr>
        <p:spPr>
          <a:xfrm>
            <a:off x="8746153" y="619936"/>
            <a:ext cx="1042902" cy="401364"/>
          </a:xfrm>
          <a:prstGeom prst="rect">
            <a:avLst/>
          </a:prstGeom>
          <a:noFill/>
          <a:ln>
            <a:noFill/>
          </a:ln>
        </p:spPr>
        <p:txBody>
          <a:bodyPr vert="horz" lIns="118872" tIns="59436" rIns="118872" bIns="59436" anchor="t"/>
          <a:lstStyle>
            <a:lvl1pPr algn="l" defTabSz="457200" rtl="0" eaLnBrk="1" latinLnBrk="0" hangingPunct="1">
              <a:spcBef>
                <a:spcPct val="0"/>
              </a:spcBef>
              <a:buNone/>
              <a:defRPr sz="3400" b="1" kern="1200">
                <a:solidFill>
                  <a:schemeClr val="bg2"/>
                </a:solidFill>
                <a:latin typeface="+mj-lt"/>
                <a:ea typeface="+mj-ea"/>
                <a:cs typeface="+mj-cs"/>
              </a:defRPr>
            </a:lvl1pPr>
          </a:lstStyle>
          <a:p>
            <a:pPr algn="ctr">
              <a:spcBef>
                <a:spcPts val="0"/>
              </a:spcBef>
            </a:pPr>
            <a:r>
              <a:rPr lang="en-SG" sz="1800" b="0">
                <a:solidFill>
                  <a:schemeClr val="dk1"/>
                </a:solidFill>
                <a:latin typeface="+mn-lt"/>
                <a:ea typeface="+mn-ea"/>
                <a:cs typeface="+mn-cs"/>
              </a:rPr>
              <a:t>After</a:t>
            </a:r>
          </a:p>
        </p:txBody>
      </p:sp>
      <p:pic>
        <p:nvPicPr>
          <p:cNvPr id="8" name="Picture 7">
            <a:extLst>
              <a:ext uri="{FF2B5EF4-FFF2-40B4-BE49-F238E27FC236}">
                <a16:creationId xmlns:a16="http://schemas.microsoft.com/office/drawing/2014/main" id="{32E9E213-C8C6-7E3E-3F69-DA0C4D52B883}"/>
              </a:ext>
            </a:extLst>
          </p:cNvPr>
          <p:cNvPicPr>
            <a:picLocks noChangeAspect="1"/>
          </p:cNvPicPr>
          <p:nvPr/>
        </p:nvPicPr>
        <p:blipFill>
          <a:blip r:embed="rId2"/>
          <a:stretch>
            <a:fillRect/>
          </a:stretch>
        </p:blipFill>
        <p:spPr>
          <a:xfrm>
            <a:off x="312369" y="1249458"/>
            <a:ext cx="5848791" cy="3850530"/>
          </a:xfrm>
          <a:prstGeom prst="rect">
            <a:avLst/>
          </a:prstGeom>
        </p:spPr>
      </p:pic>
      <p:pic>
        <p:nvPicPr>
          <p:cNvPr id="9" name="Picture 8">
            <a:extLst>
              <a:ext uri="{FF2B5EF4-FFF2-40B4-BE49-F238E27FC236}">
                <a16:creationId xmlns:a16="http://schemas.microsoft.com/office/drawing/2014/main" id="{899D2312-75B0-5EF2-7E3E-2E1B9B9DA263}"/>
              </a:ext>
            </a:extLst>
          </p:cNvPr>
          <p:cNvPicPr>
            <a:picLocks noChangeAspect="1"/>
          </p:cNvPicPr>
          <p:nvPr/>
        </p:nvPicPr>
        <p:blipFill>
          <a:blip r:embed="rId3"/>
          <a:stretch>
            <a:fillRect/>
          </a:stretch>
        </p:blipFill>
        <p:spPr>
          <a:xfrm>
            <a:off x="6267232" y="1204738"/>
            <a:ext cx="5909687" cy="3850530"/>
          </a:xfrm>
          <a:prstGeom prst="rect">
            <a:avLst/>
          </a:prstGeom>
        </p:spPr>
      </p:pic>
      <p:sp>
        <p:nvSpPr>
          <p:cNvPr id="10" name="Rectangle 9">
            <a:extLst>
              <a:ext uri="{FF2B5EF4-FFF2-40B4-BE49-F238E27FC236}">
                <a16:creationId xmlns:a16="http://schemas.microsoft.com/office/drawing/2014/main" id="{16A1879A-D1F6-7A6E-3BF2-3C219D9EDAC0}"/>
              </a:ext>
            </a:extLst>
          </p:cNvPr>
          <p:cNvSpPr/>
          <p:nvPr/>
        </p:nvSpPr>
        <p:spPr>
          <a:xfrm>
            <a:off x="1493520" y="4155440"/>
            <a:ext cx="863600" cy="670560"/>
          </a:xfrm>
          <a:prstGeom prst="rect">
            <a:avLst/>
          </a:prstGeom>
          <a:noFill/>
          <a:ln w="1905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C7FA5F7-1977-E656-8D55-7087B803C246}"/>
              </a:ext>
            </a:extLst>
          </p:cNvPr>
          <p:cNvSpPr/>
          <p:nvPr/>
        </p:nvSpPr>
        <p:spPr>
          <a:xfrm>
            <a:off x="3218231" y="4135120"/>
            <a:ext cx="863600" cy="670560"/>
          </a:xfrm>
          <a:prstGeom prst="rect">
            <a:avLst/>
          </a:prstGeom>
          <a:noFill/>
          <a:ln w="1905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0F9EB34-E4BE-83BD-0E7D-83BC0970EEFB}"/>
              </a:ext>
            </a:extLst>
          </p:cNvPr>
          <p:cNvSpPr/>
          <p:nvPr/>
        </p:nvSpPr>
        <p:spPr>
          <a:xfrm>
            <a:off x="4953102" y="4139702"/>
            <a:ext cx="863600" cy="670560"/>
          </a:xfrm>
          <a:prstGeom prst="rect">
            <a:avLst/>
          </a:prstGeom>
          <a:noFill/>
          <a:ln w="1905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5188796"/>
      </p:ext>
    </p:extLst>
  </p:cSld>
  <p:clrMapOvr>
    <a:masterClrMapping/>
  </p:clrMapOvr>
</p:sld>
</file>

<file path=ppt/theme/theme1.xml><?xml version="1.0" encoding="utf-8"?>
<a:theme xmlns:a="http://schemas.openxmlformats.org/drawingml/2006/main" name="Office Theme">
  <a:themeElements>
    <a:clrScheme name="Equinix 2013">
      <a:dk1>
        <a:srgbClr val="000000"/>
      </a:dk1>
      <a:lt1>
        <a:srgbClr val="FFFFFF"/>
      </a:lt1>
      <a:dk2>
        <a:srgbClr val="000000"/>
      </a:dk2>
      <a:lt2>
        <a:srgbClr val="4D4D4F"/>
      </a:lt2>
      <a:accent1>
        <a:srgbClr val="8A8C8E"/>
      </a:accent1>
      <a:accent2>
        <a:srgbClr val="A5A7A9"/>
      </a:accent2>
      <a:accent3>
        <a:srgbClr val="FF0000"/>
      </a:accent3>
      <a:accent4>
        <a:srgbClr val="F8971D"/>
      </a:accent4>
      <a:accent5>
        <a:srgbClr val="004B8D"/>
      </a:accent5>
      <a:accent6>
        <a:srgbClr val="17BDD7"/>
      </a:accent6>
      <a:hlink>
        <a:srgbClr val="004B8D"/>
      </a:hlink>
      <a:folHlink>
        <a:srgbClr val="00963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51FD635D80FB458C8EE34192483BE6" ma:contentTypeVersion="20" ma:contentTypeDescription="Create a new document." ma:contentTypeScope="" ma:versionID="23d3330e2a2e57a5888531aa6954fe5c">
  <xsd:schema xmlns:xsd="http://www.w3.org/2001/XMLSchema" xmlns:xs="http://www.w3.org/2001/XMLSchema" xmlns:p="http://schemas.microsoft.com/office/2006/metadata/properties" xmlns:ns2="1fdbf2de-d4ef-465c-974a-a11e496facf2" xmlns:ns3="f131934e-e77c-4e94-9860-87833c4dd689" targetNamespace="http://schemas.microsoft.com/office/2006/metadata/properties" ma:root="true" ma:fieldsID="b5bf6a5c473356480060aee5603f9ef8" ns2:_="" ns3:_="">
    <xsd:import namespace="1fdbf2de-d4ef-465c-974a-a11e496facf2"/>
    <xsd:import namespace="f131934e-e77c-4e94-9860-87833c4dd68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lcf76f155ced4ddcb4097134ff3c332f" minOccurs="0"/>
                <xsd:element ref="ns2:TaxCatchAll" minOccurs="0"/>
                <xsd:element ref="ns3:Comment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dbf2de-d4ef-465c-974a-a11e496facf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b808a53-4468-4c4c-869c-61a43ff8c98c}" ma:internalName="TaxCatchAll" ma:showField="CatchAllData" ma:web="1fdbf2de-d4ef-465c-974a-a11e496facf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131934e-e77c-4e94-9860-87833c4dd689"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5ebeb2d-667f-43bd-86ca-2a4d877a1774" ma:termSetId="09814cd3-568e-fe90-9814-8d621ff8fb84" ma:anchorId="fba54fb3-c3e1-fe81-a776-ca4b69148c4d" ma:open="true" ma:isKeyword="false">
      <xsd:complexType>
        <xsd:sequence>
          <xsd:element ref="pc:Terms" minOccurs="0" maxOccurs="1"/>
        </xsd:sequence>
      </xsd:complexType>
    </xsd:element>
    <xsd:element name="Comments" ma:index="24" nillable="true" ma:displayName="Comments" ma:format="Dropdown" ma:internalName="Comments">
      <xsd:simpleType>
        <xsd:restriction base="dms:Text">
          <xsd:maxLength value="255"/>
        </xsd:restriction>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1fdbf2de-d4ef-465c-974a-a11e496facf2">
      <UserInfo>
        <DisplayName>Shilpa Padwekar</DisplayName>
        <AccountId>438</AccountId>
        <AccountType/>
      </UserInfo>
      <UserInfo>
        <DisplayName>Pam Ilardo</DisplayName>
        <AccountId>254</AccountId>
        <AccountType/>
      </UserInfo>
      <UserInfo>
        <DisplayName>April Zhao</DisplayName>
        <AccountId>2118</AccountId>
        <AccountType/>
      </UserInfo>
      <UserInfo>
        <DisplayName>Johnnie Wong</DisplayName>
        <AccountId>2134</AccountId>
        <AccountType/>
      </UserInfo>
      <UserInfo>
        <DisplayName>Teresa Ang</DisplayName>
        <AccountId>686</AccountId>
        <AccountType/>
      </UserInfo>
      <UserInfo>
        <DisplayName>Naoshige Kanemaru</DisplayName>
        <AccountId>1790</AccountId>
        <AccountType/>
      </UserInfo>
      <UserInfo>
        <DisplayName>Shizuka Santiano</DisplayName>
        <AccountId>406</AccountId>
        <AccountType/>
      </UserInfo>
      <UserInfo>
        <DisplayName>Claudine Alexander</DisplayName>
        <AccountId>2335</AccountId>
        <AccountType/>
      </UserInfo>
    </SharedWithUsers>
    <lcf76f155ced4ddcb4097134ff3c332f xmlns="f131934e-e77c-4e94-9860-87833c4dd689">
      <Terms xmlns="http://schemas.microsoft.com/office/infopath/2007/PartnerControls"/>
    </lcf76f155ced4ddcb4097134ff3c332f>
    <Comments xmlns="f131934e-e77c-4e94-9860-87833c4dd689" xsi:nil="true"/>
    <TaxCatchAll xmlns="1fdbf2de-d4ef-465c-974a-a11e496facf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4ACB7F-23E6-4BA8-94E2-A429F8F82C9D}">
  <ds:schemaRefs>
    <ds:schemaRef ds:uri="1fdbf2de-d4ef-465c-974a-a11e496facf2"/>
    <ds:schemaRef ds:uri="f131934e-e77c-4e94-9860-87833c4dd6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BF14FBE-9F8B-4002-ACAE-A5382A95904E}">
  <ds:schemaRefs>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http://schemas.microsoft.com/office/2006/metadata/properties"/>
    <ds:schemaRef ds:uri="f131934e-e77c-4e94-9860-87833c4dd689"/>
    <ds:schemaRef ds:uri="http://schemas.openxmlformats.org/package/2006/metadata/core-properties"/>
    <ds:schemaRef ds:uri="1fdbf2de-d4ef-465c-974a-a11e496facf2"/>
    <ds:schemaRef ds:uri="http://purl.org/dc/elements/1.1/"/>
  </ds:schemaRefs>
</ds:datastoreItem>
</file>

<file path=customXml/itemProps3.xml><?xml version="1.0" encoding="utf-8"?>
<ds:datastoreItem xmlns:ds="http://schemas.openxmlformats.org/officeDocument/2006/customXml" ds:itemID="{D390711C-C652-4DD8-987B-217CCC2CE0F0}">
  <ds:schemaRefs>
    <ds:schemaRef ds:uri="http://schemas.microsoft.com/sharepoint/v3/contenttype/forms"/>
  </ds:schemaRefs>
</ds:datastoreItem>
</file>

<file path=docMetadata/LabelInfo.xml><?xml version="1.0" encoding="utf-8"?>
<clbl:labelList xmlns:clbl="http://schemas.microsoft.com/office/2020/mipLabelMetadata">
  <clbl:label id="{4de069e9-01e3-4c04-8fd1-6f5884d2626e}" enabled="1" method="Standard" siteId="{72adb271-2fc7-4afe-a5ee-9de6a59f6bfb}"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2210</Words>
  <Application>Microsoft Macintosh PowerPoint</Application>
  <PresentationFormat>Widescreen</PresentationFormat>
  <Paragraphs>349</Paragraphs>
  <Slides>25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Andale Mono</vt:lpstr>
      <vt:lpstr>Arial</vt:lpstr>
      <vt:lpstr>Calibri</vt:lpstr>
      <vt:lpstr>Lucida Grande</vt:lpstr>
      <vt:lpstr>Wingdings</vt:lpstr>
      <vt:lpstr>Office Theme</vt:lpstr>
      <vt:lpstr>PowerPoint Presentation</vt:lpstr>
      <vt:lpstr>Zoom recordings</vt:lpstr>
      <vt:lpstr>Equinix Customer Portal – ECP/CSC</vt:lpstr>
      <vt:lpstr>Equinix Customer Portal – ECP/CSC</vt:lpstr>
      <vt:lpstr>Impact Assessments by Feature Set</vt:lpstr>
      <vt:lpstr>Cross Connect – Operator Portal Logic for Orders more than $1000 (MRC/NRC)</vt:lpstr>
      <vt:lpstr>Cross Connect – Operator Portal Logic for Orders more than $1000 (MRC/NRC)</vt:lpstr>
      <vt:lpstr>Cross Connect – Patch Panel Search/Filter in UI</vt:lpstr>
      <vt:lpstr>Cross Connect – Moving Extended CC Under CC </vt:lpstr>
      <vt:lpstr>Cross Connect – Message Display for DLOA Token/File Upload</vt:lpstr>
      <vt:lpstr>Cross Connect – Enhance Customer Experience for Contact Page</vt:lpstr>
      <vt:lpstr>Cross Connect – Package Dashboard detailed View – Patch Release</vt:lpstr>
      <vt:lpstr>Cross Connect – Internal Orgs – Sunset of Classic Experience</vt:lpstr>
      <vt:lpstr>Inventory/Install Base: Fabric assets data attribute mapping</vt:lpstr>
      <vt:lpstr>Sample screenshots of Inventory, Install Base UI behavior</vt:lpstr>
      <vt:lpstr>Sample screenshots of Inventory, Install Base Report behavior</vt:lpstr>
      <vt:lpstr>Sample screenshots of Inventory, Install Base UI behavior</vt:lpstr>
      <vt:lpstr>Sample screenshots of Inventory, Install Base Report behavior</vt:lpstr>
      <vt:lpstr>Operator – Allow alphanumeric search in Operator’s Order Number Search</vt:lpstr>
      <vt:lpstr>Order History – Update default behaviour when landing on Orders &amp; Tickets History page</vt:lpstr>
      <vt:lpstr>Equinix Intelligence – Pilot launch</vt:lpstr>
      <vt:lpstr>Equinix Intelligence – Pilot launch (continued)</vt:lpstr>
      <vt:lpstr>Hiding IBX pricing</vt:lpstr>
      <vt:lpstr>Only increasing MRC on MACDs</vt:lpstr>
      <vt:lpstr>Allow 1kVA draw capacity increments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Manish Dharod</cp:lastModifiedBy>
  <cp:revision>90</cp:revision>
  <dcterms:created xsi:type="dcterms:W3CDTF">2021-09-08T05:57:10Z</dcterms:created>
  <dcterms:modified xsi:type="dcterms:W3CDTF">2025-05-19T20:24:11Z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0x0101006651FD635D80FB458C8EE34192483BE6</vt:lpwstr>
  </property>
  <property fmtid="{D5CDD505-2E9C-101B-9397-08002B2CF9AE}" pid="3" name="MediaServiceImageTags">
    <vt:lpwstr/>
  </property>
</Properties>
</file>